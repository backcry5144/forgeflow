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1"/>
  </p:notesMasterIdLst>
  <p:sldIdLst>
    <p:sldId id="257" r:id="rId2"/>
    <p:sldId id="258" r:id="rId3"/>
    <p:sldId id="469" r:id="rId4"/>
    <p:sldId id="470" r:id="rId5"/>
    <p:sldId id="471" r:id="rId6"/>
    <p:sldId id="472" r:id="rId7"/>
    <p:sldId id="473" r:id="rId8"/>
    <p:sldId id="474" r:id="rId9"/>
    <p:sldId id="475" r:id="rId10"/>
    <p:sldId id="476" r:id="rId11"/>
    <p:sldId id="477" r:id="rId12"/>
    <p:sldId id="478" r:id="rId13"/>
    <p:sldId id="479" r:id="rId14"/>
    <p:sldId id="480" r:id="rId15"/>
    <p:sldId id="481" r:id="rId16"/>
    <p:sldId id="482" r:id="rId17"/>
    <p:sldId id="483" r:id="rId18"/>
    <p:sldId id="484" r:id="rId19"/>
    <p:sldId id="485" r:id="rId20"/>
    <p:sldId id="445" r:id="rId21"/>
    <p:sldId id="446" r:id="rId22"/>
    <p:sldId id="447" r:id="rId23"/>
    <p:sldId id="448" r:id="rId24"/>
    <p:sldId id="449" r:id="rId25"/>
    <p:sldId id="450" r:id="rId26"/>
    <p:sldId id="456" r:id="rId27"/>
    <p:sldId id="451" r:id="rId28"/>
    <p:sldId id="452" r:id="rId29"/>
    <p:sldId id="453" r:id="rId30"/>
    <p:sldId id="454" r:id="rId31"/>
    <p:sldId id="455" r:id="rId32"/>
    <p:sldId id="443" r:id="rId33"/>
    <p:sldId id="444" r:id="rId34"/>
    <p:sldId id="457" r:id="rId35"/>
    <p:sldId id="432" r:id="rId36"/>
    <p:sldId id="458" r:id="rId37"/>
    <p:sldId id="459" r:id="rId38"/>
    <p:sldId id="460" r:id="rId39"/>
    <p:sldId id="461" r:id="rId40"/>
    <p:sldId id="462" r:id="rId41"/>
    <p:sldId id="463" r:id="rId42"/>
    <p:sldId id="464" r:id="rId43"/>
    <p:sldId id="465" r:id="rId44"/>
    <p:sldId id="466" r:id="rId45"/>
    <p:sldId id="467" r:id="rId46"/>
    <p:sldId id="468" r:id="rId47"/>
    <p:sldId id="433" r:id="rId48"/>
    <p:sldId id="434" r:id="rId49"/>
    <p:sldId id="435" r:id="rId50"/>
    <p:sldId id="429" r:id="rId51"/>
    <p:sldId id="436" r:id="rId52"/>
    <p:sldId id="438" r:id="rId53"/>
    <p:sldId id="439" r:id="rId54"/>
    <p:sldId id="440" r:id="rId55"/>
    <p:sldId id="441" r:id="rId56"/>
    <p:sldId id="437" r:id="rId57"/>
    <p:sldId id="442" r:id="rId58"/>
    <p:sldId id="403" r:id="rId59"/>
    <p:sldId id="263" r:id="rId60"/>
  </p:sldIdLst>
  <p:sldSz cx="10329863" cy="7197725"/>
  <p:notesSz cx="6858000" cy="9144000"/>
  <p:defaultTextStyle>
    <a:defPPr>
      <a:defRPr lang="ko-KR"/>
    </a:defPPr>
    <a:lvl1pPr marL="0" algn="l" defTabSz="100154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0771" algn="l" defTabSz="100154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01542" algn="l" defTabSz="100154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02313" algn="l" defTabSz="100154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03085" algn="l" defTabSz="100154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03856" algn="l" defTabSz="100154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04627" algn="l" defTabSz="100154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05398" algn="l" defTabSz="100154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06169" algn="l" defTabSz="1001542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4" userDrawn="1">
          <p15:clr>
            <a:srgbClr val="A4A3A4"/>
          </p15:clr>
        </p15:guide>
        <p15:guide id="2" pos="325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41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6" autoAdjust="0"/>
    <p:restoredTop sz="89844" autoAdjust="0"/>
  </p:normalViewPr>
  <p:slideViewPr>
    <p:cSldViewPr>
      <p:cViewPr varScale="1">
        <p:scale>
          <a:sx n="75" d="100"/>
          <a:sy n="75" d="100"/>
        </p:scale>
        <p:origin x="1714" y="58"/>
      </p:cViewPr>
      <p:guideLst>
        <p:guide orient="horz" pos="2494"/>
        <p:guide pos="32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567AA-ECDE-4533-923B-ED97F9A18E6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14438" y="1143000"/>
            <a:ext cx="4429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63DED-C3E3-43C7-A8DB-5E7E6358A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50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80">
            <a:extLst>
              <a:ext uri="{FF2B5EF4-FFF2-40B4-BE49-F238E27FC236}">
                <a16:creationId xmlns:a16="http://schemas.microsoft.com/office/drawing/2014/main" id="{2FDF0975-A591-401D-9949-8BB27F1E93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329863" cy="7197725"/>
          </a:xfrm>
          <a:prstGeom prst="rect">
            <a:avLst/>
          </a:prstGeom>
        </p:spPr>
      </p:pic>
      <p:cxnSp>
        <p:nvCxnSpPr>
          <p:cNvPr id="8" name="Straight Connector 59">
            <a:extLst>
              <a:ext uri="{FF2B5EF4-FFF2-40B4-BE49-F238E27FC236}">
                <a16:creationId xmlns:a16="http://schemas.microsoft.com/office/drawing/2014/main" id="{9C972DB0-0158-45C5-B3AD-4C13990B38F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12219" y="1601540"/>
            <a:ext cx="83589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414C7D1-3F78-4FB8-AE64-11E99FAAE0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9299" y="1727067"/>
            <a:ext cx="3542384" cy="565113"/>
          </a:xfrm>
          <a:prstGeom prst="rect">
            <a:avLst/>
          </a:prstGeom>
          <a:ln>
            <a:noFill/>
          </a:ln>
        </p:spPr>
        <p:txBody>
          <a:bodyPr vert="horz" wrap="square" lIns="35984" tIns="35984" rIns="35984" bIns="35984" rtlCol="0" anchor="t" anchorCtr="0">
            <a:spAutoFit/>
          </a:bodyPr>
          <a:lstStyle>
            <a:lvl1pPr>
              <a:defRPr kumimoji="0" lang="en-GB" altLang="ko-KR" sz="3200" b="1" noProof="0" dirty="0">
                <a:solidFill>
                  <a:prstClr val="white"/>
                </a:solidFill>
                <a:latin typeface="맑은 고딕" panose="020B0503020000020004" pitchFamily="50" charset="-127"/>
                <a:cs typeface="Arial" pitchFamily="34" charset="0"/>
              </a:defRPr>
            </a:lvl1pPr>
          </a:lstStyle>
          <a:p>
            <a:pPr marL="0" lvl="0" indent="0" defTabSz="913983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ct val="70000"/>
              <a:buNone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돋움" panose="020B0600000101010101" pitchFamily="50" charset="-127"/>
                <a:cs typeface="+mn-cs"/>
              </a:rPr>
              <a:t>OOOO 	</a:t>
            </a:r>
            <a:endParaRPr kumimoji="0" lang="en-GB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돋움" panose="020B0600000101010101" pitchFamily="50" charset="-127"/>
              <a:cs typeface="+mn-cs"/>
            </a:endParaRPr>
          </a:p>
        </p:txBody>
      </p: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57577BBC-A6D5-43BF-8306-79AD909B2B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9302" y="2590972"/>
            <a:ext cx="4031630" cy="565026"/>
          </a:xfrm>
          <a:prstGeom prst="rect">
            <a:avLst/>
          </a:prstGeom>
        </p:spPr>
        <p:txBody>
          <a:bodyPr lIns="91397" tIns="45699" rIns="91397" bIns="45699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0000</a:t>
            </a:r>
            <a:endParaRPr lang="ko-KR" altLang="en-US" dirty="0"/>
          </a:p>
        </p:txBody>
      </p:sp>
      <p:pic>
        <p:nvPicPr>
          <p:cNvPr id="20" name="그림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67" y="934566"/>
            <a:ext cx="2045767" cy="57606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131" y="6263158"/>
            <a:ext cx="2592288" cy="40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28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0">
          <p15:clr>
            <a:srgbClr val="FBAE40"/>
          </p15:clr>
        </p15:guide>
        <p15:guide id="2" orient="horz" pos="1238">
          <p15:clr>
            <a:srgbClr val="FBAE40"/>
          </p15:clr>
        </p15:guide>
        <p15:guide id="3" pos="6338">
          <p15:clr>
            <a:srgbClr val="FBAE40"/>
          </p15:clr>
        </p15:guide>
        <p15:guide id="4" orient="horz" pos="1498">
          <p15:clr>
            <a:srgbClr val="FBAE40"/>
          </p15:clr>
        </p15:guide>
        <p15:guide id="5" orient="horz" pos="716">
          <p15:clr>
            <a:srgbClr val="FBAE40"/>
          </p15:clr>
        </p15:guide>
        <p15:guide id="6" orient="horz" pos="886">
          <p15:clr>
            <a:srgbClr val="FBAE40"/>
          </p15:clr>
        </p15:guide>
        <p15:guide id="7" orient="horz" pos="3988">
          <p15:clr>
            <a:srgbClr val="FBAE40"/>
          </p15:clr>
        </p15:guide>
        <p15:guide id="8" orient="horz" pos="415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3">
            <a:extLst>
              <a:ext uri="{FF2B5EF4-FFF2-40B4-BE49-F238E27FC236}">
                <a16:creationId xmlns:a16="http://schemas.microsoft.com/office/drawing/2014/main" id="{702B567D-CB31-4989-88D7-0FF1BBB90DC5}"/>
              </a:ext>
            </a:extLst>
          </p:cNvPr>
          <p:cNvSpPr/>
          <p:nvPr userDrawn="1"/>
        </p:nvSpPr>
        <p:spPr>
          <a:xfrm>
            <a:off x="1" y="2303004"/>
            <a:ext cx="10329863" cy="32871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9" rIns="91397" bIns="45699" rtlCol="0" anchor="ctr"/>
          <a:lstStyle/>
          <a:p>
            <a:pPr algn="ctr" defTabSz="913983" fontAlgn="base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/>
            </a:pPr>
            <a:endParaRPr kumimoji="1" lang="ko-KR" altLang="en-US" sz="1100">
              <a:solidFill>
                <a:prstClr val="white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F7EC5E-00B0-4CC3-9AAE-A7DB9FBD5968}"/>
              </a:ext>
            </a:extLst>
          </p:cNvPr>
          <p:cNvSpPr/>
          <p:nvPr userDrawn="1"/>
        </p:nvSpPr>
        <p:spPr>
          <a:xfrm>
            <a:off x="4876943" y="1573060"/>
            <a:ext cx="3599447" cy="2031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01449" fontAlgn="base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32A3D7"/>
              </a:buClr>
              <a:buSzPct val="90000"/>
            </a:pPr>
            <a:r>
              <a:rPr kumimoji="1" lang="fr-FR" altLang="ko-KR" sz="11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Qcells Malaysia MES Implementation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05D6D4-E477-46A6-9D47-CC8EB11FCB0E}"/>
              </a:ext>
            </a:extLst>
          </p:cNvPr>
          <p:cNvSpPr/>
          <p:nvPr userDrawn="1"/>
        </p:nvSpPr>
        <p:spPr>
          <a:xfrm>
            <a:off x="4876945" y="1709484"/>
            <a:ext cx="2140009" cy="5909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1001449" fontAlgn="base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32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CONTENTS</a:t>
            </a:r>
            <a:endParaRPr kumimoji="1" lang="ko-KR" altLang="en-US" sz="32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A6FF2F1-9059-4975-B244-417986B9460E}"/>
              </a:ext>
            </a:extLst>
          </p:cNvPr>
          <p:cNvSpPr/>
          <p:nvPr userDrawn="1"/>
        </p:nvSpPr>
        <p:spPr>
          <a:xfrm>
            <a:off x="2" y="3"/>
            <a:ext cx="125146" cy="7227556"/>
          </a:xfrm>
          <a:prstGeom prst="rect">
            <a:avLst/>
          </a:prstGeom>
          <a:gradFill flip="none" rotWithShape="1">
            <a:gsLst>
              <a:gs pos="51000">
                <a:schemeClr val="accent1"/>
              </a:gs>
              <a:gs pos="100000">
                <a:srgbClr val="00206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9" rIns="91397" bIns="45699" rtlCol="0" anchor="ctr"/>
          <a:lstStyle/>
          <a:p>
            <a:pPr algn="ctr" defTabSz="913983" fontAlgn="base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/>
            </a:pPr>
            <a:endParaRPr kumimoji="1" lang="ko-KR" altLang="en-US" sz="1100">
              <a:solidFill>
                <a:prstClr val="white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40EF542-5295-4A0D-B30A-C2083B41B1AF}"/>
              </a:ext>
            </a:extLst>
          </p:cNvPr>
          <p:cNvGrpSpPr/>
          <p:nvPr userDrawn="1"/>
        </p:nvGrpSpPr>
        <p:grpSpPr>
          <a:xfrm>
            <a:off x="893410" y="2512254"/>
            <a:ext cx="2889398" cy="2868609"/>
            <a:chOff x="893545" y="2512808"/>
            <a:chExt cx="2889842" cy="2869242"/>
          </a:xfrm>
        </p:grpSpPr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985CE28F-EA56-48C4-BA1B-EBCE9517FC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93545" y="2512808"/>
              <a:ext cx="2889842" cy="2869242"/>
            </a:xfrm>
            <a:prstGeom prst="rect">
              <a:avLst/>
            </a:prstGeom>
          </p:spPr>
        </p:pic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0FF061F-B048-46D0-9B78-53F3A0E4BEA8}"/>
                </a:ext>
              </a:extLst>
            </p:cNvPr>
            <p:cNvSpPr/>
            <p:nvPr userDrawn="1"/>
          </p:nvSpPr>
          <p:spPr>
            <a:xfrm>
              <a:off x="1421309" y="2971040"/>
              <a:ext cx="2016224" cy="2016224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base" latinLnBrk="0">
                <a:spcAft>
                  <a:spcPts val="600"/>
                </a:spcAft>
              </a:pPr>
              <a:endParaRPr kumimoji="1" lang="ko-KR" altLang="en-US" sz="1200" b="1" dirty="0">
                <a:solidFill>
                  <a:prstClr val="white"/>
                </a:solidFill>
              </a:endParaRPr>
            </a:p>
          </p:txBody>
        </p:sp>
      </p:grpSp>
      <p:pic>
        <p:nvPicPr>
          <p:cNvPr id="38" name="Graphic 48">
            <a:extLst>
              <a:ext uri="{FF2B5EF4-FFF2-40B4-BE49-F238E27FC236}">
                <a16:creationId xmlns:a16="http://schemas.microsoft.com/office/drawing/2014/main" id="{190D3AC4-645D-4E79-9B19-FCB8C0FFC88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3398" y="3501247"/>
            <a:ext cx="831304" cy="89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06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0">
          <p15:clr>
            <a:srgbClr val="FBAE40"/>
          </p15:clr>
        </p15:guide>
        <p15:guide id="2" orient="horz" pos="1077">
          <p15:clr>
            <a:srgbClr val="FBAE40"/>
          </p15:clr>
        </p15:guide>
        <p15:guide id="3" pos="6338">
          <p15:clr>
            <a:srgbClr val="FBAE40"/>
          </p15:clr>
        </p15:guide>
        <p15:guide id="4" orient="horz" pos="672">
          <p15:clr>
            <a:srgbClr val="FBAE40"/>
          </p15:clr>
        </p15:guide>
        <p15:guide id="5" orient="horz" pos="4327">
          <p15:clr>
            <a:srgbClr val="FBAE40"/>
          </p15:clr>
        </p15:guide>
        <p15:guide id="6" orient="horz" pos="369">
          <p15:clr>
            <a:srgbClr val="FBAE40"/>
          </p15:clr>
        </p15:guide>
        <p15:guide id="7" orient="horz" pos="541">
          <p15:clr>
            <a:srgbClr val="FBAE40"/>
          </p15:clr>
        </p15:guide>
        <p15:guide id="8" orient="horz" pos="126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큐셀 글로벌 ERP 구축 -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1203" y="332200"/>
            <a:ext cx="9052860" cy="430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7" tIns="45699" rIns="91397" bIns="45699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>
            <a:lvl1pPr latinLnBrk="0">
              <a:defRPr kumimoji="1" lang="ko-KR" altLang="en-US" sz="2200" b="1" spc="-100" baseline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6" name="텍스트 개체 틀 2"/>
          <p:cNvSpPr>
            <a:spLocks noGrp="1"/>
          </p:cNvSpPr>
          <p:nvPr>
            <p:ph type="body" idx="1"/>
          </p:nvPr>
        </p:nvSpPr>
        <p:spPr>
          <a:xfrm>
            <a:off x="180255" y="835738"/>
            <a:ext cx="9879380" cy="55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7" tIns="45699" rIns="91397" bIns="45699" rtlCol="0" anchor="t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>
            <a:lvl1pPr marL="0" marR="0" indent="0" algn="l" defTabSz="774509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lang="ko-KR" altLang="en-US" sz="1500" b="0" spc="-10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marL="0" marR="0" lvl="0" indent="0" algn="l" defTabSz="774509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21" name="직선 연결선 8">
            <a:extLst>
              <a:ext uri="{FF2B5EF4-FFF2-40B4-BE49-F238E27FC236}">
                <a16:creationId xmlns:a16="http://schemas.microsoft.com/office/drawing/2014/main" id="{D265DC80-472A-4158-88E6-46AC54776140}"/>
              </a:ext>
            </a:extLst>
          </p:cNvPr>
          <p:cNvCxnSpPr/>
          <p:nvPr userDrawn="1"/>
        </p:nvCxnSpPr>
        <p:spPr>
          <a:xfrm>
            <a:off x="269140" y="6785037"/>
            <a:ext cx="9790496" cy="0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39388BF-D92D-4F09-A52D-5E4CB25180DA}"/>
              </a:ext>
            </a:extLst>
          </p:cNvPr>
          <p:cNvSpPr txBox="1"/>
          <p:nvPr userDrawn="1"/>
        </p:nvSpPr>
        <p:spPr>
          <a:xfrm>
            <a:off x="4564530" y="6867202"/>
            <a:ext cx="119031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base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fld id="{9AE4D82F-B047-469B-AC52-A46321747EAF}" type="slidenum">
              <a:rPr kumimoji="1" lang="en-GB" sz="1000">
                <a:solidFill>
                  <a:prstClr val="black"/>
                </a:solidFill>
                <a:ea typeface="돋움" panose="020B0600000101010101" pitchFamily="50" charset="-127"/>
              </a:rPr>
              <a:pPr algn="ctr" fontAlgn="base" latinLnBrk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t>‹#›</a:t>
            </a:fld>
            <a:endParaRPr kumimoji="1" lang="en-GB" sz="900" dirty="0">
              <a:solidFill>
                <a:prstClr val="black">
                  <a:lumMod val="50000"/>
                  <a:lumOff val="50000"/>
                </a:prstClr>
              </a:solidFill>
              <a:ea typeface="돋움" panose="020B0600000101010101" pitchFamily="50" charset="-127"/>
            </a:endParaRPr>
          </a:p>
        </p:txBody>
      </p:sp>
      <p:cxnSp>
        <p:nvCxnSpPr>
          <p:cNvPr id="29" name="직선 연결선 8">
            <a:extLst>
              <a:ext uri="{FF2B5EF4-FFF2-40B4-BE49-F238E27FC236}">
                <a16:creationId xmlns:a16="http://schemas.microsoft.com/office/drawing/2014/main" id="{28109835-6AB7-4CAE-8FA4-439CC4288C31}"/>
              </a:ext>
            </a:extLst>
          </p:cNvPr>
          <p:cNvCxnSpPr>
            <a:cxnSpLocks/>
          </p:cNvCxnSpPr>
          <p:nvPr userDrawn="1"/>
        </p:nvCxnSpPr>
        <p:spPr>
          <a:xfrm>
            <a:off x="507129" y="210788"/>
            <a:ext cx="9554144" cy="0"/>
          </a:xfrm>
          <a:prstGeom prst="line">
            <a:avLst/>
          </a:prstGeom>
          <a:ln w="158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5743A3B5-577E-4FC8-A492-EA09F47DDE9C}"/>
              </a:ext>
            </a:extLst>
          </p:cNvPr>
          <p:cNvSpPr/>
          <p:nvPr userDrawn="1"/>
        </p:nvSpPr>
        <p:spPr>
          <a:xfrm>
            <a:off x="147000" y="164271"/>
            <a:ext cx="92856" cy="92849"/>
          </a:xfrm>
          <a:prstGeom prst="ellipse">
            <a:avLst/>
          </a:prstGeom>
          <a:solidFill>
            <a:srgbClr val="00206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9" rIns="91397" bIns="45699" rtlCol="0" anchor="ctr"/>
          <a:lstStyle/>
          <a:p>
            <a:pPr algn="ctr" fontAlgn="base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ko-KR" altLang="en-US" sz="1100">
              <a:solidFill>
                <a:prstClr val="white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C0C07EE-9F17-4A90-9196-FC9E29E1B788}"/>
              </a:ext>
            </a:extLst>
          </p:cNvPr>
          <p:cNvSpPr/>
          <p:nvPr userDrawn="1"/>
        </p:nvSpPr>
        <p:spPr>
          <a:xfrm>
            <a:off x="261550" y="164271"/>
            <a:ext cx="92856" cy="92849"/>
          </a:xfrm>
          <a:prstGeom prst="ellips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9" rIns="91397" bIns="45699" rtlCol="0" anchor="ctr"/>
          <a:lstStyle/>
          <a:p>
            <a:pPr algn="ctr" fontAlgn="base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ko-KR" altLang="en-US" sz="1100">
              <a:solidFill>
                <a:prstClr val="white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61A961D-9FD0-4B4B-923A-A10BA4B5EBBE}"/>
              </a:ext>
            </a:extLst>
          </p:cNvPr>
          <p:cNvSpPr/>
          <p:nvPr userDrawn="1"/>
        </p:nvSpPr>
        <p:spPr>
          <a:xfrm>
            <a:off x="376100" y="164271"/>
            <a:ext cx="92856" cy="92849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9" rIns="91397" bIns="45699" rtlCol="0" anchor="ctr"/>
          <a:lstStyle/>
          <a:p>
            <a:pPr algn="ctr" fontAlgn="base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ko-KR" altLang="en-US" sz="1100" dirty="0">
              <a:solidFill>
                <a:prstClr val="white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79" y="6839223"/>
            <a:ext cx="936104" cy="2635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331" y="6879860"/>
            <a:ext cx="1368152" cy="23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71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0">
          <p15:clr>
            <a:srgbClr val="F26B43"/>
          </p15:clr>
        </p15:guide>
        <p15:guide id="2" pos="6338">
          <p15:clr>
            <a:srgbClr val="F26B43"/>
          </p15:clr>
        </p15:guide>
        <p15:guide id="4" orient="horz" pos="1134">
          <p15:clr>
            <a:srgbClr val="F26B43"/>
          </p15:clr>
        </p15:guide>
        <p15:guide id="6" pos="3254">
          <p15:clr>
            <a:srgbClr val="F26B43"/>
          </p15:clr>
        </p15:guide>
        <p15:guide id="7" orient="horz" pos="567">
          <p15:clr>
            <a:srgbClr val="F26B43"/>
          </p15:clr>
        </p15:guide>
        <p15:guide id="8" orient="horz" pos="249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1">
            <a:extLst>
              <a:ext uri="{FF2B5EF4-FFF2-40B4-BE49-F238E27FC236}">
                <a16:creationId xmlns:a16="http://schemas.microsoft.com/office/drawing/2014/main" id="{709FF391-EFBC-49C7-9306-9980135E69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1778" y="716641"/>
            <a:ext cx="6278832" cy="6233655"/>
          </a:xfrm>
          <a:prstGeom prst="rect">
            <a:avLst/>
          </a:prstGeom>
        </p:spPr>
      </p:pic>
      <p:grpSp>
        <p:nvGrpSpPr>
          <p:cNvPr id="3" name="Group 79">
            <a:extLst>
              <a:ext uri="{FF2B5EF4-FFF2-40B4-BE49-F238E27FC236}">
                <a16:creationId xmlns:a16="http://schemas.microsoft.com/office/drawing/2014/main" id="{73478CEF-4040-45A6-90A5-A7CD90EF356C}"/>
              </a:ext>
            </a:extLst>
          </p:cNvPr>
          <p:cNvGrpSpPr/>
          <p:nvPr userDrawn="1"/>
        </p:nvGrpSpPr>
        <p:grpSpPr>
          <a:xfrm>
            <a:off x="478106" y="2471695"/>
            <a:ext cx="925377" cy="216248"/>
            <a:chOff x="258200" y="408841"/>
            <a:chExt cx="1363840" cy="318731"/>
          </a:xfrm>
        </p:grpSpPr>
        <p:sp>
          <p:nvSpPr>
            <p:cNvPr id="4" name="Freeform: Shape 80">
              <a:extLst>
                <a:ext uri="{FF2B5EF4-FFF2-40B4-BE49-F238E27FC236}">
                  <a16:creationId xmlns:a16="http://schemas.microsoft.com/office/drawing/2014/main" id="{8A334D9C-96C0-4CE2-8FE6-C384A569AE0B}"/>
                </a:ext>
              </a:extLst>
            </p:cNvPr>
            <p:cNvSpPr/>
            <p:nvPr/>
          </p:nvSpPr>
          <p:spPr>
            <a:xfrm>
              <a:off x="258200" y="408895"/>
              <a:ext cx="380170" cy="318677"/>
            </a:xfrm>
            <a:custGeom>
              <a:avLst/>
              <a:gdLst>
                <a:gd name="connsiteX0" fmla="*/ 227316 w 380170"/>
                <a:gd name="connsiteY0" fmla="*/ 60589 h 318677"/>
                <a:gd name="connsiteX1" fmla="*/ 306135 w 380170"/>
                <a:gd name="connsiteY1" fmla="*/ 151579 h 318677"/>
                <a:gd name="connsiteX2" fmla="*/ 295983 w 380170"/>
                <a:gd name="connsiteY2" fmla="*/ 193247 h 318677"/>
                <a:gd name="connsiteX3" fmla="*/ 253464 w 380170"/>
                <a:gd name="connsiteY3" fmla="*/ 151579 h 318677"/>
                <a:gd name="connsiteX4" fmla="*/ 211903 w 380170"/>
                <a:gd name="connsiteY4" fmla="*/ 151579 h 318677"/>
                <a:gd name="connsiteX5" fmla="*/ 211903 w 380170"/>
                <a:gd name="connsiteY5" fmla="*/ 193566 h 318677"/>
                <a:gd name="connsiteX6" fmla="*/ 254846 w 380170"/>
                <a:gd name="connsiteY6" fmla="*/ 236085 h 318677"/>
                <a:gd name="connsiteX7" fmla="*/ 227475 w 380170"/>
                <a:gd name="connsiteY7" fmla="*/ 242569 h 318677"/>
                <a:gd name="connsiteX8" fmla="*/ 146371 w 380170"/>
                <a:gd name="connsiteY8" fmla="*/ 242569 h 318677"/>
                <a:gd name="connsiteX9" fmla="*/ 67552 w 380170"/>
                <a:gd name="connsiteY9" fmla="*/ 151579 h 318677"/>
                <a:gd name="connsiteX10" fmla="*/ 146371 w 380170"/>
                <a:gd name="connsiteY10" fmla="*/ 60642 h 318677"/>
                <a:gd name="connsiteX11" fmla="*/ 380170 w 380170"/>
                <a:gd name="connsiteY11" fmla="*/ 275521 h 318677"/>
                <a:gd name="connsiteX12" fmla="*/ 346049 w 380170"/>
                <a:gd name="connsiteY12" fmla="*/ 242197 h 318677"/>
                <a:gd name="connsiteX13" fmla="*/ 373686 w 380170"/>
                <a:gd name="connsiteY13" fmla="*/ 151579 h 318677"/>
                <a:gd name="connsiteX14" fmla="*/ 230770 w 380170"/>
                <a:gd name="connsiteY14" fmla="*/ 0 h 318677"/>
                <a:gd name="connsiteX15" fmla="*/ 142916 w 380170"/>
                <a:gd name="connsiteY15" fmla="*/ 0 h 318677"/>
                <a:gd name="connsiteX16" fmla="*/ 0 w 380170"/>
                <a:gd name="connsiteY16" fmla="*/ 151579 h 318677"/>
                <a:gd name="connsiteX17" fmla="*/ 142916 w 380170"/>
                <a:gd name="connsiteY17" fmla="*/ 303211 h 318677"/>
                <a:gd name="connsiteX18" fmla="*/ 230770 w 380170"/>
                <a:gd name="connsiteY18" fmla="*/ 303211 h 318677"/>
                <a:gd name="connsiteX19" fmla="*/ 302148 w 380170"/>
                <a:gd name="connsiteY19" fmla="*/ 283121 h 318677"/>
                <a:gd name="connsiteX20" fmla="*/ 338077 w 380170"/>
                <a:gd name="connsiteY20" fmla="*/ 318677 h 318677"/>
                <a:gd name="connsiteX21" fmla="*/ 380170 w 380170"/>
                <a:gd name="connsiteY21" fmla="*/ 318677 h 31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0170" h="318677">
                  <a:moveTo>
                    <a:pt x="227316" y="60589"/>
                  </a:moveTo>
                  <a:cubicBezTo>
                    <a:pt x="271482" y="60589"/>
                    <a:pt x="306135" y="108423"/>
                    <a:pt x="306135" y="151579"/>
                  </a:cubicBezTo>
                  <a:cubicBezTo>
                    <a:pt x="305917" y="166051"/>
                    <a:pt x="302446" y="180295"/>
                    <a:pt x="295983" y="193247"/>
                  </a:cubicBezTo>
                  <a:lnTo>
                    <a:pt x="253464" y="151579"/>
                  </a:lnTo>
                  <a:lnTo>
                    <a:pt x="211903" y="151579"/>
                  </a:lnTo>
                  <a:lnTo>
                    <a:pt x="211903" y="193566"/>
                  </a:lnTo>
                  <a:lnTo>
                    <a:pt x="254846" y="236085"/>
                  </a:lnTo>
                  <a:cubicBezTo>
                    <a:pt x="246332" y="240294"/>
                    <a:pt x="236973" y="242511"/>
                    <a:pt x="227475" y="242569"/>
                  </a:cubicBezTo>
                  <a:lnTo>
                    <a:pt x="146371" y="242569"/>
                  </a:lnTo>
                  <a:cubicBezTo>
                    <a:pt x="102204" y="242569"/>
                    <a:pt x="67552" y="194735"/>
                    <a:pt x="67552" y="151579"/>
                  </a:cubicBezTo>
                  <a:cubicBezTo>
                    <a:pt x="67552" y="108423"/>
                    <a:pt x="102204" y="60642"/>
                    <a:pt x="146371" y="60642"/>
                  </a:cubicBezTo>
                  <a:close/>
                  <a:moveTo>
                    <a:pt x="380170" y="275521"/>
                  </a:moveTo>
                  <a:lnTo>
                    <a:pt x="346049" y="242197"/>
                  </a:lnTo>
                  <a:cubicBezTo>
                    <a:pt x="364449" y="215596"/>
                    <a:pt x="374106" y="183920"/>
                    <a:pt x="373686" y="151579"/>
                  </a:cubicBezTo>
                  <a:cubicBezTo>
                    <a:pt x="373686" y="59792"/>
                    <a:pt x="303530" y="0"/>
                    <a:pt x="230770" y="0"/>
                  </a:cubicBezTo>
                  <a:lnTo>
                    <a:pt x="142916" y="0"/>
                  </a:lnTo>
                  <a:cubicBezTo>
                    <a:pt x="70156" y="0"/>
                    <a:pt x="0" y="59792"/>
                    <a:pt x="0" y="151579"/>
                  </a:cubicBezTo>
                  <a:cubicBezTo>
                    <a:pt x="0" y="243366"/>
                    <a:pt x="70156" y="303211"/>
                    <a:pt x="142916" y="303211"/>
                  </a:cubicBezTo>
                  <a:lnTo>
                    <a:pt x="230770" y="303211"/>
                  </a:lnTo>
                  <a:cubicBezTo>
                    <a:pt x="255941" y="303084"/>
                    <a:pt x="280608" y="296137"/>
                    <a:pt x="302148" y="283121"/>
                  </a:cubicBezTo>
                  <a:lnTo>
                    <a:pt x="338077" y="318677"/>
                  </a:lnTo>
                  <a:lnTo>
                    <a:pt x="380170" y="318677"/>
                  </a:lnTo>
                  <a:close/>
                </a:path>
              </a:pathLst>
            </a:custGeom>
            <a:solidFill>
              <a:srgbClr val="00AEEF"/>
            </a:solidFill>
            <a:ln w="53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 defTabSz="914108" fontAlgn="base" latinLnBrk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endParaRPr kumimoji="1" lang="ko-KR" altLang="en-US" sz="1100">
                <a:solidFill>
                  <a:prstClr val="black"/>
                </a:solidFill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5" name="Freeform: Shape 81">
              <a:extLst>
                <a:ext uri="{FF2B5EF4-FFF2-40B4-BE49-F238E27FC236}">
                  <a16:creationId xmlns:a16="http://schemas.microsoft.com/office/drawing/2014/main" id="{87546A5B-C34C-48B2-A3FA-7B839B98AA58}"/>
                </a:ext>
              </a:extLst>
            </p:cNvPr>
            <p:cNvSpPr/>
            <p:nvPr/>
          </p:nvSpPr>
          <p:spPr>
            <a:xfrm>
              <a:off x="695505" y="408895"/>
              <a:ext cx="187401" cy="294122"/>
            </a:xfrm>
            <a:custGeom>
              <a:avLst/>
              <a:gdLst>
                <a:gd name="connsiteX0" fmla="*/ 0 w 187401"/>
                <a:gd name="connsiteY0" fmla="*/ 147061 h 294122"/>
                <a:gd name="connsiteX1" fmla="*/ 138664 w 187401"/>
                <a:gd name="connsiteY1" fmla="*/ 294123 h 294122"/>
                <a:gd name="connsiteX2" fmla="*/ 187401 w 187401"/>
                <a:gd name="connsiteY2" fmla="*/ 294123 h 294122"/>
                <a:gd name="connsiteX3" fmla="*/ 187401 w 187401"/>
                <a:gd name="connsiteY3" fmla="*/ 235288 h 294122"/>
                <a:gd name="connsiteX4" fmla="*/ 141959 w 187401"/>
                <a:gd name="connsiteY4" fmla="*/ 235288 h 294122"/>
                <a:gd name="connsiteX5" fmla="*/ 65585 w 187401"/>
                <a:gd name="connsiteY5" fmla="*/ 147061 h 294122"/>
                <a:gd name="connsiteX6" fmla="*/ 141959 w 187401"/>
                <a:gd name="connsiteY6" fmla="*/ 58835 h 294122"/>
                <a:gd name="connsiteX7" fmla="*/ 187401 w 187401"/>
                <a:gd name="connsiteY7" fmla="*/ 58835 h 294122"/>
                <a:gd name="connsiteX8" fmla="*/ 187401 w 187401"/>
                <a:gd name="connsiteY8" fmla="*/ 0 h 294122"/>
                <a:gd name="connsiteX9" fmla="*/ 138664 w 187401"/>
                <a:gd name="connsiteY9" fmla="*/ 0 h 294122"/>
                <a:gd name="connsiteX10" fmla="*/ 0 w 187401"/>
                <a:gd name="connsiteY10" fmla="*/ 147061 h 29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7401" h="294122">
                  <a:moveTo>
                    <a:pt x="0" y="147061"/>
                  </a:moveTo>
                  <a:cubicBezTo>
                    <a:pt x="0" y="236085"/>
                    <a:pt x="68083" y="294123"/>
                    <a:pt x="138664" y="294123"/>
                  </a:cubicBezTo>
                  <a:lnTo>
                    <a:pt x="187401" y="294123"/>
                  </a:lnTo>
                  <a:lnTo>
                    <a:pt x="187401" y="235288"/>
                  </a:lnTo>
                  <a:lnTo>
                    <a:pt x="141959" y="235288"/>
                  </a:lnTo>
                  <a:cubicBezTo>
                    <a:pt x="99122" y="235288"/>
                    <a:pt x="65585" y="188677"/>
                    <a:pt x="65585" y="147061"/>
                  </a:cubicBezTo>
                  <a:cubicBezTo>
                    <a:pt x="65585" y="105446"/>
                    <a:pt x="99122" y="58835"/>
                    <a:pt x="141959" y="58835"/>
                  </a:cubicBezTo>
                  <a:lnTo>
                    <a:pt x="187401" y="58835"/>
                  </a:lnTo>
                  <a:lnTo>
                    <a:pt x="187401" y="0"/>
                  </a:lnTo>
                  <a:lnTo>
                    <a:pt x="138664" y="0"/>
                  </a:lnTo>
                  <a:cubicBezTo>
                    <a:pt x="68083" y="0"/>
                    <a:pt x="0" y="57985"/>
                    <a:pt x="0" y="147061"/>
                  </a:cubicBezTo>
                </a:path>
              </a:pathLst>
            </a:custGeom>
            <a:solidFill>
              <a:srgbClr val="002060"/>
            </a:solidFill>
            <a:ln w="53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 defTabSz="914108" fontAlgn="base" latinLnBrk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endParaRPr kumimoji="1" lang="ko-KR" altLang="en-US" sz="1100">
                <a:solidFill>
                  <a:prstClr val="black"/>
                </a:solidFill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6" name="Freeform: Shape 82">
              <a:extLst>
                <a:ext uri="{FF2B5EF4-FFF2-40B4-BE49-F238E27FC236}">
                  <a16:creationId xmlns:a16="http://schemas.microsoft.com/office/drawing/2014/main" id="{5379F047-D6F5-4347-8970-010184F530E8}"/>
                </a:ext>
              </a:extLst>
            </p:cNvPr>
            <p:cNvSpPr/>
            <p:nvPr/>
          </p:nvSpPr>
          <p:spPr>
            <a:xfrm>
              <a:off x="896938" y="408895"/>
              <a:ext cx="176930" cy="294122"/>
            </a:xfrm>
            <a:custGeom>
              <a:avLst/>
              <a:gdLst>
                <a:gd name="connsiteX0" fmla="*/ 0 w 176930"/>
                <a:gd name="connsiteY0" fmla="*/ 147061 h 294122"/>
                <a:gd name="connsiteX1" fmla="*/ 144563 w 176930"/>
                <a:gd name="connsiteY1" fmla="*/ 294123 h 294122"/>
                <a:gd name="connsiteX2" fmla="*/ 176931 w 176930"/>
                <a:gd name="connsiteY2" fmla="*/ 294123 h 294122"/>
                <a:gd name="connsiteX3" fmla="*/ 176931 w 176930"/>
                <a:gd name="connsiteY3" fmla="*/ 235288 h 294122"/>
                <a:gd name="connsiteX4" fmla="*/ 139089 w 176930"/>
                <a:gd name="connsiteY4" fmla="*/ 235288 h 294122"/>
                <a:gd name="connsiteX5" fmla="*/ 63884 w 176930"/>
                <a:gd name="connsiteY5" fmla="*/ 174380 h 294122"/>
                <a:gd name="connsiteX6" fmla="*/ 176931 w 176930"/>
                <a:gd name="connsiteY6" fmla="*/ 174380 h 294122"/>
                <a:gd name="connsiteX7" fmla="*/ 176931 w 176930"/>
                <a:gd name="connsiteY7" fmla="*/ 119743 h 294122"/>
                <a:gd name="connsiteX8" fmla="*/ 63884 w 176930"/>
                <a:gd name="connsiteY8" fmla="*/ 119743 h 294122"/>
                <a:gd name="connsiteX9" fmla="*/ 139089 w 176930"/>
                <a:gd name="connsiteY9" fmla="*/ 58835 h 294122"/>
                <a:gd name="connsiteX10" fmla="*/ 176931 w 176930"/>
                <a:gd name="connsiteY10" fmla="*/ 58835 h 294122"/>
                <a:gd name="connsiteX11" fmla="*/ 176931 w 176930"/>
                <a:gd name="connsiteY11" fmla="*/ 0 h 294122"/>
                <a:gd name="connsiteX12" fmla="*/ 144563 w 176930"/>
                <a:gd name="connsiteY12" fmla="*/ 0 h 294122"/>
                <a:gd name="connsiteX13" fmla="*/ 0 w 176930"/>
                <a:gd name="connsiteY13" fmla="*/ 147061 h 29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6930" h="294122">
                  <a:moveTo>
                    <a:pt x="0" y="147061"/>
                  </a:moveTo>
                  <a:cubicBezTo>
                    <a:pt x="0" y="219343"/>
                    <a:pt x="43688" y="294123"/>
                    <a:pt x="144563" y="294123"/>
                  </a:cubicBezTo>
                  <a:lnTo>
                    <a:pt x="176931" y="294123"/>
                  </a:lnTo>
                  <a:lnTo>
                    <a:pt x="176931" y="235288"/>
                  </a:lnTo>
                  <a:lnTo>
                    <a:pt x="139089" y="235288"/>
                  </a:lnTo>
                  <a:cubicBezTo>
                    <a:pt x="91628" y="235288"/>
                    <a:pt x="68880" y="202548"/>
                    <a:pt x="63884" y="174380"/>
                  </a:cubicBezTo>
                  <a:lnTo>
                    <a:pt x="176931" y="174380"/>
                  </a:lnTo>
                  <a:lnTo>
                    <a:pt x="176931" y="119743"/>
                  </a:lnTo>
                  <a:lnTo>
                    <a:pt x="63884" y="119743"/>
                  </a:lnTo>
                  <a:cubicBezTo>
                    <a:pt x="68880" y="91574"/>
                    <a:pt x="91628" y="58835"/>
                    <a:pt x="139089" y="58835"/>
                  </a:cubicBezTo>
                  <a:lnTo>
                    <a:pt x="176931" y="58835"/>
                  </a:lnTo>
                  <a:lnTo>
                    <a:pt x="176931" y="0"/>
                  </a:lnTo>
                  <a:lnTo>
                    <a:pt x="144563" y="0"/>
                  </a:lnTo>
                  <a:cubicBezTo>
                    <a:pt x="43582" y="0"/>
                    <a:pt x="0" y="74780"/>
                    <a:pt x="0" y="147061"/>
                  </a:cubicBezTo>
                </a:path>
              </a:pathLst>
            </a:custGeom>
            <a:solidFill>
              <a:srgbClr val="002060"/>
            </a:solidFill>
            <a:ln w="53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 defTabSz="914108" fontAlgn="base" latinLnBrk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endParaRPr kumimoji="1" lang="ko-KR" altLang="en-US" sz="1100">
                <a:solidFill>
                  <a:prstClr val="black"/>
                </a:solidFill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7" name="Freeform: Shape 83">
              <a:extLst>
                <a:ext uri="{FF2B5EF4-FFF2-40B4-BE49-F238E27FC236}">
                  <a16:creationId xmlns:a16="http://schemas.microsoft.com/office/drawing/2014/main" id="{05464281-61A0-4302-A3E3-C5E554F37D4F}"/>
                </a:ext>
              </a:extLst>
            </p:cNvPr>
            <p:cNvSpPr/>
            <p:nvPr/>
          </p:nvSpPr>
          <p:spPr>
            <a:xfrm>
              <a:off x="1109956" y="408841"/>
              <a:ext cx="140790" cy="294176"/>
            </a:xfrm>
            <a:custGeom>
              <a:avLst/>
              <a:gdLst>
                <a:gd name="connsiteX0" fmla="*/ 62237 w 140790"/>
                <a:gd name="connsiteY0" fmla="*/ 197659 h 294176"/>
                <a:gd name="connsiteX1" fmla="*/ 62237 w 140790"/>
                <a:gd name="connsiteY1" fmla="*/ 0 h 294176"/>
                <a:gd name="connsiteX2" fmla="*/ 0 w 140790"/>
                <a:gd name="connsiteY2" fmla="*/ 0 h 294176"/>
                <a:gd name="connsiteX3" fmla="*/ 0 w 140790"/>
                <a:gd name="connsiteY3" fmla="*/ 205897 h 294176"/>
                <a:gd name="connsiteX4" fmla="*/ 79032 w 140790"/>
                <a:gd name="connsiteY4" fmla="*/ 294176 h 294176"/>
                <a:gd name="connsiteX5" fmla="*/ 140790 w 140790"/>
                <a:gd name="connsiteY5" fmla="*/ 294176 h 294176"/>
                <a:gd name="connsiteX6" fmla="*/ 140790 w 140790"/>
                <a:gd name="connsiteY6" fmla="*/ 235288 h 294176"/>
                <a:gd name="connsiteX7" fmla="*/ 94126 w 140790"/>
                <a:gd name="connsiteY7" fmla="*/ 235288 h 294176"/>
                <a:gd name="connsiteX8" fmla="*/ 62237 w 140790"/>
                <a:gd name="connsiteY8" fmla="*/ 197552 h 29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790" h="294176">
                  <a:moveTo>
                    <a:pt x="62237" y="197659"/>
                  </a:moveTo>
                  <a:lnTo>
                    <a:pt x="62237" y="0"/>
                  </a:lnTo>
                  <a:lnTo>
                    <a:pt x="0" y="0"/>
                  </a:lnTo>
                  <a:lnTo>
                    <a:pt x="0" y="205897"/>
                  </a:lnTo>
                  <a:cubicBezTo>
                    <a:pt x="0" y="270631"/>
                    <a:pt x="31889" y="294176"/>
                    <a:pt x="79032" y="294176"/>
                  </a:cubicBezTo>
                  <a:lnTo>
                    <a:pt x="140790" y="294176"/>
                  </a:lnTo>
                  <a:lnTo>
                    <a:pt x="140790" y="235288"/>
                  </a:lnTo>
                  <a:lnTo>
                    <a:pt x="94126" y="235288"/>
                  </a:lnTo>
                  <a:cubicBezTo>
                    <a:pt x="73132" y="235288"/>
                    <a:pt x="62237" y="224392"/>
                    <a:pt x="62237" y="197552"/>
                  </a:cubicBezTo>
                </a:path>
              </a:pathLst>
            </a:custGeom>
            <a:solidFill>
              <a:srgbClr val="002060"/>
            </a:solidFill>
            <a:ln w="53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 defTabSz="914108" fontAlgn="base" latinLnBrk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endParaRPr kumimoji="1" lang="ko-KR" altLang="en-US" sz="1100">
                <a:solidFill>
                  <a:prstClr val="black"/>
                </a:solidFill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8" name="Freeform: Shape 84">
              <a:extLst>
                <a:ext uri="{FF2B5EF4-FFF2-40B4-BE49-F238E27FC236}">
                  <a16:creationId xmlns:a16="http://schemas.microsoft.com/office/drawing/2014/main" id="{E7FDE7F9-8926-46B0-AACA-5C4D0901452F}"/>
                </a:ext>
              </a:extLst>
            </p:cNvPr>
            <p:cNvSpPr/>
            <p:nvPr/>
          </p:nvSpPr>
          <p:spPr>
            <a:xfrm>
              <a:off x="1275354" y="408841"/>
              <a:ext cx="140736" cy="294176"/>
            </a:xfrm>
            <a:custGeom>
              <a:avLst/>
              <a:gdLst>
                <a:gd name="connsiteX0" fmla="*/ 62184 w 140736"/>
                <a:gd name="connsiteY0" fmla="*/ 197659 h 294176"/>
                <a:gd name="connsiteX1" fmla="*/ 62184 w 140736"/>
                <a:gd name="connsiteY1" fmla="*/ 0 h 294176"/>
                <a:gd name="connsiteX2" fmla="*/ 0 w 140736"/>
                <a:gd name="connsiteY2" fmla="*/ 0 h 294176"/>
                <a:gd name="connsiteX3" fmla="*/ 0 w 140736"/>
                <a:gd name="connsiteY3" fmla="*/ 205897 h 294176"/>
                <a:gd name="connsiteX4" fmla="*/ 78979 w 140736"/>
                <a:gd name="connsiteY4" fmla="*/ 294176 h 294176"/>
                <a:gd name="connsiteX5" fmla="*/ 140737 w 140736"/>
                <a:gd name="connsiteY5" fmla="*/ 294176 h 294176"/>
                <a:gd name="connsiteX6" fmla="*/ 140737 w 140736"/>
                <a:gd name="connsiteY6" fmla="*/ 235288 h 294176"/>
                <a:gd name="connsiteX7" fmla="*/ 94126 w 140736"/>
                <a:gd name="connsiteY7" fmla="*/ 235288 h 294176"/>
                <a:gd name="connsiteX8" fmla="*/ 62237 w 140736"/>
                <a:gd name="connsiteY8" fmla="*/ 197552 h 29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736" h="294176">
                  <a:moveTo>
                    <a:pt x="62184" y="197659"/>
                  </a:moveTo>
                  <a:lnTo>
                    <a:pt x="62184" y="0"/>
                  </a:lnTo>
                  <a:lnTo>
                    <a:pt x="0" y="0"/>
                  </a:lnTo>
                  <a:lnTo>
                    <a:pt x="0" y="205897"/>
                  </a:lnTo>
                  <a:cubicBezTo>
                    <a:pt x="0" y="270631"/>
                    <a:pt x="31889" y="294176"/>
                    <a:pt x="78979" y="294176"/>
                  </a:cubicBezTo>
                  <a:lnTo>
                    <a:pt x="140737" y="294176"/>
                  </a:lnTo>
                  <a:lnTo>
                    <a:pt x="140737" y="235288"/>
                  </a:lnTo>
                  <a:lnTo>
                    <a:pt x="94126" y="235288"/>
                  </a:lnTo>
                  <a:cubicBezTo>
                    <a:pt x="72867" y="235288"/>
                    <a:pt x="62237" y="224392"/>
                    <a:pt x="62237" y="197552"/>
                  </a:cubicBezTo>
                </a:path>
              </a:pathLst>
            </a:custGeom>
            <a:solidFill>
              <a:srgbClr val="002060"/>
            </a:solidFill>
            <a:ln w="53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 defTabSz="914108" fontAlgn="base" latinLnBrk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endParaRPr kumimoji="1" lang="ko-KR" altLang="en-US" sz="1100">
                <a:solidFill>
                  <a:prstClr val="black"/>
                </a:solidFill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9" name="Freeform: Shape 85">
              <a:extLst>
                <a:ext uri="{FF2B5EF4-FFF2-40B4-BE49-F238E27FC236}">
                  <a16:creationId xmlns:a16="http://schemas.microsoft.com/office/drawing/2014/main" id="{1ED7037F-4CBE-4C9E-8EA3-5FF0BACC5490}"/>
                </a:ext>
              </a:extLst>
            </p:cNvPr>
            <p:cNvSpPr/>
            <p:nvPr/>
          </p:nvSpPr>
          <p:spPr>
            <a:xfrm>
              <a:off x="1432939" y="408841"/>
              <a:ext cx="189101" cy="294388"/>
            </a:xfrm>
            <a:custGeom>
              <a:avLst/>
              <a:gdLst>
                <a:gd name="connsiteX0" fmla="*/ 65479 w 189101"/>
                <a:gd name="connsiteY0" fmla="*/ 81104 h 294388"/>
                <a:gd name="connsiteX1" fmla="*/ 87376 w 189101"/>
                <a:gd name="connsiteY1" fmla="*/ 58888 h 294388"/>
                <a:gd name="connsiteX2" fmla="*/ 171403 w 189101"/>
                <a:gd name="connsiteY2" fmla="*/ 58888 h 294388"/>
                <a:gd name="connsiteX3" fmla="*/ 171403 w 189101"/>
                <a:gd name="connsiteY3" fmla="*/ 0 h 294388"/>
                <a:gd name="connsiteX4" fmla="*/ 73079 w 189101"/>
                <a:gd name="connsiteY4" fmla="*/ 0 h 294388"/>
                <a:gd name="connsiteX5" fmla="*/ 0 w 189101"/>
                <a:gd name="connsiteY5" fmla="*/ 82433 h 294388"/>
                <a:gd name="connsiteX6" fmla="*/ 123570 w 189101"/>
                <a:gd name="connsiteY6" fmla="*/ 214294 h 294388"/>
                <a:gd name="connsiteX7" fmla="*/ 106010 w 189101"/>
                <a:gd name="connsiteY7" fmla="*/ 235468 h 294388"/>
                <a:gd name="connsiteX8" fmla="*/ 104224 w 189101"/>
                <a:gd name="connsiteY8" fmla="*/ 235553 h 294388"/>
                <a:gd name="connsiteX9" fmla="*/ 14350 w 189101"/>
                <a:gd name="connsiteY9" fmla="*/ 235553 h 294388"/>
                <a:gd name="connsiteX10" fmla="*/ 14350 w 189101"/>
                <a:gd name="connsiteY10" fmla="*/ 294389 h 294388"/>
                <a:gd name="connsiteX11" fmla="*/ 105871 w 189101"/>
                <a:gd name="connsiteY11" fmla="*/ 294389 h 294388"/>
                <a:gd name="connsiteX12" fmla="*/ 189102 w 189101"/>
                <a:gd name="connsiteY12" fmla="*/ 208023 h 294388"/>
                <a:gd name="connsiteX13" fmla="*/ 65479 w 189101"/>
                <a:gd name="connsiteY13" fmla="*/ 81317 h 29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9101" h="294388">
                  <a:moveTo>
                    <a:pt x="65479" y="81104"/>
                  </a:moveTo>
                  <a:cubicBezTo>
                    <a:pt x="65479" y="68933"/>
                    <a:pt x="72229" y="58888"/>
                    <a:pt x="87376" y="58888"/>
                  </a:cubicBezTo>
                  <a:lnTo>
                    <a:pt x="171403" y="58888"/>
                  </a:lnTo>
                  <a:lnTo>
                    <a:pt x="171403" y="0"/>
                  </a:lnTo>
                  <a:lnTo>
                    <a:pt x="73079" y="0"/>
                  </a:lnTo>
                  <a:cubicBezTo>
                    <a:pt x="39861" y="0"/>
                    <a:pt x="0" y="27743"/>
                    <a:pt x="0" y="82433"/>
                  </a:cubicBezTo>
                  <a:cubicBezTo>
                    <a:pt x="0" y="156362"/>
                    <a:pt x="123570" y="183415"/>
                    <a:pt x="123570" y="214294"/>
                  </a:cubicBezTo>
                  <a:cubicBezTo>
                    <a:pt x="124569" y="224993"/>
                    <a:pt x="116703" y="234469"/>
                    <a:pt x="106010" y="235468"/>
                  </a:cubicBezTo>
                  <a:cubicBezTo>
                    <a:pt x="105414" y="235527"/>
                    <a:pt x="104819" y="235553"/>
                    <a:pt x="104224" y="235553"/>
                  </a:cubicBezTo>
                  <a:lnTo>
                    <a:pt x="14350" y="235553"/>
                  </a:lnTo>
                  <a:lnTo>
                    <a:pt x="14350" y="294389"/>
                  </a:lnTo>
                  <a:lnTo>
                    <a:pt x="105871" y="294389"/>
                  </a:lnTo>
                  <a:cubicBezTo>
                    <a:pt x="170606" y="294389"/>
                    <a:pt x="189102" y="249213"/>
                    <a:pt x="189102" y="208023"/>
                  </a:cubicBezTo>
                  <a:cubicBezTo>
                    <a:pt x="189102" y="146636"/>
                    <a:pt x="65479" y="110974"/>
                    <a:pt x="65479" y="81317"/>
                  </a:cubicBezTo>
                </a:path>
              </a:pathLst>
            </a:custGeom>
            <a:solidFill>
              <a:srgbClr val="002060"/>
            </a:solidFill>
            <a:ln w="53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 defTabSz="914108" fontAlgn="base" latinLnBrk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endParaRPr kumimoji="1" lang="ko-KR" altLang="en-US" sz="1100">
                <a:solidFill>
                  <a:prstClr val="black"/>
                </a:solidFill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</p:grpSp>
      <p:sp>
        <p:nvSpPr>
          <p:cNvPr id="10" name="직사각형 19">
            <a:extLst>
              <a:ext uri="{FF2B5EF4-FFF2-40B4-BE49-F238E27FC236}">
                <a16:creationId xmlns:a16="http://schemas.microsoft.com/office/drawing/2014/main" id="{89F031AB-C2FC-4A6D-8712-F54EDAEBB9DE}"/>
              </a:ext>
            </a:extLst>
          </p:cNvPr>
          <p:cNvSpPr/>
          <p:nvPr userDrawn="1"/>
        </p:nvSpPr>
        <p:spPr>
          <a:xfrm>
            <a:off x="1351519" y="1744146"/>
            <a:ext cx="4245460" cy="4374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rtlCol="0" anchor="ctr">
            <a:prstTxWarp prst="textArchUp">
              <a:avLst>
                <a:gd name="adj" fmla="val 10822588"/>
              </a:avLst>
            </a:prstTxWarp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algn="ctr" defTabSz="77461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fr-FR" altLang="ko-KR" sz="1100" b="1" spc="-100" dirty="0">
                <a:solidFill>
                  <a:srgbClr val="00A1E9"/>
                </a:solidFill>
                <a:latin typeface="맑은 고딕" panose="020B0503020000020004" pitchFamily="50" charset="-127"/>
                <a:ea typeface="+mn-ea"/>
              </a:rPr>
              <a:t>Qcells Malaysia MES Implementation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564A34F-C8DC-4CB5-86EB-2A97052CA9BE}"/>
              </a:ext>
            </a:extLst>
          </p:cNvPr>
          <p:cNvSpPr txBox="1">
            <a:spLocks/>
          </p:cNvSpPr>
          <p:nvPr userDrawn="1"/>
        </p:nvSpPr>
        <p:spPr>
          <a:xfrm>
            <a:off x="3904136" y="3497557"/>
            <a:ext cx="4131465" cy="737476"/>
          </a:xfrm>
          <a:prstGeom prst="rect">
            <a:avLst/>
          </a:prstGeom>
        </p:spPr>
        <p:txBody>
          <a:bodyPr vert="horz" wrap="square" lIns="35988" tIns="35988" rIns="35988" bIns="35988" rtlCol="0" anchor="t" anchorCtr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000" kern="1200">
                <a:solidFill>
                  <a:schemeClr val="tx2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108">
              <a:lnSpc>
                <a:spcPct val="120000"/>
              </a:lnSpc>
              <a:spcBef>
                <a:spcPts val="0"/>
              </a:spcBef>
              <a:buClr>
                <a:srgbClr val="FFE600"/>
              </a:buClr>
              <a:defRPr/>
            </a:pPr>
            <a:r>
              <a:rPr lang="en-US" altLang="ko-KR" sz="36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End of </a:t>
            </a:r>
            <a:r>
              <a:rPr lang="en-US" altLang="ko-KR" sz="36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Document</a:t>
            </a:r>
            <a:endParaRPr lang="ko-KR" altLang="en-US" sz="36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DEF37D32-66D9-4235-9E42-1715A38316AD}"/>
              </a:ext>
            </a:extLst>
          </p:cNvPr>
          <p:cNvSpPr/>
          <p:nvPr userDrawn="1"/>
        </p:nvSpPr>
        <p:spPr>
          <a:xfrm>
            <a:off x="10114572" y="0"/>
            <a:ext cx="215292" cy="7197725"/>
          </a:xfrm>
          <a:prstGeom prst="rect">
            <a:avLst/>
          </a:prstGeom>
          <a:gradFill flip="none" rotWithShape="1">
            <a:gsLst>
              <a:gs pos="51000">
                <a:schemeClr val="accent1"/>
              </a:gs>
              <a:gs pos="100000">
                <a:srgbClr val="00206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6" rIns="91410" bIns="45706" rtlCol="0" anchor="ctr"/>
          <a:lstStyle/>
          <a:p>
            <a:pPr algn="ctr" defTabSz="914108" fontAlgn="base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/>
            </a:pPr>
            <a:endParaRPr kumimoji="1" lang="ko-KR" altLang="en-US" sz="110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13" name="Graphic 39">
            <a:extLst>
              <a:ext uri="{FF2B5EF4-FFF2-40B4-BE49-F238E27FC236}">
                <a16:creationId xmlns:a16="http://schemas.microsoft.com/office/drawing/2014/main" id="{901E1BE5-DE58-44F2-9F67-6268E0875D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4836" y="4586457"/>
            <a:ext cx="956957" cy="75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6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0" y="3145413"/>
            <a:ext cx="10329863" cy="734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171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End of Document</a:t>
            </a:r>
            <a:endParaRPr lang="ko-KR" altLang="en-US" sz="4171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707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8"/>
          <p:cNvSpPr/>
          <p:nvPr userDrawn="1"/>
        </p:nvSpPr>
        <p:spPr bwMode="auto">
          <a:xfrm>
            <a:off x="0" y="0"/>
            <a:ext cx="10329863" cy="766424"/>
          </a:xfrm>
          <a:custGeom>
            <a:avLst/>
            <a:gdLst>
              <a:gd name="connsiteX0" fmla="*/ 0 w 9906000"/>
              <a:gd name="connsiteY0" fmla="*/ 0 h 1643865"/>
              <a:gd name="connsiteX1" fmla="*/ 9906000 w 9906000"/>
              <a:gd name="connsiteY1" fmla="*/ 0 h 1643865"/>
              <a:gd name="connsiteX2" fmla="*/ 9906000 w 9906000"/>
              <a:gd name="connsiteY2" fmla="*/ 1643865 h 1643865"/>
              <a:gd name="connsiteX3" fmla="*/ 0 w 9906000"/>
              <a:gd name="connsiteY3" fmla="*/ 1643865 h 1643865"/>
              <a:gd name="connsiteX4" fmla="*/ 0 w 9906000"/>
              <a:gd name="connsiteY4" fmla="*/ 0 h 1643865"/>
              <a:gd name="connsiteX0" fmla="*/ 0 w 9906000"/>
              <a:gd name="connsiteY0" fmla="*/ 0 h 1643865"/>
              <a:gd name="connsiteX1" fmla="*/ 6154220 w 9906000"/>
              <a:gd name="connsiteY1" fmla="*/ 1263721 h 1643865"/>
              <a:gd name="connsiteX2" fmla="*/ 9906000 w 9906000"/>
              <a:gd name="connsiteY2" fmla="*/ 0 h 1643865"/>
              <a:gd name="connsiteX3" fmla="*/ 9906000 w 9906000"/>
              <a:gd name="connsiteY3" fmla="*/ 1643865 h 1643865"/>
              <a:gd name="connsiteX4" fmla="*/ 0 w 9906000"/>
              <a:gd name="connsiteY4" fmla="*/ 1643865 h 1643865"/>
              <a:gd name="connsiteX5" fmla="*/ 0 w 9906000"/>
              <a:gd name="connsiteY5" fmla="*/ 0 h 1643865"/>
              <a:gd name="connsiteX0" fmla="*/ 0 w 9906000"/>
              <a:gd name="connsiteY0" fmla="*/ 1592494 h 1643865"/>
              <a:gd name="connsiteX1" fmla="*/ 6154220 w 9906000"/>
              <a:gd name="connsiteY1" fmla="*/ 1263721 h 1643865"/>
              <a:gd name="connsiteX2" fmla="*/ 9906000 w 9906000"/>
              <a:gd name="connsiteY2" fmla="*/ 0 h 1643865"/>
              <a:gd name="connsiteX3" fmla="*/ 9906000 w 9906000"/>
              <a:gd name="connsiteY3" fmla="*/ 1643865 h 1643865"/>
              <a:gd name="connsiteX4" fmla="*/ 0 w 9906000"/>
              <a:gd name="connsiteY4" fmla="*/ 1643865 h 1643865"/>
              <a:gd name="connsiteX5" fmla="*/ 0 w 9906000"/>
              <a:gd name="connsiteY5" fmla="*/ 1592494 h 1643865"/>
              <a:gd name="connsiteX0" fmla="*/ 0 w 9906000"/>
              <a:gd name="connsiteY0" fmla="*/ 1592494 h 1643865"/>
              <a:gd name="connsiteX1" fmla="*/ 5558319 w 9906000"/>
              <a:gd name="connsiteY1" fmla="*/ 1582220 h 1643865"/>
              <a:gd name="connsiteX2" fmla="*/ 9906000 w 9906000"/>
              <a:gd name="connsiteY2" fmla="*/ 0 h 1643865"/>
              <a:gd name="connsiteX3" fmla="*/ 9906000 w 9906000"/>
              <a:gd name="connsiteY3" fmla="*/ 1643865 h 1643865"/>
              <a:gd name="connsiteX4" fmla="*/ 0 w 9906000"/>
              <a:gd name="connsiteY4" fmla="*/ 1643865 h 1643865"/>
              <a:gd name="connsiteX5" fmla="*/ 0 w 9906000"/>
              <a:gd name="connsiteY5" fmla="*/ 1592494 h 1643865"/>
              <a:gd name="connsiteX0" fmla="*/ 0 w 9906000"/>
              <a:gd name="connsiteY0" fmla="*/ 1592494 h 1643865"/>
              <a:gd name="connsiteX1" fmla="*/ 5558319 w 9906000"/>
              <a:gd name="connsiteY1" fmla="*/ 1613042 h 1643865"/>
              <a:gd name="connsiteX2" fmla="*/ 9906000 w 9906000"/>
              <a:gd name="connsiteY2" fmla="*/ 0 h 1643865"/>
              <a:gd name="connsiteX3" fmla="*/ 9906000 w 9906000"/>
              <a:gd name="connsiteY3" fmla="*/ 1643865 h 1643865"/>
              <a:gd name="connsiteX4" fmla="*/ 0 w 9906000"/>
              <a:gd name="connsiteY4" fmla="*/ 1643865 h 1643865"/>
              <a:gd name="connsiteX5" fmla="*/ 0 w 9906000"/>
              <a:gd name="connsiteY5" fmla="*/ 1592494 h 1643865"/>
              <a:gd name="connsiteX0" fmla="*/ 0 w 9906000"/>
              <a:gd name="connsiteY0" fmla="*/ 1592494 h 1643865"/>
              <a:gd name="connsiteX1" fmla="*/ 5568593 w 9906000"/>
              <a:gd name="connsiteY1" fmla="*/ 1582219 h 1643865"/>
              <a:gd name="connsiteX2" fmla="*/ 9906000 w 9906000"/>
              <a:gd name="connsiteY2" fmla="*/ 0 h 1643865"/>
              <a:gd name="connsiteX3" fmla="*/ 9906000 w 9906000"/>
              <a:gd name="connsiteY3" fmla="*/ 1643865 h 1643865"/>
              <a:gd name="connsiteX4" fmla="*/ 0 w 9906000"/>
              <a:gd name="connsiteY4" fmla="*/ 1643865 h 1643865"/>
              <a:gd name="connsiteX5" fmla="*/ 0 w 9906000"/>
              <a:gd name="connsiteY5" fmla="*/ 1592494 h 1643865"/>
              <a:gd name="connsiteX0" fmla="*/ 0 w 9906000"/>
              <a:gd name="connsiteY0" fmla="*/ 1592494 h 1643865"/>
              <a:gd name="connsiteX1" fmla="*/ 6534364 w 9906000"/>
              <a:gd name="connsiteY1" fmla="*/ 1561671 h 1643865"/>
              <a:gd name="connsiteX2" fmla="*/ 9906000 w 9906000"/>
              <a:gd name="connsiteY2" fmla="*/ 0 h 1643865"/>
              <a:gd name="connsiteX3" fmla="*/ 9906000 w 9906000"/>
              <a:gd name="connsiteY3" fmla="*/ 1643865 h 1643865"/>
              <a:gd name="connsiteX4" fmla="*/ 0 w 9906000"/>
              <a:gd name="connsiteY4" fmla="*/ 1643865 h 1643865"/>
              <a:gd name="connsiteX5" fmla="*/ 0 w 9906000"/>
              <a:gd name="connsiteY5" fmla="*/ 1592494 h 1643865"/>
              <a:gd name="connsiteX0" fmla="*/ 0 w 9906000"/>
              <a:gd name="connsiteY0" fmla="*/ 1592494 h 1643865"/>
              <a:gd name="connsiteX1" fmla="*/ 6524090 w 9906000"/>
              <a:gd name="connsiteY1" fmla="*/ 1592493 h 1643865"/>
              <a:gd name="connsiteX2" fmla="*/ 9906000 w 9906000"/>
              <a:gd name="connsiteY2" fmla="*/ 0 h 1643865"/>
              <a:gd name="connsiteX3" fmla="*/ 9906000 w 9906000"/>
              <a:gd name="connsiteY3" fmla="*/ 1643865 h 1643865"/>
              <a:gd name="connsiteX4" fmla="*/ 0 w 9906000"/>
              <a:gd name="connsiteY4" fmla="*/ 1643865 h 1643865"/>
              <a:gd name="connsiteX5" fmla="*/ 0 w 9906000"/>
              <a:gd name="connsiteY5" fmla="*/ 1592494 h 1643865"/>
              <a:gd name="connsiteX0" fmla="*/ 0 w 9906000"/>
              <a:gd name="connsiteY0" fmla="*/ 1592494 h 1643865"/>
              <a:gd name="connsiteX1" fmla="*/ 6524090 w 9906000"/>
              <a:gd name="connsiteY1" fmla="*/ 1592493 h 1643865"/>
              <a:gd name="connsiteX2" fmla="*/ 7356297 w 9906000"/>
              <a:gd name="connsiteY2" fmla="*/ 1119883 h 1643865"/>
              <a:gd name="connsiteX3" fmla="*/ 9906000 w 9906000"/>
              <a:gd name="connsiteY3" fmla="*/ 0 h 1643865"/>
              <a:gd name="connsiteX4" fmla="*/ 9906000 w 9906000"/>
              <a:gd name="connsiteY4" fmla="*/ 1643865 h 1643865"/>
              <a:gd name="connsiteX5" fmla="*/ 0 w 9906000"/>
              <a:gd name="connsiteY5" fmla="*/ 1643865 h 1643865"/>
              <a:gd name="connsiteX6" fmla="*/ 0 w 9906000"/>
              <a:gd name="connsiteY6" fmla="*/ 1592494 h 1643865"/>
              <a:gd name="connsiteX0" fmla="*/ 0 w 9906000"/>
              <a:gd name="connsiteY0" fmla="*/ 513708 h 565079"/>
              <a:gd name="connsiteX1" fmla="*/ 6524090 w 9906000"/>
              <a:gd name="connsiteY1" fmla="*/ 513707 h 565079"/>
              <a:gd name="connsiteX2" fmla="*/ 7356297 w 9906000"/>
              <a:gd name="connsiteY2" fmla="*/ 41097 h 565079"/>
              <a:gd name="connsiteX3" fmla="*/ 9906000 w 9906000"/>
              <a:gd name="connsiteY3" fmla="*/ 0 h 565079"/>
              <a:gd name="connsiteX4" fmla="*/ 9906000 w 9906000"/>
              <a:gd name="connsiteY4" fmla="*/ 565079 h 565079"/>
              <a:gd name="connsiteX5" fmla="*/ 0 w 9906000"/>
              <a:gd name="connsiteY5" fmla="*/ 565079 h 565079"/>
              <a:gd name="connsiteX6" fmla="*/ 0 w 9906000"/>
              <a:gd name="connsiteY6" fmla="*/ 513708 h 565079"/>
              <a:gd name="connsiteX0" fmla="*/ 0 w 9906000"/>
              <a:gd name="connsiteY0" fmla="*/ 472611 h 523982"/>
              <a:gd name="connsiteX1" fmla="*/ 6524090 w 9906000"/>
              <a:gd name="connsiteY1" fmla="*/ 472610 h 523982"/>
              <a:gd name="connsiteX2" fmla="*/ 7356297 w 9906000"/>
              <a:gd name="connsiteY2" fmla="*/ 0 h 523982"/>
              <a:gd name="connsiteX3" fmla="*/ 9906000 w 9906000"/>
              <a:gd name="connsiteY3" fmla="*/ 0 h 523982"/>
              <a:gd name="connsiteX4" fmla="*/ 9906000 w 9906000"/>
              <a:gd name="connsiteY4" fmla="*/ 523982 h 523982"/>
              <a:gd name="connsiteX5" fmla="*/ 0 w 9906000"/>
              <a:gd name="connsiteY5" fmla="*/ 523982 h 523982"/>
              <a:gd name="connsiteX6" fmla="*/ 0 w 9906000"/>
              <a:gd name="connsiteY6" fmla="*/ 472611 h 523982"/>
              <a:gd name="connsiteX0" fmla="*/ 0 w 9906000"/>
              <a:gd name="connsiteY0" fmla="*/ 472611 h 523982"/>
              <a:gd name="connsiteX1" fmla="*/ 6524090 w 9906000"/>
              <a:gd name="connsiteY1" fmla="*/ 472610 h 523982"/>
              <a:gd name="connsiteX2" fmla="*/ 7356297 w 9906000"/>
              <a:gd name="connsiteY2" fmla="*/ 0 h 523982"/>
              <a:gd name="connsiteX3" fmla="*/ 9906000 w 9906000"/>
              <a:gd name="connsiteY3" fmla="*/ 30823 h 523982"/>
              <a:gd name="connsiteX4" fmla="*/ 9906000 w 9906000"/>
              <a:gd name="connsiteY4" fmla="*/ 523982 h 523982"/>
              <a:gd name="connsiteX5" fmla="*/ 0 w 9906000"/>
              <a:gd name="connsiteY5" fmla="*/ 523982 h 523982"/>
              <a:gd name="connsiteX6" fmla="*/ 0 w 9906000"/>
              <a:gd name="connsiteY6" fmla="*/ 472611 h 523982"/>
              <a:gd name="connsiteX0" fmla="*/ 0 w 9906000"/>
              <a:gd name="connsiteY0" fmla="*/ 472611 h 523982"/>
              <a:gd name="connsiteX1" fmla="*/ 6524090 w 9906000"/>
              <a:gd name="connsiteY1" fmla="*/ 472610 h 523982"/>
              <a:gd name="connsiteX2" fmla="*/ 7356297 w 9906000"/>
              <a:gd name="connsiteY2" fmla="*/ 0 h 523982"/>
              <a:gd name="connsiteX3" fmla="*/ 9906000 w 9906000"/>
              <a:gd name="connsiteY3" fmla="*/ 10275 h 523982"/>
              <a:gd name="connsiteX4" fmla="*/ 9906000 w 9906000"/>
              <a:gd name="connsiteY4" fmla="*/ 523982 h 523982"/>
              <a:gd name="connsiteX5" fmla="*/ 0 w 9906000"/>
              <a:gd name="connsiteY5" fmla="*/ 523982 h 523982"/>
              <a:gd name="connsiteX6" fmla="*/ 0 w 9906000"/>
              <a:gd name="connsiteY6" fmla="*/ 472611 h 523982"/>
              <a:gd name="connsiteX0" fmla="*/ 0 w 9906000"/>
              <a:gd name="connsiteY0" fmla="*/ 503433 h 554804"/>
              <a:gd name="connsiteX1" fmla="*/ 6524090 w 9906000"/>
              <a:gd name="connsiteY1" fmla="*/ 503432 h 554804"/>
              <a:gd name="connsiteX2" fmla="*/ 7356297 w 9906000"/>
              <a:gd name="connsiteY2" fmla="*/ 30822 h 554804"/>
              <a:gd name="connsiteX3" fmla="*/ 9906000 w 9906000"/>
              <a:gd name="connsiteY3" fmla="*/ 0 h 554804"/>
              <a:gd name="connsiteX4" fmla="*/ 9906000 w 9906000"/>
              <a:gd name="connsiteY4" fmla="*/ 554804 h 554804"/>
              <a:gd name="connsiteX5" fmla="*/ 0 w 9906000"/>
              <a:gd name="connsiteY5" fmla="*/ 554804 h 554804"/>
              <a:gd name="connsiteX6" fmla="*/ 0 w 9906000"/>
              <a:gd name="connsiteY6" fmla="*/ 503433 h 554804"/>
              <a:gd name="connsiteX0" fmla="*/ 0 w 9906000"/>
              <a:gd name="connsiteY0" fmla="*/ 472611 h 523982"/>
              <a:gd name="connsiteX1" fmla="*/ 6524090 w 9906000"/>
              <a:gd name="connsiteY1" fmla="*/ 472610 h 523982"/>
              <a:gd name="connsiteX2" fmla="*/ 7356297 w 9906000"/>
              <a:gd name="connsiteY2" fmla="*/ 0 h 523982"/>
              <a:gd name="connsiteX3" fmla="*/ 9906000 w 9906000"/>
              <a:gd name="connsiteY3" fmla="*/ 10274 h 523982"/>
              <a:gd name="connsiteX4" fmla="*/ 9906000 w 9906000"/>
              <a:gd name="connsiteY4" fmla="*/ 523982 h 523982"/>
              <a:gd name="connsiteX5" fmla="*/ 0 w 9906000"/>
              <a:gd name="connsiteY5" fmla="*/ 523982 h 523982"/>
              <a:gd name="connsiteX6" fmla="*/ 0 w 9906000"/>
              <a:gd name="connsiteY6" fmla="*/ 472611 h 523982"/>
              <a:gd name="connsiteX0" fmla="*/ 0 w 9906000"/>
              <a:gd name="connsiteY0" fmla="*/ 520395 h 571766"/>
              <a:gd name="connsiteX1" fmla="*/ 6524090 w 9906000"/>
              <a:gd name="connsiteY1" fmla="*/ 520394 h 571766"/>
              <a:gd name="connsiteX2" fmla="*/ 7356297 w 9906000"/>
              <a:gd name="connsiteY2" fmla="*/ 47784 h 571766"/>
              <a:gd name="connsiteX3" fmla="*/ 9906000 w 9906000"/>
              <a:gd name="connsiteY3" fmla="*/ 0 h 571766"/>
              <a:gd name="connsiteX4" fmla="*/ 9906000 w 9906000"/>
              <a:gd name="connsiteY4" fmla="*/ 571766 h 571766"/>
              <a:gd name="connsiteX5" fmla="*/ 0 w 9906000"/>
              <a:gd name="connsiteY5" fmla="*/ 571766 h 571766"/>
              <a:gd name="connsiteX6" fmla="*/ 0 w 9906000"/>
              <a:gd name="connsiteY6" fmla="*/ 520395 h 571766"/>
              <a:gd name="connsiteX0" fmla="*/ 0 w 9906000"/>
              <a:gd name="connsiteY0" fmla="*/ 472611 h 523982"/>
              <a:gd name="connsiteX1" fmla="*/ 6524090 w 9906000"/>
              <a:gd name="connsiteY1" fmla="*/ 472610 h 523982"/>
              <a:gd name="connsiteX2" fmla="*/ 7356297 w 9906000"/>
              <a:gd name="connsiteY2" fmla="*/ 0 h 523982"/>
              <a:gd name="connsiteX3" fmla="*/ 9906000 w 9906000"/>
              <a:gd name="connsiteY3" fmla="*/ 9366 h 523982"/>
              <a:gd name="connsiteX4" fmla="*/ 9906000 w 9906000"/>
              <a:gd name="connsiteY4" fmla="*/ 523982 h 523982"/>
              <a:gd name="connsiteX5" fmla="*/ 0 w 9906000"/>
              <a:gd name="connsiteY5" fmla="*/ 523982 h 523982"/>
              <a:gd name="connsiteX6" fmla="*/ 0 w 9906000"/>
              <a:gd name="connsiteY6" fmla="*/ 472611 h 523982"/>
              <a:gd name="connsiteX0" fmla="*/ 0 w 9906000"/>
              <a:gd name="connsiteY0" fmla="*/ 482295 h 533666"/>
              <a:gd name="connsiteX1" fmla="*/ 6524090 w 9906000"/>
              <a:gd name="connsiteY1" fmla="*/ 482294 h 533666"/>
              <a:gd name="connsiteX2" fmla="*/ 7356297 w 9906000"/>
              <a:gd name="connsiteY2" fmla="*/ 9684 h 533666"/>
              <a:gd name="connsiteX3" fmla="*/ 9906000 w 9906000"/>
              <a:gd name="connsiteY3" fmla="*/ 0 h 533666"/>
              <a:gd name="connsiteX4" fmla="*/ 9906000 w 9906000"/>
              <a:gd name="connsiteY4" fmla="*/ 533666 h 533666"/>
              <a:gd name="connsiteX5" fmla="*/ 0 w 9906000"/>
              <a:gd name="connsiteY5" fmla="*/ 533666 h 533666"/>
              <a:gd name="connsiteX6" fmla="*/ 0 w 9906000"/>
              <a:gd name="connsiteY6" fmla="*/ 482295 h 533666"/>
              <a:gd name="connsiteX0" fmla="*/ 0 w 9906000"/>
              <a:gd name="connsiteY0" fmla="*/ 472611 h 523982"/>
              <a:gd name="connsiteX1" fmla="*/ 6524090 w 9906000"/>
              <a:gd name="connsiteY1" fmla="*/ 472610 h 523982"/>
              <a:gd name="connsiteX2" fmla="*/ 7356297 w 9906000"/>
              <a:gd name="connsiteY2" fmla="*/ 0 h 523982"/>
              <a:gd name="connsiteX3" fmla="*/ 9906000 w 9906000"/>
              <a:gd name="connsiteY3" fmla="*/ 9366 h 523982"/>
              <a:gd name="connsiteX4" fmla="*/ 9906000 w 9906000"/>
              <a:gd name="connsiteY4" fmla="*/ 523982 h 523982"/>
              <a:gd name="connsiteX5" fmla="*/ 0 w 9906000"/>
              <a:gd name="connsiteY5" fmla="*/ 523982 h 523982"/>
              <a:gd name="connsiteX6" fmla="*/ 0 w 9906000"/>
              <a:gd name="connsiteY6" fmla="*/ 472611 h 523982"/>
              <a:gd name="connsiteX0" fmla="*/ 0 w 9906000"/>
              <a:gd name="connsiteY0" fmla="*/ 472611 h 523982"/>
              <a:gd name="connsiteX1" fmla="*/ 6524090 w 9906000"/>
              <a:gd name="connsiteY1" fmla="*/ 472610 h 523982"/>
              <a:gd name="connsiteX2" fmla="*/ 7356297 w 9906000"/>
              <a:gd name="connsiteY2" fmla="*/ 0 h 523982"/>
              <a:gd name="connsiteX3" fmla="*/ 9906000 w 9906000"/>
              <a:gd name="connsiteY3" fmla="*/ 3016 h 523982"/>
              <a:gd name="connsiteX4" fmla="*/ 9906000 w 9906000"/>
              <a:gd name="connsiteY4" fmla="*/ 523982 h 523982"/>
              <a:gd name="connsiteX5" fmla="*/ 0 w 9906000"/>
              <a:gd name="connsiteY5" fmla="*/ 523982 h 523982"/>
              <a:gd name="connsiteX6" fmla="*/ 0 w 9906000"/>
              <a:gd name="connsiteY6" fmla="*/ 472611 h 523982"/>
              <a:gd name="connsiteX0" fmla="*/ 0 w 9906000"/>
              <a:gd name="connsiteY0" fmla="*/ 472611 h 523982"/>
              <a:gd name="connsiteX1" fmla="*/ 6310313 w 9906000"/>
              <a:gd name="connsiteY1" fmla="*/ 447782 h 523982"/>
              <a:gd name="connsiteX2" fmla="*/ 7356297 w 9906000"/>
              <a:gd name="connsiteY2" fmla="*/ 0 h 523982"/>
              <a:gd name="connsiteX3" fmla="*/ 9906000 w 9906000"/>
              <a:gd name="connsiteY3" fmla="*/ 3016 h 523982"/>
              <a:gd name="connsiteX4" fmla="*/ 9906000 w 9906000"/>
              <a:gd name="connsiteY4" fmla="*/ 523982 h 523982"/>
              <a:gd name="connsiteX5" fmla="*/ 0 w 9906000"/>
              <a:gd name="connsiteY5" fmla="*/ 523982 h 523982"/>
              <a:gd name="connsiteX6" fmla="*/ 0 w 9906000"/>
              <a:gd name="connsiteY6" fmla="*/ 472611 h 523982"/>
              <a:gd name="connsiteX0" fmla="*/ 0 w 9906000"/>
              <a:gd name="connsiteY0" fmla="*/ 447782 h 523982"/>
              <a:gd name="connsiteX1" fmla="*/ 6310313 w 9906000"/>
              <a:gd name="connsiteY1" fmla="*/ 447782 h 523982"/>
              <a:gd name="connsiteX2" fmla="*/ 7356297 w 9906000"/>
              <a:gd name="connsiteY2" fmla="*/ 0 h 523982"/>
              <a:gd name="connsiteX3" fmla="*/ 9906000 w 9906000"/>
              <a:gd name="connsiteY3" fmla="*/ 3016 h 523982"/>
              <a:gd name="connsiteX4" fmla="*/ 9906000 w 9906000"/>
              <a:gd name="connsiteY4" fmla="*/ 523982 h 523982"/>
              <a:gd name="connsiteX5" fmla="*/ 0 w 9906000"/>
              <a:gd name="connsiteY5" fmla="*/ 523982 h 523982"/>
              <a:gd name="connsiteX6" fmla="*/ 0 w 9906000"/>
              <a:gd name="connsiteY6" fmla="*/ 447782 h 523982"/>
              <a:gd name="connsiteX0" fmla="*/ 0 w 9906000"/>
              <a:gd name="connsiteY0" fmla="*/ 673207 h 749407"/>
              <a:gd name="connsiteX1" fmla="*/ 6310313 w 9906000"/>
              <a:gd name="connsiteY1" fmla="*/ 673207 h 749407"/>
              <a:gd name="connsiteX2" fmla="*/ 7442022 w 9906000"/>
              <a:gd name="connsiteY2" fmla="*/ 0 h 749407"/>
              <a:gd name="connsiteX3" fmla="*/ 9906000 w 9906000"/>
              <a:gd name="connsiteY3" fmla="*/ 228441 h 749407"/>
              <a:gd name="connsiteX4" fmla="*/ 9906000 w 9906000"/>
              <a:gd name="connsiteY4" fmla="*/ 749407 h 749407"/>
              <a:gd name="connsiteX5" fmla="*/ 0 w 9906000"/>
              <a:gd name="connsiteY5" fmla="*/ 749407 h 749407"/>
              <a:gd name="connsiteX6" fmla="*/ 0 w 9906000"/>
              <a:gd name="connsiteY6" fmla="*/ 673207 h 749407"/>
              <a:gd name="connsiteX0" fmla="*/ 0 w 9906000"/>
              <a:gd name="connsiteY0" fmla="*/ 666749 h 742949"/>
              <a:gd name="connsiteX1" fmla="*/ 6310313 w 9906000"/>
              <a:gd name="connsiteY1" fmla="*/ 666749 h 742949"/>
              <a:gd name="connsiteX2" fmla="*/ 7396163 w 9906000"/>
              <a:gd name="connsiteY2" fmla="*/ 0 h 742949"/>
              <a:gd name="connsiteX3" fmla="*/ 9906000 w 9906000"/>
              <a:gd name="connsiteY3" fmla="*/ 221983 h 742949"/>
              <a:gd name="connsiteX4" fmla="*/ 9906000 w 9906000"/>
              <a:gd name="connsiteY4" fmla="*/ 742949 h 742949"/>
              <a:gd name="connsiteX5" fmla="*/ 0 w 9906000"/>
              <a:gd name="connsiteY5" fmla="*/ 742949 h 742949"/>
              <a:gd name="connsiteX6" fmla="*/ 0 w 9906000"/>
              <a:gd name="connsiteY6" fmla="*/ 666749 h 742949"/>
              <a:gd name="connsiteX0" fmla="*/ 0 w 9906000"/>
              <a:gd name="connsiteY0" fmla="*/ 666749 h 742949"/>
              <a:gd name="connsiteX1" fmla="*/ 6310313 w 9906000"/>
              <a:gd name="connsiteY1" fmla="*/ 666749 h 742949"/>
              <a:gd name="connsiteX2" fmla="*/ 7396163 w 9906000"/>
              <a:gd name="connsiteY2" fmla="*/ 0 h 742949"/>
              <a:gd name="connsiteX3" fmla="*/ 9906000 w 9906000"/>
              <a:gd name="connsiteY3" fmla="*/ 0 h 742949"/>
              <a:gd name="connsiteX4" fmla="*/ 9906000 w 9906000"/>
              <a:gd name="connsiteY4" fmla="*/ 742949 h 742949"/>
              <a:gd name="connsiteX5" fmla="*/ 0 w 9906000"/>
              <a:gd name="connsiteY5" fmla="*/ 742949 h 742949"/>
              <a:gd name="connsiteX6" fmla="*/ 0 w 9906000"/>
              <a:gd name="connsiteY6" fmla="*/ 666749 h 742949"/>
              <a:gd name="connsiteX0" fmla="*/ 0 w 9906000"/>
              <a:gd name="connsiteY0" fmla="*/ 666749 h 742949"/>
              <a:gd name="connsiteX1" fmla="*/ 6310313 w 9906000"/>
              <a:gd name="connsiteY1" fmla="*/ 666749 h 742949"/>
              <a:gd name="connsiteX2" fmla="*/ 6813550 w 9906000"/>
              <a:gd name="connsiteY2" fmla="*/ 319088 h 742949"/>
              <a:gd name="connsiteX3" fmla="*/ 7396163 w 9906000"/>
              <a:gd name="connsiteY3" fmla="*/ 0 h 742949"/>
              <a:gd name="connsiteX4" fmla="*/ 9906000 w 9906000"/>
              <a:gd name="connsiteY4" fmla="*/ 0 h 742949"/>
              <a:gd name="connsiteX5" fmla="*/ 9906000 w 9906000"/>
              <a:gd name="connsiteY5" fmla="*/ 742949 h 742949"/>
              <a:gd name="connsiteX6" fmla="*/ 0 w 9906000"/>
              <a:gd name="connsiteY6" fmla="*/ 742949 h 742949"/>
              <a:gd name="connsiteX7" fmla="*/ 0 w 9906000"/>
              <a:gd name="connsiteY7" fmla="*/ 666749 h 742949"/>
              <a:gd name="connsiteX0" fmla="*/ 0 w 9906000"/>
              <a:gd name="connsiteY0" fmla="*/ 666749 h 742949"/>
              <a:gd name="connsiteX1" fmla="*/ 6310313 w 9906000"/>
              <a:gd name="connsiteY1" fmla="*/ 666749 h 742949"/>
              <a:gd name="connsiteX2" fmla="*/ 6813550 w 9906000"/>
              <a:gd name="connsiteY2" fmla="*/ 319088 h 742949"/>
              <a:gd name="connsiteX3" fmla="*/ 7058025 w 9906000"/>
              <a:gd name="connsiteY3" fmla="*/ 171450 h 742949"/>
              <a:gd name="connsiteX4" fmla="*/ 7396163 w 9906000"/>
              <a:gd name="connsiteY4" fmla="*/ 0 h 742949"/>
              <a:gd name="connsiteX5" fmla="*/ 9906000 w 9906000"/>
              <a:gd name="connsiteY5" fmla="*/ 0 h 742949"/>
              <a:gd name="connsiteX6" fmla="*/ 9906000 w 9906000"/>
              <a:gd name="connsiteY6" fmla="*/ 742949 h 742949"/>
              <a:gd name="connsiteX7" fmla="*/ 0 w 9906000"/>
              <a:gd name="connsiteY7" fmla="*/ 742949 h 742949"/>
              <a:gd name="connsiteX8" fmla="*/ 0 w 9906000"/>
              <a:gd name="connsiteY8" fmla="*/ 666749 h 742949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058025 w 9906000"/>
              <a:gd name="connsiteY3" fmla="*/ 17145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742949 h 742950"/>
              <a:gd name="connsiteX7" fmla="*/ 6813550 w 9906000"/>
              <a:gd name="connsiteY7" fmla="*/ 742950 h 742950"/>
              <a:gd name="connsiteX8" fmla="*/ 0 w 9906000"/>
              <a:gd name="connsiteY8" fmla="*/ 742949 h 742950"/>
              <a:gd name="connsiteX9" fmla="*/ 0 w 9906000"/>
              <a:gd name="connsiteY9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058025 w 9906000"/>
              <a:gd name="connsiteY3" fmla="*/ 17145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742949 h 742950"/>
              <a:gd name="connsiteX7" fmla="*/ 7396163 w 9906000"/>
              <a:gd name="connsiteY7" fmla="*/ 338137 h 742950"/>
              <a:gd name="connsiteX8" fmla="*/ 6813550 w 9906000"/>
              <a:gd name="connsiteY8" fmla="*/ 742950 h 742950"/>
              <a:gd name="connsiteX9" fmla="*/ 0 w 9906000"/>
              <a:gd name="connsiteY9" fmla="*/ 742949 h 742950"/>
              <a:gd name="connsiteX10" fmla="*/ 0 w 9906000"/>
              <a:gd name="connsiteY10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058025 w 9906000"/>
              <a:gd name="connsiteY3" fmla="*/ 17145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742949 h 742950"/>
              <a:gd name="connsiteX7" fmla="*/ 7396163 w 9906000"/>
              <a:gd name="connsiteY7" fmla="*/ 314324 h 742950"/>
              <a:gd name="connsiteX8" fmla="*/ 6813550 w 9906000"/>
              <a:gd name="connsiteY8" fmla="*/ 742950 h 742950"/>
              <a:gd name="connsiteX9" fmla="*/ 0 w 9906000"/>
              <a:gd name="connsiteY9" fmla="*/ 742949 h 742950"/>
              <a:gd name="connsiteX10" fmla="*/ 0 w 9906000"/>
              <a:gd name="connsiteY10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058025 w 9906000"/>
              <a:gd name="connsiteY3" fmla="*/ 17145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314324 h 742950"/>
              <a:gd name="connsiteX7" fmla="*/ 7396163 w 9906000"/>
              <a:gd name="connsiteY7" fmla="*/ 314324 h 742950"/>
              <a:gd name="connsiteX8" fmla="*/ 6813550 w 9906000"/>
              <a:gd name="connsiteY8" fmla="*/ 742950 h 742950"/>
              <a:gd name="connsiteX9" fmla="*/ 0 w 9906000"/>
              <a:gd name="connsiteY9" fmla="*/ 742949 h 742950"/>
              <a:gd name="connsiteX10" fmla="*/ 0 w 9906000"/>
              <a:gd name="connsiteY10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058025 w 9906000"/>
              <a:gd name="connsiteY3" fmla="*/ 17145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314324 h 742950"/>
              <a:gd name="connsiteX7" fmla="*/ 7396163 w 9906000"/>
              <a:gd name="connsiteY7" fmla="*/ 314324 h 742950"/>
              <a:gd name="connsiteX8" fmla="*/ 6310313 w 9906000"/>
              <a:gd name="connsiteY8" fmla="*/ 742950 h 742950"/>
              <a:gd name="connsiteX9" fmla="*/ 0 w 9906000"/>
              <a:gd name="connsiteY9" fmla="*/ 742949 h 742950"/>
              <a:gd name="connsiteX10" fmla="*/ 0 w 9906000"/>
              <a:gd name="connsiteY10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058025 w 9906000"/>
              <a:gd name="connsiteY3" fmla="*/ 17145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314324 h 742950"/>
              <a:gd name="connsiteX7" fmla="*/ 7396163 w 9906000"/>
              <a:gd name="connsiteY7" fmla="*/ 314324 h 742950"/>
              <a:gd name="connsiteX8" fmla="*/ 6310313 w 9906000"/>
              <a:gd name="connsiteY8" fmla="*/ 742950 h 742950"/>
              <a:gd name="connsiteX9" fmla="*/ 0 w 9906000"/>
              <a:gd name="connsiteY9" fmla="*/ 742949 h 742950"/>
              <a:gd name="connsiteX10" fmla="*/ 0 w 9906000"/>
              <a:gd name="connsiteY10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396163 w 9906000"/>
              <a:gd name="connsiteY3" fmla="*/ 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314324 h 742950"/>
              <a:gd name="connsiteX7" fmla="*/ 7396163 w 9906000"/>
              <a:gd name="connsiteY7" fmla="*/ 314324 h 742950"/>
              <a:gd name="connsiteX8" fmla="*/ 6310313 w 9906000"/>
              <a:gd name="connsiteY8" fmla="*/ 742950 h 742950"/>
              <a:gd name="connsiteX9" fmla="*/ 0 w 9906000"/>
              <a:gd name="connsiteY9" fmla="*/ 742949 h 742950"/>
              <a:gd name="connsiteX10" fmla="*/ 0 w 9906000"/>
              <a:gd name="connsiteY10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396163 w 9906000"/>
              <a:gd name="connsiteY3" fmla="*/ 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314324 h 742950"/>
              <a:gd name="connsiteX7" fmla="*/ 7396163 w 9906000"/>
              <a:gd name="connsiteY7" fmla="*/ 314324 h 742950"/>
              <a:gd name="connsiteX8" fmla="*/ 6310313 w 9906000"/>
              <a:gd name="connsiteY8" fmla="*/ 742950 h 742950"/>
              <a:gd name="connsiteX9" fmla="*/ 0 w 9906000"/>
              <a:gd name="connsiteY9" fmla="*/ 742949 h 742950"/>
              <a:gd name="connsiteX10" fmla="*/ 0 w 9906000"/>
              <a:gd name="connsiteY10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396163 w 9906000"/>
              <a:gd name="connsiteY3" fmla="*/ 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314324 h 742950"/>
              <a:gd name="connsiteX7" fmla="*/ 7396163 w 9906000"/>
              <a:gd name="connsiteY7" fmla="*/ 314324 h 742950"/>
              <a:gd name="connsiteX8" fmla="*/ 6813550 w 9906000"/>
              <a:gd name="connsiteY8" fmla="*/ 500063 h 742950"/>
              <a:gd name="connsiteX9" fmla="*/ 6310313 w 9906000"/>
              <a:gd name="connsiteY9" fmla="*/ 742950 h 742950"/>
              <a:gd name="connsiteX10" fmla="*/ 0 w 9906000"/>
              <a:gd name="connsiteY10" fmla="*/ 742949 h 742950"/>
              <a:gd name="connsiteX11" fmla="*/ 0 w 9906000"/>
              <a:gd name="connsiteY11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396163 w 9906000"/>
              <a:gd name="connsiteY3" fmla="*/ 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314324 h 742950"/>
              <a:gd name="connsiteX7" fmla="*/ 7396163 w 9906000"/>
              <a:gd name="connsiteY7" fmla="*/ 314324 h 742950"/>
              <a:gd name="connsiteX8" fmla="*/ 6813550 w 9906000"/>
              <a:gd name="connsiteY8" fmla="*/ 500063 h 742950"/>
              <a:gd name="connsiteX9" fmla="*/ 6310313 w 9906000"/>
              <a:gd name="connsiteY9" fmla="*/ 742950 h 742950"/>
              <a:gd name="connsiteX10" fmla="*/ 0 w 9906000"/>
              <a:gd name="connsiteY10" fmla="*/ 742949 h 742950"/>
              <a:gd name="connsiteX11" fmla="*/ 0 w 9906000"/>
              <a:gd name="connsiteY11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396163 w 9906000"/>
              <a:gd name="connsiteY3" fmla="*/ 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314324 h 742950"/>
              <a:gd name="connsiteX7" fmla="*/ 7086600 w 9906000"/>
              <a:gd name="connsiteY7" fmla="*/ 314324 h 742950"/>
              <a:gd name="connsiteX8" fmla="*/ 6813550 w 9906000"/>
              <a:gd name="connsiteY8" fmla="*/ 500063 h 742950"/>
              <a:gd name="connsiteX9" fmla="*/ 6310313 w 9906000"/>
              <a:gd name="connsiteY9" fmla="*/ 742950 h 742950"/>
              <a:gd name="connsiteX10" fmla="*/ 0 w 9906000"/>
              <a:gd name="connsiteY10" fmla="*/ 742949 h 742950"/>
              <a:gd name="connsiteX11" fmla="*/ 0 w 9906000"/>
              <a:gd name="connsiteY11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396163 w 9906000"/>
              <a:gd name="connsiteY3" fmla="*/ 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314324 h 742950"/>
              <a:gd name="connsiteX7" fmla="*/ 7086600 w 9906000"/>
              <a:gd name="connsiteY7" fmla="*/ 314324 h 742950"/>
              <a:gd name="connsiteX8" fmla="*/ 6813550 w 9906000"/>
              <a:gd name="connsiteY8" fmla="*/ 500063 h 742950"/>
              <a:gd name="connsiteX9" fmla="*/ 6310313 w 9906000"/>
              <a:gd name="connsiteY9" fmla="*/ 742950 h 742950"/>
              <a:gd name="connsiteX10" fmla="*/ 0 w 9906000"/>
              <a:gd name="connsiteY10" fmla="*/ 742949 h 742950"/>
              <a:gd name="connsiteX11" fmla="*/ 0 w 9906000"/>
              <a:gd name="connsiteY11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396163 w 9906000"/>
              <a:gd name="connsiteY3" fmla="*/ 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314324 h 742950"/>
              <a:gd name="connsiteX7" fmla="*/ 7086600 w 9906000"/>
              <a:gd name="connsiteY7" fmla="*/ 314324 h 742950"/>
              <a:gd name="connsiteX8" fmla="*/ 6813550 w 9906000"/>
              <a:gd name="connsiteY8" fmla="*/ 500063 h 742950"/>
              <a:gd name="connsiteX9" fmla="*/ 6310313 w 9906000"/>
              <a:gd name="connsiteY9" fmla="*/ 742950 h 742950"/>
              <a:gd name="connsiteX10" fmla="*/ 0 w 9906000"/>
              <a:gd name="connsiteY10" fmla="*/ 742949 h 742950"/>
              <a:gd name="connsiteX11" fmla="*/ 0 w 9906000"/>
              <a:gd name="connsiteY11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396163 w 9906000"/>
              <a:gd name="connsiteY3" fmla="*/ 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314324 h 742950"/>
              <a:gd name="connsiteX7" fmla="*/ 7086600 w 9906000"/>
              <a:gd name="connsiteY7" fmla="*/ 314324 h 742950"/>
              <a:gd name="connsiteX8" fmla="*/ 6813550 w 9906000"/>
              <a:gd name="connsiteY8" fmla="*/ 500063 h 742950"/>
              <a:gd name="connsiteX9" fmla="*/ 6310313 w 9906000"/>
              <a:gd name="connsiteY9" fmla="*/ 742950 h 742950"/>
              <a:gd name="connsiteX10" fmla="*/ 0 w 9906000"/>
              <a:gd name="connsiteY10" fmla="*/ 742949 h 742950"/>
              <a:gd name="connsiteX11" fmla="*/ 0 w 9906000"/>
              <a:gd name="connsiteY11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396163 w 9906000"/>
              <a:gd name="connsiteY3" fmla="*/ 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314324 h 742950"/>
              <a:gd name="connsiteX7" fmla="*/ 7086600 w 9906000"/>
              <a:gd name="connsiteY7" fmla="*/ 314324 h 742950"/>
              <a:gd name="connsiteX8" fmla="*/ 6813550 w 9906000"/>
              <a:gd name="connsiteY8" fmla="*/ 500063 h 742950"/>
              <a:gd name="connsiteX9" fmla="*/ 6310313 w 9906000"/>
              <a:gd name="connsiteY9" fmla="*/ 742950 h 742950"/>
              <a:gd name="connsiteX10" fmla="*/ 0 w 9906000"/>
              <a:gd name="connsiteY10" fmla="*/ 742949 h 742950"/>
              <a:gd name="connsiteX11" fmla="*/ 0 w 9906000"/>
              <a:gd name="connsiteY11" fmla="*/ 666749 h 742950"/>
              <a:gd name="connsiteX0" fmla="*/ 0 w 9906000"/>
              <a:gd name="connsiteY0" fmla="*/ 666749 h 742950"/>
              <a:gd name="connsiteX1" fmla="*/ 6310313 w 9906000"/>
              <a:gd name="connsiteY1" fmla="*/ 666749 h 742950"/>
              <a:gd name="connsiteX2" fmla="*/ 6813550 w 9906000"/>
              <a:gd name="connsiteY2" fmla="*/ 319088 h 742950"/>
              <a:gd name="connsiteX3" fmla="*/ 7396163 w 9906000"/>
              <a:gd name="connsiteY3" fmla="*/ 0 h 742950"/>
              <a:gd name="connsiteX4" fmla="*/ 7396163 w 9906000"/>
              <a:gd name="connsiteY4" fmla="*/ 0 h 742950"/>
              <a:gd name="connsiteX5" fmla="*/ 9906000 w 9906000"/>
              <a:gd name="connsiteY5" fmla="*/ 0 h 742950"/>
              <a:gd name="connsiteX6" fmla="*/ 9906000 w 9906000"/>
              <a:gd name="connsiteY6" fmla="*/ 314324 h 742950"/>
              <a:gd name="connsiteX7" fmla="*/ 7086600 w 9906000"/>
              <a:gd name="connsiteY7" fmla="*/ 314324 h 742950"/>
              <a:gd name="connsiteX8" fmla="*/ 6813550 w 9906000"/>
              <a:gd name="connsiteY8" fmla="*/ 500063 h 742950"/>
              <a:gd name="connsiteX9" fmla="*/ 6310313 w 9906000"/>
              <a:gd name="connsiteY9" fmla="*/ 742950 h 742950"/>
              <a:gd name="connsiteX10" fmla="*/ 0 w 9906000"/>
              <a:gd name="connsiteY10" fmla="*/ 742949 h 742950"/>
              <a:gd name="connsiteX11" fmla="*/ 0 w 9906000"/>
              <a:gd name="connsiteY11" fmla="*/ 666749 h 742950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65125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546100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65125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546100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65125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546100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65125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546100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65125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546100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65125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546100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65125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546100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407987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546100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407987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546100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743700 w 9906000"/>
              <a:gd name="connsiteY2" fmla="*/ 393700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546100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743700 w 9906000"/>
              <a:gd name="connsiteY2" fmla="*/ 393700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608012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743700 w 9906000"/>
              <a:gd name="connsiteY2" fmla="*/ 393700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608012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753225 w 9906000"/>
              <a:gd name="connsiteY2" fmla="*/ 331788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608012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753225 w 9906000"/>
              <a:gd name="connsiteY2" fmla="*/ 331788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608012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753225 w 9906000"/>
              <a:gd name="connsiteY2" fmla="*/ 331788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608012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086600 w 9906000"/>
              <a:gd name="connsiteY7" fmla="*/ 360361 h 788987"/>
              <a:gd name="connsiteX8" fmla="*/ 6813550 w 9906000"/>
              <a:gd name="connsiteY8" fmla="*/ 608012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13550 w 9906000"/>
              <a:gd name="connsiteY8" fmla="*/ 608012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91338 w 9906000"/>
              <a:gd name="connsiteY8" fmla="*/ 512762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91338 w 9906000"/>
              <a:gd name="connsiteY8" fmla="*/ 512762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91338 w 9906000"/>
              <a:gd name="connsiteY8" fmla="*/ 512762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91338 w 9906000"/>
              <a:gd name="connsiteY8" fmla="*/ 512762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13550 w 9906000"/>
              <a:gd name="connsiteY8" fmla="*/ 522287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77050 w 9906000"/>
              <a:gd name="connsiteY8" fmla="*/ 512762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77050 w 9906000"/>
              <a:gd name="connsiteY8" fmla="*/ 484187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77050 w 9906000"/>
              <a:gd name="connsiteY8" fmla="*/ 484187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77050 w 9906000"/>
              <a:gd name="connsiteY8" fmla="*/ 484187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77050 w 9906000"/>
              <a:gd name="connsiteY8" fmla="*/ 484187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77050 w 9906000"/>
              <a:gd name="connsiteY8" fmla="*/ 484187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77050 w 9906000"/>
              <a:gd name="connsiteY8" fmla="*/ 484187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1278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13550 w 9906000"/>
              <a:gd name="connsiteY8" fmla="*/ 517525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12786 h 788987"/>
              <a:gd name="connsiteX1" fmla="*/ 6310313 w 9906000"/>
              <a:gd name="connsiteY1" fmla="*/ 73183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13550 w 9906000"/>
              <a:gd name="connsiteY8" fmla="*/ 517525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12786 h 788987"/>
              <a:gd name="connsiteX0" fmla="*/ 0 w 9906000"/>
              <a:gd name="connsiteY0" fmla="*/ 728661 h 788987"/>
              <a:gd name="connsiteX1" fmla="*/ 6310313 w 9906000"/>
              <a:gd name="connsiteY1" fmla="*/ 731836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13550 w 9906000"/>
              <a:gd name="connsiteY8" fmla="*/ 517525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28661 h 788987"/>
              <a:gd name="connsiteX0" fmla="*/ 0 w 9906000"/>
              <a:gd name="connsiteY0" fmla="*/ 728661 h 788987"/>
              <a:gd name="connsiteX1" fmla="*/ 6310313 w 9906000"/>
              <a:gd name="connsiteY1" fmla="*/ 750887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13550 w 9906000"/>
              <a:gd name="connsiteY8" fmla="*/ 517525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28661 h 788987"/>
              <a:gd name="connsiteX0" fmla="*/ 0 w 9906000"/>
              <a:gd name="connsiteY0" fmla="*/ 750887 h 788987"/>
              <a:gd name="connsiteX1" fmla="*/ 6310313 w 9906000"/>
              <a:gd name="connsiteY1" fmla="*/ 750887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13550 w 9906000"/>
              <a:gd name="connsiteY8" fmla="*/ 517525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50887 h 788987"/>
              <a:gd name="connsiteX0" fmla="*/ 0 w 9906000"/>
              <a:gd name="connsiteY0" fmla="*/ 750887 h 788987"/>
              <a:gd name="connsiteX1" fmla="*/ 6321152 w 9906000"/>
              <a:gd name="connsiteY1" fmla="*/ 692150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13550 w 9906000"/>
              <a:gd name="connsiteY8" fmla="*/ 517525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750887 h 788987"/>
              <a:gd name="connsiteX0" fmla="*/ 0 w 9906000"/>
              <a:gd name="connsiteY0" fmla="*/ 692150 h 788987"/>
              <a:gd name="connsiteX1" fmla="*/ 6321152 w 9906000"/>
              <a:gd name="connsiteY1" fmla="*/ 692150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13550 w 9906000"/>
              <a:gd name="connsiteY8" fmla="*/ 517525 h 788987"/>
              <a:gd name="connsiteX9" fmla="*/ 6310313 w 9906000"/>
              <a:gd name="connsiteY9" fmla="*/ 788987 h 788987"/>
              <a:gd name="connsiteX10" fmla="*/ 0 w 9906000"/>
              <a:gd name="connsiteY10" fmla="*/ 788986 h 788987"/>
              <a:gd name="connsiteX11" fmla="*/ 0 w 9906000"/>
              <a:gd name="connsiteY11" fmla="*/ 692150 h 788987"/>
              <a:gd name="connsiteX0" fmla="*/ 0 w 9906000"/>
              <a:gd name="connsiteY0" fmla="*/ 692150 h 788987"/>
              <a:gd name="connsiteX1" fmla="*/ 6321152 w 9906000"/>
              <a:gd name="connsiteY1" fmla="*/ 692150 h 788987"/>
              <a:gd name="connsiteX2" fmla="*/ 6813550 w 9906000"/>
              <a:gd name="connsiteY2" fmla="*/ 327026 h 788987"/>
              <a:gd name="connsiteX3" fmla="*/ 7396163 w 9906000"/>
              <a:gd name="connsiteY3" fmla="*/ 46037 h 788987"/>
              <a:gd name="connsiteX4" fmla="*/ 7396163 w 9906000"/>
              <a:gd name="connsiteY4" fmla="*/ 46037 h 788987"/>
              <a:gd name="connsiteX5" fmla="*/ 9906000 w 9906000"/>
              <a:gd name="connsiteY5" fmla="*/ 46037 h 788987"/>
              <a:gd name="connsiteX6" fmla="*/ 9906000 w 9906000"/>
              <a:gd name="connsiteY6" fmla="*/ 360361 h 788987"/>
              <a:gd name="connsiteX7" fmla="*/ 7186612 w 9906000"/>
              <a:gd name="connsiteY7" fmla="*/ 360361 h 788987"/>
              <a:gd name="connsiteX8" fmla="*/ 6813550 w 9906000"/>
              <a:gd name="connsiteY8" fmla="*/ 517525 h 788987"/>
              <a:gd name="connsiteX9" fmla="*/ 6310313 w 9906000"/>
              <a:gd name="connsiteY9" fmla="*/ 788987 h 788987"/>
              <a:gd name="connsiteX10" fmla="*/ 0 w 9906000"/>
              <a:gd name="connsiteY10" fmla="*/ 730250 h 788987"/>
              <a:gd name="connsiteX11" fmla="*/ 0 w 9906000"/>
              <a:gd name="connsiteY11" fmla="*/ 692150 h 788987"/>
              <a:gd name="connsiteX0" fmla="*/ 0 w 9906000"/>
              <a:gd name="connsiteY0" fmla="*/ 692150 h 730250"/>
              <a:gd name="connsiteX1" fmla="*/ 6321152 w 9906000"/>
              <a:gd name="connsiteY1" fmla="*/ 692150 h 730250"/>
              <a:gd name="connsiteX2" fmla="*/ 6813550 w 9906000"/>
              <a:gd name="connsiteY2" fmla="*/ 327026 h 730250"/>
              <a:gd name="connsiteX3" fmla="*/ 7396163 w 9906000"/>
              <a:gd name="connsiteY3" fmla="*/ 46037 h 730250"/>
              <a:gd name="connsiteX4" fmla="*/ 7396163 w 9906000"/>
              <a:gd name="connsiteY4" fmla="*/ 46037 h 730250"/>
              <a:gd name="connsiteX5" fmla="*/ 9906000 w 9906000"/>
              <a:gd name="connsiteY5" fmla="*/ 46037 h 730250"/>
              <a:gd name="connsiteX6" fmla="*/ 9906000 w 9906000"/>
              <a:gd name="connsiteY6" fmla="*/ 360361 h 730250"/>
              <a:gd name="connsiteX7" fmla="*/ 7186612 w 9906000"/>
              <a:gd name="connsiteY7" fmla="*/ 360361 h 730250"/>
              <a:gd name="connsiteX8" fmla="*/ 6813550 w 9906000"/>
              <a:gd name="connsiteY8" fmla="*/ 517525 h 730250"/>
              <a:gd name="connsiteX9" fmla="*/ 6321152 w 9906000"/>
              <a:gd name="connsiteY9" fmla="*/ 730250 h 730250"/>
              <a:gd name="connsiteX10" fmla="*/ 0 w 9906000"/>
              <a:gd name="connsiteY10" fmla="*/ 730250 h 730250"/>
              <a:gd name="connsiteX11" fmla="*/ 0 w 9906000"/>
              <a:gd name="connsiteY11" fmla="*/ 692150 h 73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906000" h="730250">
                <a:moveTo>
                  <a:pt x="0" y="692150"/>
                </a:moveTo>
                <a:lnTo>
                  <a:pt x="6321152" y="692150"/>
                </a:lnTo>
                <a:cubicBezTo>
                  <a:pt x="6784173" y="657225"/>
                  <a:pt x="6722004" y="533400"/>
                  <a:pt x="6813550" y="327026"/>
                </a:cubicBezTo>
                <a:cubicBezTo>
                  <a:pt x="6837892" y="320674"/>
                  <a:pt x="6863822" y="0"/>
                  <a:pt x="7396163" y="46037"/>
                </a:cubicBezTo>
                <a:lnTo>
                  <a:pt x="7396163" y="46037"/>
                </a:lnTo>
                <a:lnTo>
                  <a:pt x="9906000" y="46037"/>
                </a:lnTo>
                <a:lnTo>
                  <a:pt x="9906000" y="360361"/>
                </a:lnTo>
                <a:lnTo>
                  <a:pt x="7186612" y="360361"/>
                </a:lnTo>
                <a:cubicBezTo>
                  <a:pt x="6976531" y="379412"/>
                  <a:pt x="6934730" y="350837"/>
                  <a:pt x="6813550" y="517525"/>
                </a:cubicBezTo>
                <a:cubicBezTo>
                  <a:pt x="6772011" y="624681"/>
                  <a:pt x="6758773" y="696913"/>
                  <a:pt x="6321152" y="730250"/>
                </a:cubicBezTo>
                <a:lnTo>
                  <a:pt x="0" y="730250"/>
                </a:lnTo>
                <a:lnTo>
                  <a:pt x="0" y="6921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4351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latinLnBrk="0" hangingPunct="0">
              <a:spcBef>
                <a:spcPct val="50000"/>
              </a:spcBef>
              <a:buSzPct val="100000"/>
              <a:buFont typeface="Wingdings" pitchFamily="2" charset="2"/>
              <a:buNone/>
              <a:defRPr/>
            </a:pPr>
            <a:endParaRPr kumimoji="0" lang="en-US" sz="1356" b="1" dirty="0"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84071" y="194940"/>
            <a:ext cx="5489395" cy="461520"/>
          </a:xfrm>
          <a:prstGeom prst="rect">
            <a:avLst/>
          </a:prstGeom>
        </p:spPr>
        <p:txBody>
          <a:bodyPr anchor="ctr"/>
          <a:lstStyle>
            <a:lvl1pPr marL="0" marR="0" indent="0" algn="l" defTabSz="95353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77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18" name="텍스트 개체 틀 29"/>
          <p:cNvSpPr>
            <a:spLocks noGrp="1"/>
          </p:cNvSpPr>
          <p:nvPr>
            <p:ph type="body" sz="quarter" idx="10"/>
          </p:nvPr>
        </p:nvSpPr>
        <p:spPr>
          <a:xfrm>
            <a:off x="283079" y="802586"/>
            <a:ext cx="9764925" cy="378214"/>
          </a:xfrm>
          <a:prstGeom prst="rect">
            <a:avLst/>
          </a:prstGeom>
          <a:ln>
            <a:noFill/>
          </a:ln>
        </p:spPr>
        <p:txBody>
          <a:bodyPr/>
          <a:lstStyle>
            <a:lvl1pPr marL="0" marR="0" indent="0" algn="l" defTabSz="953536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sz="1668" b="1">
                <a:latin typeface="맑은 고딕" pitchFamily="50" charset="-127"/>
                <a:ea typeface="맑은 고딕" pitchFamily="50" charset="-127"/>
              </a:defRPr>
            </a:lvl1pPr>
            <a:lvl2pPr>
              <a:defRPr sz="1668"/>
            </a:lvl2pPr>
            <a:lvl3pPr>
              <a:defRPr sz="1668"/>
            </a:lvl3pPr>
            <a:lvl4pPr>
              <a:defRPr sz="1668"/>
            </a:lvl4pPr>
            <a:lvl5pPr>
              <a:defRPr sz="1668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6" name="Text Box 4"/>
          <p:cNvSpPr txBox="1">
            <a:spLocks noChangeArrowheads="1"/>
          </p:cNvSpPr>
          <p:nvPr userDrawn="1"/>
        </p:nvSpPr>
        <p:spPr bwMode="auto">
          <a:xfrm>
            <a:off x="7232228" y="442382"/>
            <a:ext cx="2815775" cy="192553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r" defTabSz="953536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34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굴림" panose="020B0600000101010101" pitchFamily="50" charset="-127"/>
                <a:cs typeface="+mn-cs"/>
              </a:rPr>
              <a:t>Hanwha Q CELLS Redeemer1 Smart Factory Project</a:t>
            </a:r>
            <a:endParaRPr kumimoji="0" lang="ko-KR" altLang="en-US" sz="834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26" name="Line 63"/>
          <p:cNvSpPr>
            <a:spLocks noChangeShapeType="1"/>
          </p:cNvSpPr>
          <p:nvPr userDrawn="1"/>
        </p:nvSpPr>
        <p:spPr bwMode="auto">
          <a:xfrm>
            <a:off x="220173" y="6811181"/>
            <a:ext cx="9889519" cy="0"/>
          </a:xfrm>
          <a:prstGeom prst="line">
            <a:avLst/>
          </a:prstGeom>
          <a:noFill/>
          <a:ln w="25400">
            <a:solidFill>
              <a:srgbClr val="C0C0C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sz="2086" dirty="0"/>
          </a:p>
        </p:txBody>
      </p:sp>
      <p:grpSp>
        <p:nvGrpSpPr>
          <p:cNvPr id="27" name="그룹 26"/>
          <p:cNvGrpSpPr/>
          <p:nvPr userDrawn="1"/>
        </p:nvGrpSpPr>
        <p:grpSpPr>
          <a:xfrm>
            <a:off x="220172" y="6863480"/>
            <a:ext cx="1388994" cy="226700"/>
            <a:chOff x="507708" y="7238105"/>
            <a:chExt cx="776606" cy="128530"/>
          </a:xfrm>
        </p:grpSpPr>
        <p:pic>
          <p:nvPicPr>
            <p:cNvPr id="28" name="그림 2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3924" y="7251242"/>
              <a:ext cx="300390" cy="84586"/>
            </a:xfrm>
            <a:prstGeom prst="rect">
              <a:avLst/>
            </a:prstGeom>
          </p:spPr>
        </p:pic>
        <p:pic>
          <p:nvPicPr>
            <p:cNvPr id="29" name="그림 28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7708" y="7238105"/>
              <a:ext cx="438018" cy="128530"/>
            </a:xfrm>
            <a:prstGeom prst="rect">
              <a:avLst/>
            </a:prstGeom>
          </p:spPr>
        </p:pic>
      </p:grpSp>
      <p:grpSp>
        <p:nvGrpSpPr>
          <p:cNvPr id="30" name="그룹 29"/>
          <p:cNvGrpSpPr/>
          <p:nvPr userDrawn="1"/>
        </p:nvGrpSpPr>
        <p:grpSpPr>
          <a:xfrm>
            <a:off x="8659009" y="6863480"/>
            <a:ext cx="1388994" cy="226700"/>
            <a:chOff x="9078770" y="7229608"/>
            <a:chExt cx="1094249" cy="137061"/>
          </a:xfrm>
        </p:grpSpPr>
        <p:pic>
          <p:nvPicPr>
            <p:cNvPr id="31" name="그림 30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9078770" y="7229608"/>
              <a:ext cx="544636" cy="137061"/>
            </a:xfrm>
            <a:prstGeom prst="rect">
              <a:avLst/>
            </a:prstGeom>
          </p:spPr>
        </p:pic>
        <p:pic>
          <p:nvPicPr>
            <p:cNvPr id="32" name="그림 3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748581" y="7265268"/>
              <a:ext cx="424438" cy="69321"/>
            </a:xfrm>
            <a:prstGeom prst="rect">
              <a:avLst/>
            </a:prstGeom>
          </p:spPr>
        </p:pic>
        <p:cxnSp>
          <p:nvCxnSpPr>
            <p:cNvPr id="33" name="직선 연결선 32"/>
            <p:cNvCxnSpPr/>
            <p:nvPr userDrawn="1"/>
          </p:nvCxnSpPr>
          <p:spPr>
            <a:xfrm>
              <a:off x="9683115" y="7258050"/>
              <a:ext cx="0" cy="78105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195619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9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7" r:id="rId4"/>
    <p:sldLayoutId id="2147483669" r:id="rId5"/>
    <p:sldLayoutId id="2147483670" r:id="rId6"/>
  </p:sldLayoutIdLst>
  <p:hf hdr="0" ftr="0" dt="0"/>
  <p:txStyles>
    <p:titleStyle>
      <a:lvl1pPr algn="l" defTabSz="774615" rtl="0" eaLnBrk="1" latinLnBrk="1" hangingPunct="1">
        <a:lnSpc>
          <a:spcPct val="90000"/>
        </a:lnSpc>
        <a:spcBef>
          <a:spcPct val="0"/>
        </a:spcBef>
        <a:buNone/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3655" indent="-193655" algn="l" defTabSz="774615" rtl="0" eaLnBrk="1" latinLnBrk="1" hangingPunct="1">
        <a:lnSpc>
          <a:spcPct val="90000"/>
        </a:lnSpc>
        <a:spcBef>
          <a:spcPts val="84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0961" indent="-193655" algn="l" defTabSz="774615" rtl="0" eaLnBrk="1" latinLnBrk="1" hangingPunct="1">
        <a:lnSpc>
          <a:spcPct val="90000"/>
        </a:lnSpc>
        <a:spcBef>
          <a:spcPts val="424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68268" indent="-193655" algn="l" defTabSz="774615" rtl="0" eaLnBrk="1" latinLnBrk="1" hangingPunct="1">
        <a:lnSpc>
          <a:spcPct val="90000"/>
        </a:lnSpc>
        <a:spcBef>
          <a:spcPts val="42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55575" indent="-193655" algn="l" defTabSz="774615" rtl="0" eaLnBrk="1" latinLnBrk="1" hangingPunct="1">
        <a:lnSpc>
          <a:spcPct val="90000"/>
        </a:lnSpc>
        <a:spcBef>
          <a:spcPts val="424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42884" indent="-193655" algn="l" defTabSz="774615" rtl="0" eaLnBrk="1" latinLnBrk="1" hangingPunct="1">
        <a:lnSpc>
          <a:spcPct val="90000"/>
        </a:lnSpc>
        <a:spcBef>
          <a:spcPts val="424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30191" indent="-193655" algn="l" defTabSz="774615" rtl="0" eaLnBrk="1" latinLnBrk="1" hangingPunct="1">
        <a:lnSpc>
          <a:spcPct val="90000"/>
        </a:lnSpc>
        <a:spcBef>
          <a:spcPts val="424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17498" indent="-193655" algn="l" defTabSz="774615" rtl="0" eaLnBrk="1" latinLnBrk="1" hangingPunct="1">
        <a:lnSpc>
          <a:spcPct val="90000"/>
        </a:lnSpc>
        <a:spcBef>
          <a:spcPts val="424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04806" indent="-193655" algn="l" defTabSz="774615" rtl="0" eaLnBrk="1" latinLnBrk="1" hangingPunct="1">
        <a:lnSpc>
          <a:spcPct val="90000"/>
        </a:lnSpc>
        <a:spcBef>
          <a:spcPts val="424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92114" indent="-193655" algn="l" defTabSz="774615" rtl="0" eaLnBrk="1" latinLnBrk="1" hangingPunct="1">
        <a:lnSpc>
          <a:spcPct val="90000"/>
        </a:lnSpc>
        <a:spcBef>
          <a:spcPts val="424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74615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7307" algn="l" defTabSz="774615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4615" algn="l" defTabSz="774615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1923" algn="l" defTabSz="774615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9230" algn="l" defTabSz="774615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36536" algn="l" defTabSz="774615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23844" algn="l" defTabSz="774615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11152" algn="l" defTabSz="774615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98459" algn="l" defTabSz="774615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9F2FA2-316B-40B3-B49E-92DE6368CC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9300" y="1727068"/>
            <a:ext cx="8310087" cy="1061660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User Manual</a:t>
            </a:r>
          </a:p>
          <a:p>
            <a:pPr marL="0" indent="0">
              <a:buNone/>
            </a:pPr>
            <a:r>
              <a:rPr lang="ko-KR" altLang="en-US" dirty="0"/>
              <a:t>사용자매뉴얼</a:t>
            </a:r>
            <a:endParaRPr lang="en-US" altLang="ko-KR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921A50F-BBB8-4566-AE78-488B3C464A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9302" y="2935938"/>
            <a:ext cx="4031630" cy="565026"/>
          </a:xfrm>
        </p:spPr>
        <p:txBody>
          <a:bodyPr/>
          <a:lstStyle/>
          <a:p>
            <a:r>
              <a:rPr lang="en-US" altLang="ko-KR" dirty="0"/>
              <a:t>2025.10.20</a:t>
            </a:r>
            <a:endParaRPr lang="ko-KR" alt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2A569B-9F71-4EAD-A67F-3F4766B68EC2}"/>
              </a:ext>
            </a:extLst>
          </p:cNvPr>
          <p:cNvSpPr txBox="1">
            <a:spLocks/>
          </p:cNvSpPr>
          <p:nvPr/>
        </p:nvSpPr>
        <p:spPr>
          <a:xfrm>
            <a:off x="3253111" y="1096810"/>
            <a:ext cx="6952380" cy="380455"/>
          </a:xfrm>
          <a:prstGeom prst="rect">
            <a:avLst/>
          </a:prstGeom>
        </p:spPr>
        <p:txBody>
          <a:bodyPr vert="horz" wrap="square" lIns="35988" tIns="35988" rIns="35988" bIns="35988" rtlCol="0" anchor="ctr" anchorCtr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000" kern="1200">
                <a:solidFill>
                  <a:schemeClr val="tx2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defRPr/>
            </a:pPr>
            <a:r>
              <a:rPr lang="fr-FR" altLang="ko-KR" b="1" dirty="0">
                <a:solidFill>
                  <a:prstClr val="white"/>
                </a:solidFill>
                <a:latin typeface="맑은 고딕" panose="020B0503020000020004" pitchFamily="50" charset="-127"/>
              </a:rPr>
              <a:t>Qcells Malaysia MES Implementation</a:t>
            </a:r>
            <a:endParaRPr lang="en-US" altLang="ko-KR" b="1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928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936691F8-5439-4478-B9D3-CCCFC13623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8" imgH="499" progId="TCLayout.ActiveDocument.1">
                  <p:embed/>
                </p:oleObj>
              </mc:Choice>
              <mc:Fallback>
                <p:oleObj name="think-cell Slide" r:id="rId4" imgW="498" imgH="49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직사각형 4" hidden="1">
            <a:extLst>
              <a:ext uri="{FF2B5EF4-FFF2-40B4-BE49-F238E27FC236}">
                <a16:creationId xmlns:a16="http://schemas.microsoft.com/office/drawing/2014/main" id="{3CCDF4E7-D3FC-46E4-BB49-F75E0F632A9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26" cy="1587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  <a:sym typeface="맑은 고딕" panose="020B0503020000020004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F8271F8-C865-4550-8B37-49B564BC0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41" y="324976"/>
            <a:ext cx="6511352" cy="369332"/>
          </a:xfrm>
        </p:spPr>
        <p:txBody>
          <a:bodyPr/>
          <a:lstStyle/>
          <a:p>
            <a:r>
              <a:rPr lang="en-US" altLang="ko-KR" dirty="0"/>
              <a:t>Document Control</a:t>
            </a:r>
            <a:endParaRPr lang="ko-KR" altLang="en-US" dirty="0"/>
          </a:p>
        </p:txBody>
      </p:sp>
      <p:graphicFrame>
        <p:nvGraphicFramePr>
          <p:cNvPr id="9" name="Group 72">
            <a:extLst>
              <a:ext uri="{FF2B5EF4-FFF2-40B4-BE49-F238E27FC236}">
                <a16:creationId xmlns:a16="http://schemas.microsoft.com/office/drawing/2014/main" id="{A0624865-9EF8-4B94-90DE-51A38309BC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4383749"/>
              </p:ext>
            </p:extLst>
          </p:nvPr>
        </p:nvGraphicFramePr>
        <p:xfrm>
          <a:off x="401386" y="2219777"/>
          <a:ext cx="9513522" cy="4327940"/>
        </p:xfrm>
        <a:graphic>
          <a:graphicData uri="http://schemas.openxmlformats.org/drawingml/2006/table">
            <a:tbl>
              <a:tblPr/>
              <a:tblGrid>
                <a:gridCol w="719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0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3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921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Ver.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버전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굴림"/>
                          <a:cs typeface="Arial" panose="020B0604020202020204" pitchFamily="34" charset="0"/>
                        </a:rPr>
                        <a:t>Date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날짜</a:t>
                      </a: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굴림"/>
                          <a:cs typeface="Arial" panose="020B0604020202020204" pitchFamily="34" charset="0"/>
                        </a:rPr>
                        <a:t>)</a:t>
                      </a:r>
                      <a:endParaRPr kumimoji="1" lang="ko-KR" alt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굴림"/>
                        <a:cs typeface="Arial" panose="020B0604020202020204" pitchFamily="34" charset="0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Reason for Revision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개정 사유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Written By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작성자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929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2025-10-20</a:t>
                      </a: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document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76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굴림"/>
                          <a:cs typeface="+mn-cs"/>
                        </a:rPr>
                        <a:t>Kyoungtae</a:t>
                      </a: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굴림"/>
                          <a:cs typeface="+mn-cs"/>
                        </a:rPr>
                        <a:t> Lee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929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76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929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76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929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76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929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76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929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76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929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76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929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76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9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76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9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76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9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76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9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76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992" marR="35992" marT="35992" marB="35992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52644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800CC4A-5C91-4746-BDAF-EB0F910FF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687758"/>
              </p:ext>
            </p:extLst>
          </p:nvPr>
        </p:nvGraphicFramePr>
        <p:xfrm>
          <a:off x="413004" y="790551"/>
          <a:ext cx="9501904" cy="1237929"/>
        </p:xfrm>
        <a:graphic>
          <a:graphicData uri="http://schemas.openxmlformats.org/drawingml/2006/table">
            <a:tbl>
              <a:tblPr/>
              <a:tblGrid>
                <a:gridCol w="1979563">
                  <a:extLst>
                    <a:ext uri="{9D8B030D-6E8A-4147-A177-3AD203B41FA5}">
                      <a16:colId xmlns:a16="http://schemas.microsoft.com/office/drawing/2014/main" val="1707443912"/>
                    </a:ext>
                  </a:extLst>
                </a:gridCol>
                <a:gridCol w="7522341">
                  <a:extLst>
                    <a:ext uri="{9D8B030D-6E8A-4147-A177-3AD203B41FA5}">
                      <a16:colId xmlns:a16="http://schemas.microsoft.com/office/drawing/2014/main" val="4270531950"/>
                    </a:ext>
                  </a:extLst>
                </a:gridCol>
              </a:tblGrid>
              <a:tr h="412643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Drafted By</a:t>
                      </a:r>
                    </a:p>
                    <a:p>
                      <a:pPr algn="ctr" fontAlgn="ctr"/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작성자</a:t>
                      </a: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ko-KR" alt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Kyoungtae</a:t>
                      </a: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Lee (</a:t>
                      </a: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이경태</a:t>
                      </a: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3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016073"/>
                  </a:ext>
                </a:extLst>
              </a:tr>
              <a:tr h="412643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Draft Documentation Date</a:t>
                      </a:r>
                    </a:p>
                    <a:p>
                      <a:pPr algn="ctr" fontAlgn="ctr"/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최초작성일자</a:t>
                      </a: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ko-KR" alt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2025-10-20</a:t>
                      </a:r>
                    </a:p>
                  </a:txBody>
                  <a:tcPr marL="13713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721485"/>
                  </a:ext>
                </a:extLst>
              </a:tr>
              <a:tr h="412643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 Revision Date</a:t>
                      </a:r>
                    </a:p>
                    <a:p>
                      <a:pPr algn="ctr" fontAlgn="ctr"/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1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최종수정일자</a:t>
                      </a: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ko-KR" alt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2025-10-20</a:t>
                      </a:r>
                    </a:p>
                  </a:txBody>
                  <a:tcPr marL="13713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447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325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PO Dispatch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WIP (Production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Work Order (작업지시)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PO Dispatch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20155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1. Enter the search conditions</a:t>
                      </a:r>
                      <a:r>
                        <a:rPr lang="en-US" altLang="ko-KR" sz="900" baseline="0" dirty="0"/>
                        <a:t> to retrieve </a:t>
                      </a:r>
                    </a:p>
                    <a:p>
                      <a:r>
                        <a:rPr lang="en-US" altLang="ko-KR" sz="900" baseline="0" dirty="0"/>
                        <a:t>PO dispatch list. 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</a:t>
                      </a:r>
                      <a:r>
                        <a:rPr lang="en-US" altLang="ko-KR" sz="900" dirty="0"/>
                        <a:t> button to display the PO</a:t>
                      </a:r>
                      <a:r>
                        <a:rPr lang="en-US" altLang="ko-KR" sz="900" baseline="0" dirty="0"/>
                        <a:t> dispatch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r>
                        <a:rPr lang="en-US" altLang="ko-KR" sz="900" dirty="0"/>
                        <a:t>4. The PO list will be displayed in the grid,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including details.</a:t>
                      </a:r>
                    </a:p>
                    <a:p>
                      <a:endParaRPr lang="en-US" altLang="ko-KR" sz="900" dirty="0"/>
                    </a:p>
                    <a:p>
                      <a:r>
                        <a:rPr lang="en-US" altLang="ko-KR" sz="900" dirty="0"/>
                        <a:t>5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[Dispatch]</a:t>
                      </a:r>
                      <a:r>
                        <a:rPr lang="en-US" altLang="ko-KR" sz="900" dirty="0"/>
                        <a:t> button to dispatch</a:t>
                      </a:r>
                      <a:r>
                        <a:rPr lang="en-US" altLang="ko-KR" sz="900" baseline="0" dirty="0"/>
                        <a:t> a selected PO. Send PO dispatch I/F to ERP.</a:t>
                      </a:r>
                      <a:endParaRPr lang="en-US" altLang="ko-KR" sz="900" dirty="0"/>
                    </a:p>
                    <a:p>
                      <a:endParaRPr lang="en-US" altLang="ko-KR" sz="900" dirty="0"/>
                    </a:p>
                    <a:p>
                      <a:r>
                        <a:rPr lang="en-US" altLang="ko-KR" sz="900" dirty="0"/>
                        <a:t>6.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[Material Status]</a:t>
                      </a:r>
                      <a:r>
                        <a:rPr lang="en-US" altLang="ko-KR" sz="900" baseline="0" dirty="0"/>
                        <a:t> button to redirect to selected PO’s material to Material Status OI.</a:t>
                      </a:r>
                    </a:p>
                    <a:p>
                      <a:r>
                        <a:rPr lang="en-US" altLang="ko-KR" sz="900" baseline="0" dirty="0"/>
                        <a:t>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7. Click </a:t>
                      </a:r>
                      <a:r>
                        <a:rPr lang="en-US" altLang="ko-KR" sz="900" b="1" baseline="0" dirty="0"/>
                        <a:t>[Material Issue Request]</a:t>
                      </a:r>
                      <a:r>
                        <a:rPr lang="en-US" altLang="ko-KR" sz="900" baseline="0" dirty="0"/>
                        <a:t> button to redirect to issue request the selected PO’s material.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8.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21830" y="3200000"/>
            <a:ext cx="6942097" cy="2945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64"/>
          <p:cNvSpPr/>
          <p:nvPr/>
        </p:nvSpPr>
        <p:spPr>
          <a:xfrm>
            <a:off x="6879125" y="60520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335232" y="225019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2" name="Oval 64"/>
          <p:cNvSpPr/>
          <p:nvPr/>
        </p:nvSpPr>
        <p:spPr>
          <a:xfrm>
            <a:off x="6969125" y="252560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6486250" y="252789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220715" y="305122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6969125" y="196070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1204491" y="608557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425232" y="608557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Material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Mat Mgt. (자재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Material 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20195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1.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Enter the search conditions</a:t>
                      </a:r>
                      <a:r>
                        <a:rPr lang="en-US" altLang="ko-KR" sz="900" baseline="0" dirty="0"/>
                        <a:t> to retrieve material list.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material </a:t>
                      </a:r>
                      <a:r>
                        <a:rPr lang="en-US" altLang="ko-KR" sz="900" baseline="0" dirty="0"/>
                        <a:t>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endParaRPr lang="en-US" altLang="ko-KR" sz="900" baseline="0" dirty="0"/>
                    </a:p>
                    <a:p>
                      <a:r>
                        <a:rPr lang="en-US" altLang="ko-KR" sz="900" baseline="0" dirty="0"/>
                        <a:t>4. Material items will be displayed in the grid according to the search conditions. </a:t>
                      </a:r>
                    </a:p>
                    <a:p>
                      <a:r>
                        <a:rPr lang="en-US" altLang="ko-KR" sz="900" baseline="0" dirty="0"/>
                        <a:t>Select an material to display inventory LOTs in the </a:t>
                      </a:r>
                      <a:r>
                        <a:rPr lang="en-US" altLang="ko-KR" sz="900" baseline="0" dirty="0" err="1"/>
                        <a:t>Inv</a:t>
                      </a:r>
                      <a:r>
                        <a:rPr lang="en-US" altLang="ko-KR" sz="900" baseline="0" dirty="0"/>
                        <a:t> Lot list. </a:t>
                      </a:r>
                    </a:p>
                    <a:p>
                      <a:endParaRPr lang="en-US" altLang="ko-KR" sz="900" baseline="0" dirty="0"/>
                    </a:p>
                    <a:p>
                      <a:r>
                        <a:rPr lang="en-US" altLang="ko-KR" sz="900" baseline="0" dirty="0"/>
                        <a:t>5. Inventory Lot will be displayed in the grid according to the selected material. </a:t>
                      </a:r>
                    </a:p>
                    <a:p>
                      <a:endParaRPr lang="en-US" altLang="ko-KR" sz="900" baseline="0" dirty="0"/>
                    </a:p>
                    <a:p>
                      <a:r>
                        <a:rPr lang="en-US" altLang="ko-KR" sz="900" baseline="0" dirty="0"/>
                        <a:t>6. Click </a:t>
                      </a:r>
                      <a:r>
                        <a:rPr lang="en-US" altLang="ko-KR" sz="900" b="1" baseline="0" dirty="0"/>
                        <a:t>[Issue Request]</a:t>
                      </a:r>
                      <a:r>
                        <a:rPr lang="en-US" altLang="ko-KR" sz="900" baseline="0" dirty="0"/>
                        <a:t> button to redirect selected inventory lot to Material Issue Request OI.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7. Click </a:t>
                      </a:r>
                      <a:r>
                        <a:rPr lang="en-US" altLang="ko-KR" sz="900" b="1" baseline="0" dirty="0"/>
                        <a:t>[Split]</a:t>
                      </a:r>
                      <a:r>
                        <a:rPr lang="en-US" altLang="ko-KR" sz="900" baseline="0" dirty="0"/>
                        <a:t> button to redirect selected inventory lot to Material Split OI.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8. Click </a:t>
                      </a:r>
                      <a:r>
                        <a:rPr lang="en-US" altLang="ko-KR" sz="900" b="1" baseline="0" dirty="0"/>
                        <a:t>[Move]</a:t>
                      </a:r>
                      <a:r>
                        <a:rPr lang="en-US" altLang="ko-KR" sz="900" baseline="0" dirty="0"/>
                        <a:t> button to redirect selected inventory lot to Material Move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9.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56131" y="3209200"/>
            <a:ext cx="3448370" cy="26939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988302" y="3209200"/>
            <a:ext cx="3448369" cy="26939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64"/>
          <p:cNvSpPr/>
          <p:nvPr/>
        </p:nvSpPr>
        <p:spPr>
          <a:xfrm>
            <a:off x="6931223" y="24139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6499175" y="24139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399995" y="611955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1132483" y="611955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1658812" y="611955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6955069" y="197993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284017" y="225949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7" name="Oval 64"/>
          <p:cNvSpPr/>
          <p:nvPr/>
        </p:nvSpPr>
        <p:spPr>
          <a:xfrm>
            <a:off x="284017" y="307363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4"/>
          <p:cNvSpPr/>
          <p:nvPr/>
        </p:nvSpPr>
        <p:spPr>
          <a:xfrm>
            <a:off x="3869311" y="31192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Wafer Issue Request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Mat Mgt. (자재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Wafer Issue Request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47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1.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Enter the search conditions</a:t>
                      </a:r>
                      <a:r>
                        <a:rPr lang="en-US" altLang="ko-KR" sz="900" baseline="0" dirty="0"/>
                        <a:t> to retrieve wafer requested list.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requested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endParaRPr lang="en-US" altLang="ko-KR" sz="900" baseline="0" dirty="0"/>
                    </a:p>
                    <a:p>
                      <a:r>
                        <a:rPr lang="en-US" altLang="ko-KR" sz="900" baseline="0" dirty="0"/>
                        <a:t>4. Requested list will be displayed in the grid according to the search conditions. </a:t>
                      </a:r>
                    </a:p>
                    <a:p>
                      <a:r>
                        <a:rPr lang="en-US" altLang="ko-KR" sz="900" baseline="0" dirty="0"/>
                        <a:t>Select a requested item to display wafer inventory LOTs in the requested inventory lot list. </a:t>
                      </a:r>
                    </a:p>
                    <a:p>
                      <a:endParaRPr lang="en-US" altLang="ko-KR" sz="900" baseline="0" dirty="0"/>
                    </a:p>
                    <a:p>
                      <a:r>
                        <a:rPr lang="en-US" altLang="ko-KR" sz="900" baseline="0" dirty="0"/>
                        <a:t>5. Wafer inventory lots will be displayed in the grid according to the selected requested item. 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6. Click </a:t>
                      </a:r>
                      <a:r>
                        <a:rPr lang="en-US" altLang="ko-KR" sz="900" b="1" baseline="0" dirty="0"/>
                        <a:t>[Request]</a:t>
                      </a:r>
                      <a:r>
                        <a:rPr lang="en-US" altLang="ko-KR" sz="900" baseline="0" dirty="0"/>
                        <a:t> button to create wafer issue request and send create reservation I/F to ERP. Operation is required to be selected. 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7. Click </a:t>
                      </a:r>
                      <a:r>
                        <a:rPr lang="en-US" altLang="ko-KR" sz="900" b="1" baseline="0" dirty="0"/>
                        <a:t>[Cancel]</a:t>
                      </a:r>
                      <a:r>
                        <a:rPr lang="en-US" altLang="ko-KR" sz="900" baseline="0" dirty="0"/>
                        <a:t> button to cancel issue request and send cancel reservation I/F to ERP.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8. Click </a:t>
                      </a:r>
                      <a:r>
                        <a:rPr lang="en-US" altLang="ko-KR" sz="900" b="1" baseline="0" dirty="0"/>
                        <a:t>[Status]</a:t>
                      </a:r>
                      <a:r>
                        <a:rPr lang="en-US" altLang="ko-KR" sz="900" baseline="0" dirty="0"/>
                        <a:t> button to redirect selected inventory lot to Material Status OI.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9. Click </a:t>
                      </a:r>
                      <a:r>
                        <a:rPr lang="en-US" altLang="ko-KR" sz="900" b="1" baseline="0" dirty="0"/>
                        <a:t>[Receive]</a:t>
                      </a:r>
                      <a:r>
                        <a:rPr lang="en-US" altLang="ko-KR" sz="900" baseline="0" dirty="0"/>
                        <a:t> button to redirect selected inventory lot to Material Receive OI.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10.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80663" y="3430000"/>
            <a:ext cx="4125087" cy="24731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720437" y="3430000"/>
            <a:ext cx="2748750" cy="24643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65"/>
          <p:cNvSpPr/>
          <p:nvPr/>
        </p:nvSpPr>
        <p:spPr>
          <a:xfrm>
            <a:off x="7001155" y="606598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341999" y="213829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3" name="Oval 64"/>
          <p:cNvSpPr/>
          <p:nvPr/>
        </p:nvSpPr>
        <p:spPr>
          <a:xfrm>
            <a:off x="6910540" y="252697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6478492" y="252697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328661" y="328063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4549992" y="330916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292003" y="608315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4"/>
          <p:cNvSpPr/>
          <p:nvPr/>
        </p:nvSpPr>
        <p:spPr>
          <a:xfrm>
            <a:off x="1024491" y="608315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9" name="Oval 64"/>
          <p:cNvSpPr/>
          <p:nvPr/>
        </p:nvSpPr>
        <p:spPr>
          <a:xfrm>
            <a:off x="6934303" y="194748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10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0" name="Oval 65"/>
          <p:cNvSpPr/>
          <p:nvPr/>
        </p:nvSpPr>
        <p:spPr>
          <a:xfrm>
            <a:off x="6358864" y="608315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Material Issue Request (자재 불출 요청)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Mat Mgt. (자재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Material Issue Request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47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1.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Enter the search conditions</a:t>
                      </a:r>
                      <a:r>
                        <a:rPr lang="en-US" altLang="ko-KR" sz="900" baseline="0" dirty="0"/>
                        <a:t> to retrieve requested list of materials.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material </a:t>
                      </a:r>
                      <a:r>
                        <a:rPr lang="en-US" altLang="ko-KR" sz="900" baseline="0" dirty="0"/>
                        <a:t>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endParaRPr lang="en-US" altLang="ko-KR" sz="900" baseline="0" dirty="0"/>
                    </a:p>
                    <a:p>
                      <a:r>
                        <a:rPr lang="en-US" altLang="ko-KR" sz="900" baseline="0" dirty="0"/>
                        <a:t>4. Requested material items will be displayed in the grid according to the search conditions. </a:t>
                      </a:r>
                    </a:p>
                    <a:p>
                      <a:r>
                        <a:rPr lang="en-US" altLang="ko-KR" sz="900" baseline="0" dirty="0"/>
                        <a:t>Select a requested item to display inventory LOTs in the request material list. </a:t>
                      </a:r>
                    </a:p>
                    <a:p>
                      <a:endParaRPr lang="en-US" altLang="ko-KR" sz="900" baseline="0" dirty="0"/>
                    </a:p>
                    <a:p>
                      <a:r>
                        <a:rPr lang="en-US" altLang="ko-KR" sz="900" baseline="0" dirty="0"/>
                        <a:t>5. Inventory lots will be displayed in the grid according to the selected requested item. 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6. Click </a:t>
                      </a:r>
                      <a:r>
                        <a:rPr lang="en-US" altLang="ko-KR" sz="900" b="1" baseline="0" dirty="0"/>
                        <a:t>[Request]</a:t>
                      </a:r>
                      <a:r>
                        <a:rPr lang="en-US" altLang="ko-KR" sz="900" baseline="0" dirty="0"/>
                        <a:t> button to create mater issue request and send create reservation I/F to ERP. Operation is required to be selected.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7. Click </a:t>
                      </a:r>
                      <a:r>
                        <a:rPr lang="en-US" altLang="ko-KR" sz="900" b="1" baseline="0" dirty="0"/>
                        <a:t>[Cancel]</a:t>
                      </a:r>
                      <a:r>
                        <a:rPr lang="en-US" altLang="ko-KR" sz="900" baseline="0" dirty="0"/>
                        <a:t> button to cancel issue request and send cancel reservation I/F to ERP.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8. Click </a:t>
                      </a:r>
                      <a:r>
                        <a:rPr lang="en-US" altLang="ko-KR" sz="900" b="1" baseline="0" dirty="0"/>
                        <a:t>[Status]</a:t>
                      </a:r>
                      <a:r>
                        <a:rPr lang="en-US" altLang="ko-KR" sz="900" baseline="0" dirty="0"/>
                        <a:t> button to redirect selected inventory lot to Material Status OI.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9. Click </a:t>
                      </a:r>
                      <a:r>
                        <a:rPr lang="en-US" altLang="ko-KR" sz="900" b="1" baseline="0" dirty="0"/>
                        <a:t>[Receive]</a:t>
                      </a:r>
                      <a:r>
                        <a:rPr lang="en-US" altLang="ko-KR" sz="900" baseline="0" dirty="0"/>
                        <a:t> button to redirect selected inventory lot to Material Receive OI.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10.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12403" y="3213800"/>
            <a:ext cx="4176464" cy="2751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678487" y="3213800"/>
            <a:ext cx="2759662" cy="2751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65"/>
          <p:cNvSpPr/>
          <p:nvPr/>
        </p:nvSpPr>
        <p:spPr>
          <a:xfrm>
            <a:off x="6954035" y="603283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309396" y="225344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6910540" y="252697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6478492" y="252697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328661" y="328063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4549992" y="330916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399995" y="611955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4"/>
          <p:cNvSpPr/>
          <p:nvPr/>
        </p:nvSpPr>
        <p:spPr>
          <a:xfrm>
            <a:off x="988467" y="61191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9" name="Oval 64"/>
          <p:cNvSpPr/>
          <p:nvPr/>
        </p:nvSpPr>
        <p:spPr>
          <a:xfrm>
            <a:off x="6934303" y="194748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10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0" name="Oval 65"/>
          <p:cNvSpPr/>
          <p:nvPr/>
        </p:nvSpPr>
        <p:spPr>
          <a:xfrm>
            <a:off x="6382012" y="603283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Material Receive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Mat Mgt. (자재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Material Receive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42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spc="-20" baseline="0" dirty="0"/>
                        <a:t>1. </a:t>
                      </a:r>
                      <a:r>
                        <a:rPr lang="en-US" altLang="ko-KR" sz="800" dirty="0"/>
                        <a:t>Enter the search conditions</a:t>
                      </a:r>
                      <a:r>
                        <a:rPr lang="en-US" altLang="ko-KR" sz="800" baseline="0" dirty="0"/>
                        <a:t> to retrieve requested list of materials.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8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/>
                        <a:t>2. </a:t>
                      </a:r>
                      <a:r>
                        <a:rPr lang="en-US" altLang="ko-KR" sz="800" dirty="0"/>
                        <a:t>Click the </a:t>
                      </a:r>
                      <a:r>
                        <a:rPr lang="en-US" altLang="ko-KR" sz="800" b="1" dirty="0"/>
                        <a:t>[Search] </a:t>
                      </a:r>
                      <a:r>
                        <a:rPr lang="en-US" altLang="ko-KR" sz="800" dirty="0"/>
                        <a:t>button to display the material </a:t>
                      </a:r>
                      <a:r>
                        <a:rPr lang="en-US" altLang="ko-KR" sz="800" baseline="0" dirty="0"/>
                        <a:t>list</a:t>
                      </a:r>
                      <a:r>
                        <a:rPr lang="en-US" altLang="ko-KR" sz="800" dirty="0"/>
                        <a:t> in the grid according to the search conditions.</a:t>
                      </a:r>
                    </a:p>
                    <a:p>
                      <a:endParaRPr lang="en-US" altLang="ko-KR" sz="8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3. Click the </a:t>
                      </a:r>
                      <a:r>
                        <a:rPr lang="en-US" altLang="ko-KR" sz="800" b="1" dirty="0"/>
                        <a:t>[Reset]</a:t>
                      </a:r>
                      <a:r>
                        <a:rPr lang="en-US" altLang="ko-KR" sz="8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/>
                    </a:p>
                    <a:p>
                      <a:r>
                        <a:rPr lang="en-US" altLang="ko-KR" sz="800" baseline="0" dirty="0"/>
                        <a:t>4. Requested material items will be displayed in the grid according to the search conditions. </a:t>
                      </a:r>
                    </a:p>
                    <a:p>
                      <a:r>
                        <a:rPr lang="en-US" altLang="ko-KR" sz="800" baseline="0" dirty="0"/>
                        <a:t>Select a requested item to display inventory LOTs in the grid on the right.</a:t>
                      </a:r>
                    </a:p>
                    <a:p>
                      <a:endParaRPr lang="en-US" altLang="ko-KR" sz="800" baseline="0" dirty="0"/>
                    </a:p>
                    <a:p>
                      <a:r>
                        <a:rPr lang="en-US" altLang="ko-KR" sz="800" baseline="0" dirty="0"/>
                        <a:t>5. Inventory lots will be displayed in the grid according to the selected requested item. </a:t>
                      </a:r>
                      <a:endParaRPr lang="en-US" altLang="ko-KR" sz="800" spc="-2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800" spc="-20" baseline="0" dirty="0"/>
                        <a:t>6. Scan a barcode with camera and matching inventory lot will be auto checked in the inventory lot list.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spc="-20" baseline="0" dirty="0"/>
                        <a:t>7. </a:t>
                      </a:r>
                      <a:r>
                        <a:rPr lang="en-US" altLang="ko-KR" sz="800" baseline="0" dirty="0"/>
                        <a:t>Click </a:t>
                      </a:r>
                      <a:r>
                        <a:rPr lang="en-US" altLang="ko-KR" sz="800" b="1" baseline="0" dirty="0"/>
                        <a:t>[Receive]</a:t>
                      </a:r>
                      <a:r>
                        <a:rPr lang="en-US" altLang="ko-KR" sz="800" baseline="0" dirty="0"/>
                        <a:t> button to received checked inventory lots and send receive reservation I/F to ERP.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baseline="0" dirty="0"/>
                        <a:t>8. Click </a:t>
                      </a:r>
                      <a:r>
                        <a:rPr lang="en-US" altLang="ko-KR" sz="800" b="1" baseline="0" dirty="0"/>
                        <a:t>[PO Dispatch]</a:t>
                      </a:r>
                      <a:r>
                        <a:rPr lang="en-US" altLang="ko-KR" sz="800" baseline="0" dirty="0"/>
                        <a:t> button to redirect to PO Dispatch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baseline="0" dirty="0"/>
                        <a:t>9. Click </a:t>
                      </a:r>
                      <a:r>
                        <a:rPr lang="en-US" altLang="ko-KR" sz="800" b="1" baseline="0" dirty="0"/>
                        <a:t>[Status]</a:t>
                      </a:r>
                      <a:r>
                        <a:rPr lang="en-US" altLang="ko-KR" sz="800" baseline="0" dirty="0"/>
                        <a:t> button to redirect to Material Status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baseline="0" dirty="0"/>
                        <a:t>10. Click </a:t>
                      </a:r>
                      <a:r>
                        <a:rPr lang="en-US" altLang="ko-KR" sz="800" b="1" baseline="0" dirty="0"/>
                        <a:t>[Return]</a:t>
                      </a:r>
                      <a:r>
                        <a:rPr lang="en-US" altLang="ko-KR" sz="800" baseline="0" dirty="0"/>
                        <a:t> button to redirect to Material Return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baseline="0" dirty="0"/>
                        <a:t>11. Click </a:t>
                      </a:r>
                      <a:r>
                        <a:rPr lang="en-US" altLang="ko-KR" sz="800" b="1" baseline="0" dirty="0"/>
                        <a:t>[</a:t>
                      </a:r>
                      <a:r>
                        <a:rPr lang="en-US" altLang="ko-KR" sz="800" b="1" baseline="0" dirty="0" err="1"/>
                        <a:t>Iss</a:t>
                      </a:r>
                      <a:r>
                        <a:rPr lang="en-US" altLang="ko-KR" sz="800" b="1" baseline="0" dirty="0"/>
                        <a:t> Request]</a:t>
                      </a:r>
                      <a:r>
                        <a:rPr lang="en-US" altLang="ko-KR" sz="800" baseline="0" dirty="0"/>
                        <a:t> button to redirect to Material Issue Request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baseline="0" dirty="0"/>
                        <a:t>12. Click </a:t>
                      </a:r>
                      <a:r>
                        <a:rPr lang="en-US" altLang="ko-KR" sz="800" b="1" baseline="0" dirty="0"/>
                        <a:t>[Split]</a:t>
                      </a:r>
                      <a:r>
                        <a:rPr lang="en-US" altLang="ko-KR" sz="800" baseline="0" dirty="0"/>
                        <a:t> button to redirect to Material Split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baseline="0" dirty="0"/>
                        <a:t>13. Click </a:t>
                      </a:r>
                      <a:r>
                        <a:rPr lang="en-US" altLang="ko-KR" sz="800" b="1" baseline="0" dirty="0"/>
                        <a:t>[Move]</a:t>
                      </a:r>
                      <a:r>
                        <a:rPr lang="en-US" altLang="ko-KR" sz="800" baseline="0" dirty="0"/>
                        <a:t> button to redirect to </a:t>
                      </a:r>
                      <a:r>
                        <a:rPr lang="en-US" altLang="ko-KR" sz="800" baseline="0"/>
                        <a:t>Material Move </a:t>
                      </a:r>
                      <a:r>
                        <a:rPr lang="en-US" altLang="ko-KR" sz="800" baseline="0" dirty="0"/>
                        <a:t>OI.</a:t>
                      </a:r>
                      <a:endParaRPr lang="en-US" altLang="ko-KR" sz="8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14. Click the </a:t>
                      </a:r>
                      <a:r>
                        <a:rPr lang="en-US" altLang="ko-KR" sz="800" b="1" dirty="0"/>
                        <a:t>[Close]</a:t>
                      </a:r>
                      <a:r>
                        <a:rPr lang="en-US" altLang="ko-KR" sz="800" dirty="0"/>
                        <a:t> button to exit the OI.</a:t>
                      </a:r>
                      <a:endParaRPr lang="en-US" altLang="ko-KR" sz="8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73163" y="3733600"/>
            <a:ext cx="4121337" cy="223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647771" y="3733600"/>
            <a:ext cx="2834875" cy="223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65"/>
          <p:cNvSpPr/>
          <p:nvPr/>
        </p:nvSpPr>
        <p:spPr>
          <a:xfrm>
            <a:off x="6954035" y="603283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309396" y="225344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6929147" y="268888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6497099" y="268888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328661" y="389438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4549992" y="392291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399995" y="611955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4"/>
          <p:cNvSpPr/>
          <p:nvPr/>
        </p:nvSpPr>
        <p:spPr>
          <a:xfrm>
            <a:off x="988467" y="61191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9" name="Oval 64"/>
          <p:cNvSpPr/>
          <p:nvPr/>
        </p:nvSpPr>
        <p:spPr>
          <a:xfrm>
            <a:off x="6934303" y="194748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0" name="Oval 65"/>
          <p:cNvSpPr/>
          <p:nvPr/>
        </p:nvSpPr>
        <p:spPr>
          <a:xfrm>
            <a:off x="898467" y="309480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1" name="Oval 64"/>
          <p:cNvSpPr/>
          <p:nvPr/>
        </p:nvSpPr>
        <p:spPr>
          <a:xfrm>
            <a:off x="1564569" y="611955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10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2" name="Oval 64"/>
          <p:cNvSpPr/>
          <p:nvPr/>
        </p:nvSpPr>
        <p:spPr>
          <a:xfrm>
            <a:off x="2153041" y="61191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11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3" name="Oval 64"/>
          <p:cNvSpPr/>
          <p:nvPr/>
        </p:nvSpPr>
        <p:spPr>
          <a:xfrm>
            <a:off x="2787887" y="610652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4" name="Oval 64"/>
          <p:cNvSpPr/>
          <p:nvPr/>
        </p:nvSpPr>
        <p:spPr>
          <a:xfrm>
            <a:off x="3376359" y="610610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13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Material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Mat Mgt. (자재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Material Management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1. </a:t>
                      </a:r>
                      <a:r>
                        <a:rPr lang="en-US" altLang="ko-KR" sz="900" dirty="0"/>
                        <a:t>Scan</a:t>
                      </a:r>
                      <a:r>
                        <a:rPr lang="en-US" altLang="ko-KR" sz="900" baseline="0" dirty="0"/>
                        <a:t> or  key-in a barcode to retrieve material information.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material </a:t>
                      </a:r>
                      <a:r>
                        <a:rPr lang="en-US" altLang="ko-KR" sz="900" baseline="0" dirty="0"/>
                        <a:t>information </a:t>
                      </a:r>
                      <a:r>
                        <a:rPr lang="en-US" altLang="ko-KR" sz="900" dirty="0"/>
                        <a:t>in the grid according to barcode</a:t>
                      </a:r>
                      <a:r>
                        <a:rPr lang="en-US" altLang="ko-KR" sz="900" baseline="0" dirty="0"/>
                        <a:t> value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Material information will be displayed.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5.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[Return]</a:t>
                      </a:r>
                      <a:r>
                        <a:rPr lang="en-US" altLang="ko-KR" sz="900" baseline="0" dirty="0"/>
                        <a:t> button to redirect to Material Return OI.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6.</a:t>
                      </a:r>
                      <a:r>
                        <a:rPr lang="en-US" altLang="ko-KR" sz="900" baseline="0" dirty="0"/>
                        <a:t> Click </a:t>
                      </a:r>
                      <a:r>
                        <a:rPr lang="en-US" altLang="ko-KR" sz="900" b="1" baseline="0" dirty="0"/>
                        <a:t>[Merge]</a:t>
                      </a:r>
                      <a:r>
                        <a:rPr lang="en-US" altLang="ko-KR" sz="900" baseline="0" dirty="0"/>
                        <a:t> button to redirect to Material Merge OI.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7.</a:t>
                      </a:r>
                      <a:r>
                        <a:rPr lang="en-US" altLang="ko-KR" sz="900" baseline="0" dirty="0"/>
                        <a:t> Click </a:t>
                      </a:r>
                      <a:r>
                        <a:rPr lang="en-US" altLang="ko-KR" sz="900" b="1" baseline="0" dirty="0"/>
                        <a:t>[Split]</a:t>
                      </a:r>
                      <a:r>
                        <a:rPr lang="en-US" altLang="ko-KR" sz="900" baseline="0" dirty="0"/>
                        <a:t> button to redirect to Material Split OI.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8.</a:t>
                      </a:r>
                      <a:r>
                        <a:rPr lang="en-US" altLang="ko-KR" sz="900" baseline="0" dirty="0"/>
                        <a:t> Click </a:t>
                      </a:r>
                      <a:r>
                        <a:rPr lang="en-US" altLang="ko-KR" sz="900" b="1" baseline="0" dirty="0"/>
                        <a:t>[Move]</a:t>
                      </a:r>
                      <a:r>
                        <a:rPr lang="en-US" altLang="ko-KR" sz="900" baseline="0" dirty="0"/>
                        <a:t> button to redirect to Material Move OI.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9.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341999" y="22307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8" name="Oval 63"/>
          <p:cNvSpPr/>
          <p:nvPr/>
        </p:nvSpPr>
        <p:spPr>
          <a:xfrm>
            <a:off x="399184" y="61191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9" name="Oval 63"/>
          <p:cNvSpPr/>
          <p:nvPr/>
        </p:nvSpPr>
        <p:spPr>
          <a:xfrm>
            <a:off x="844451" y="61191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3"/>
          <p:cNvSpPr/>
          <p:nvPr/>
        </p:nvSpPr>
        <p:spPr>
          <a:xfrm>
            <a:off x="1290087" y="61191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3"/>
          <p:cNvSpPr/>
          <p:nvPr/>
        </p:nvSpPr>
        <p:spPr>
          <a:xfrm>
            <a:off x="1735354" y="61191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6461074" y="220224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6911537" y="220721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6911537" y="194802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Rectangle 63">
            <a:extLst>
              <a:ext uri="{FF2B5EF4-FFF2-40B4-BE49-F238E27FC236}">
                <a16:creationId xmlns:a16="http://schemas.microsoft.com/office/drawing/2014/main" id="{3BAFA917-2D63-5D08-99CF-934986F2BBAA}"/>
              </a:ext>
            </a:extLst>
          </p:cNvPr>
          <p:cNvSpPr/>
          <p:nvPr/>
        </p:nvSpPr>
        <p:spPr>
          <a:xfrm>
            <a:off x="402921" y="2490499"/>
            <a:ext cx="6994258" cy="10363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63"/>
          <p:cNvSpPr/>
          <p:nvPr/>
        </p:nvSpPr>
        <p:spPr>
          <a:xfrm>
            <a:off x="251999" y="26080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Multi-Material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Mat Mgt. (자재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Multi-Material Management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20276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1. </a:t>
                      </a:r>
                      <a:r>
                        <a:rPr lang="en-US" altLang="ko-KR" sz="900" dirty="0"/>
                        <a:t>Scan</a:t>
                      </a:r>
                      <a:r>
                        <a:rPr lang="en-US" altLang="ko-KR" sz="900" baseline="0" dirty="0"/>
                        <a:t> or key-in a barcode to retrieve material information.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material </a:t>
                      </a:r>
                      <a:r>
                        <a:rPr lang="en-US" altLang="ko-KR" sz="900" baseline="0" dirty="0"/>
                        <a:t>information </a:t>
                      </a:r>
                      <a:r>
                        <a:rPr lang="en-US" altLang="ko-KR" sz="900" dirty="0"/>
                        <a:t>in the grid according to barcode</a:t>
                      </a:r>
                      <a:r>
                        <a:rPr lang="en-US" altLang="ko-KR" sz="900" baseline="0" dirty="0"/>
                        <a:t> value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Material information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5.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[Return]</a:t>
                      </a:r>
                      <a:r>
                        <a:rPr lang="en-US" altLang="ko-KR" sz="900" baseline="0" dirty="0"/>
                        <a:t> button to redirect to Material Return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6.</a:t>
                      </a:r>
                      <a:r>
                        <a:rPr lang="en-US" altLang="ko-KR" sz="900" baseline="0" dirty="0"/>
                        <a:t> Click </a:t>
                      </a:r>
                      <a:r>
                        <a:rPr lang="en-US" altLang="ko-KR" sz="900" b="1" baseline="0" dirty="0"/>
                        <a:t>[Merge]</a:t>
                      </a:r>
                      <a:r>
                        <a:rPr lang="en-US" altLang="ko-KR" sz="900" baseline="0" dirty="0"/>
                        <a:t> button to redirect to Material Merge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7.</a:t>
                      </a:r>
                      <a:r>
                        <a:rPr lang="en-US" altLang="ko-KR" sz="900" baseline="0" dirty="0"/>
                        <a:t> Click </a:t>
                      </a:r>
                      <a:r>
                        <a:rPr lang="en-US" altLang="ko-KR" sz="900" b="1" baseline="0" dirty="0"/>
                        <a:t>[Move]</a:t>
                      </a:r>
                      <a:r>
                        <a:rPr lang="en-US" altLang="ko-KR" sz="900" baseline="0" dirty="0"/>
                        <a:t> button to redirect to Material Move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8.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4" name="Rectangle 63">
            <a:extLst>
              <a:ext uri="{FF2B5EF4-FFF2-40B4-BE49-F238E27FC236}">
                <a16:creationId xmlns:a16="http://schemas.microsoft.com/office/drawing/2014/main" id="{3BAFA917-2D63-5D08-99CF-934986F2BBAA}"/>
              </a:ext>
            </a:extLst>
          </p:cNvPr>
          <p:cNvSpPr/>
          <p:nvPr/>
        </p:nvSpPr>
        <p:spPr>
          <a:xfrm>
            <a:off x="468965" y="2950790"/>
            <a:ext cx="6942097" cy="31683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63"/>
          <p:cNvSpPr/>
          <p:nvPr/>
        </p:nvSpPr>
        <p:spPr>
          <a:xfrm>
            <a:off x="341999" y="22307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9" name="Oval 63"/>
          <p:cNvSpPr/>
          <p:nvPr/>
        </p:nvSpPr>
        <p:spPr>
          <a:xfrm>
            <a:off x="399184" y="61191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3"/>
          <p:cNvSpPr/>
          <p:nvPr/>
        </p:nvSpPr>
        <p:spPr>
          <a:xfrm>
            <a:off x="844451" y="61191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3"/>
          <p:cNvSpPr/>
          <p:nvPr/>
        </p:nvSpPr>
        <p:spPr>
          <a:xfrm>
            <a:off x="1290087" y="61191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6911537" y="194802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6461074" y="220224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6911537" y="220721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3"/>
          <p:cNvSpPr/>
          <p:nvPr/>
        </p:nvSpPr>
        <p:spPr>
          <a:xfrm>
            <a:off x="341999" y="302528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Material Split (자재 분할)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Mat Mgt. (자재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Material Split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20280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47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1. </a:t>
                      </a:r>
                      <a:r>
                        <a:rPr lang="en-US" altLang="ko-KR" sz="900" dirty="0"/>
                        <a:t>Scan</a:t>
                      </a:r>
                      <a:r>
                        <a:rPr lang="en-US" altLang="ko-KR" sz="900" baseline="0" dirty="0"/>
                        <a:t> or key-in a barcode to retrieve material information.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material </a:t>
                      </a:r>
                      <a:r>
                        <a:rPr lang="en-US" altLang="ko-KR" sz="900" baseline="0" dirty="0"/>
                        <a:t>information </a:t>
                      </a:r>
                      <a:r>
                        <a:rPr lang="en-US" altLang="ko-KR" sz="900" dirty="0"/>
                        <a:t>in the grid according to barcode</a:t>
                      </a:r>
                      <a:r>
                        <a:rPr lang="en-US" altLang="ko-KR" sz="900" baseline="0" dirty="0"/>
                        <a:t> value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Material information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5. Input split information. New barcode ID can be auto generated by system or key-in by user. Key-in barcode will be listed up in Material List.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6. Key-in barcode ID and information will be listed up in the grid.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7.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[Split]</a:t>
                      </a:r>
                      <a:r>
                        <a:rPr lang="en-US" altLang="ko-KR" sz="900" baseline="0" dirty="0"/>
                        <a:t> button to split mother inventory lot into child inventory lots.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8.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[Print Option]</a:t>
                      </a:r>
                      <a:r>
                        <a:rPr lang="en-US" altLang="ko-KR" sz="900" baseline="0" dirty="0"/>
                        <a:t> button to choose a printer.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9. Check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b="1" baseline="0" dirty="0"/>
                        <a:t>[Print Label] </a:t>
                      </a:r>
                      <a:r>
                        <a:rPr lang="en-US" altLang="ko-KR" sz="900" b="0" baseline="0" dirty="0"/>
                        <a:t>checkbox to enable label printing/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b="0" baseline="0" dirty="0"/>
                        <a:t>10.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    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4" name="Rectangle 63">
            <a:extLst>
              <a:ext uri="{FF2B5EF4-FFF2-40B4-BE49-F238E27FC236}">
                <a16:creationId xmlns:a16="http://schemas.microsoft.com/office/drawing/2014/main" id="{1792830B-D6F2-E942-D6AA-7C423294CA75}"/>
              </a:ext>
            </a:extLst>
          </p:cNvPr>
          <p:cNvSpPr/>
          <p:nvPr/>
        </p:nvSpPr>
        <p:spPr>
          <a:xfrm>
            <a:off x="468965" y="4432256"/>
            <a:ext cx="6942097" cy="17133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63"/>
          <p:cNvSpPr/>
          <p:nvPr/>
        </p:nvSpPr>
        <p:spPr>
          <a:xfrm>
            <a:off x="342067" y="22307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0" name="Oval 63"/>
          <p:cNvSpPr/>
          <p:nvPr/>
        </p:nvSpPr>
        <p:spPr>
          <a:xfrm>
            <a:off x="6934500" y="218713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3"/>
          <p:cNvSpPr/>
          <p:nvPr/>
        </p:nvSpPr>
        <p:spPr>
          <a:xfrm>
            <a:off x="6507000" y="218557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6932835" y="193592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10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341999" y="265909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341999" y="359183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3"/>
          <p:cNvSpPr/>
          <p:nvPr/>
        </p:nvSpPr>
        <p:spPr>
          <a:xfrm>
            <a:off x="315483" y="438582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6874386" y="60556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3"/>
          <p:cNvSpPr/>
          <p:nvPr/>
        </p:nvSpPr>
        <p:spPr>
          <a:xfrm>
            <a:off x="378964" y="605526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3"/>
          <p:cNvSpPr/>
          <p:nvPr/>
        </p:nvSpPr>
        <p:spPr>
          <a:xfrm>
            <a:off x="988467" y="607424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9. </a:t>
            </a:r>
            <a:r>
              <a:rPr dirty="0" err="1"/>
              <a:t>Material</a:t>
            </a:r>
            <a:r>
              <a:rPr dirty="0"/>
              <a:t> </a:t>
            </a:r>
            <a:r>
              <a:rPr dirty="0" err="1"/>
              <a:t>Merge</a:t>
            </a:r>
            <a:r>
              <a:rPr dirty="0"/>
              <a:t> (자재 병합)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Mat Mgt. (자재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Material Merge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20300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1. </a:t>
                      </a:r>
                      <a:r>
                        <a:rPr lang="en-US" altLang="ko-KR" sz="900" dirty="0"/>
                        <a:t>Scan</a:t>
                      </a:r>
                      <a:r>
                        <a:rPr lang="en-US" altLang="ko-KR" sz="900" baseline="0" dirty="0"/>
                        <a:t> or key-in a barcode to retrieve material information.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material </a:t>
                      </a:r>
                      <a:r>
                        <a:rPr lang="en-US" altLang="ko-KR" sz="900" baseline="0" dirty="0"/>
                        <a:t>information </a:t>
                      </a:r>
                      <a:r>
                        <a:rPr lang="en-US" altLang="ko-KR" sz="900" dirty="0"/>
                        <a:t>in the grid according to barcode</a:t>
                      </a:r>
                      <a:r>
                        <a:rPr lang="en-US" altLang="ko-KR" sz="900" baseline="0" dirty="0"/>
                        <a:t> value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Material information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5. Scan or key-in a barcode.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6. Inventory lots from #5 will be listed in the material list.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7. If mother inventory lot is not scanned in #1, the first inventory lot in Material List will be the mother lot. 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[Merge]</a:t>
                      </a:r>
                      <a:r>
                        <a:rPr lang="en-US" altLang="ko-KR" sz="900" baseline="0" dirty="0"/>
                        <a:t> button to merge lots.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8.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[Print Option]</a:t>
                      </a:r>
                      <a:r>
                        <a:rPr lang="en-US" altLang="ko-KR" sz="900" baseline="0" dirty="0"/>
                        <a:t> button to choose a printer.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9. Check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b="1" baseline="0" dirty="0"/>
                        <a:t>[Print Label] </a:t>
                      </a:r>
                      <a:r>
                        <a:rPr lang="en-US" altLang="ko-KR" sz="900" b="0" baseline="0" dirty="0"/>
                        <a:t>checkbox to enable label printing/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="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b="0" baseline="0" dirty="0"/>
                        <a:t>10.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4" name="Rectangle 63">
            <a:extLst>
              <a:ext uri="{FF2B5EF4-FFF2-40B4-BE49-F238E27FC236}">
                <a16:creationId xmlns:a16="http://schemas.microsoft.com/office/drawing/2014/main" id="{42B66698-A412-33D6-B257-4222B223AB21}"/>
              </a:ext>
            </a:extLst>
          </p:cNvPr>
          <p:cNvSpPr/>
          <p:nvPr/>
        </p:nvSpPr>
        <p:spPr>
          <a:xfrm>
            <a:off x="468965" y="4246934"/>
            <a:ext cx="6942097" cy="18986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63"/>
          <p:cNvSpPr/>
          <p:nvPr/>
        </p:nvSpPr>
        <p:spPr>
          <a:xfrm>
            <a:off x="342067" y="22307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1" name="Oval 63"/>
          <p:cNvSpPr/>
          <p:nvPr/>
        </p:nvSpPr>
        <p:spPr>
          <a:xfrm>
            <a:off x="6934500" y="218713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6507000" y="218557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6932835" y="193592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10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341999" y="265909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3"/>
          <p:cNvSpPr/>
          <p:nvPr/>
        </p:nvSpPr>
        <p:spPr>
          <a:xfrm>
            <a:off x="341999" y="359183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3"/>
          <p:cNvSpPr/>
          <p:nvPr/>
        </p:nvSpPr>
        <p:spPr>
          <a:xfrm>
            <a:off x="315483" y="438582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3"/>
          <p:cNvSpPr/>
          <p:nvPr/>
        </p:nvSpPr>
        <p:spPr>
          <a:xfrm>
            <a:off x="6874386" y="60556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3"/>
          <p:cNvSpPr/>
          <p:nvPr/>
        </p:nvSpPr>
        <p:spPr>
          <a:xfrm>
            <a:off x="378964" y="605526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9" name="Oval 63"/>
          <p:cNvSpPr/>
          <p:nvPr/>
        </p:nvSpPr>
        <p:spPr>
          <a:xfrm>
            <a:off x="988467" y="607424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Material Move (자재 이동)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Mat Mgt. (자재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Material Move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20310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spc="-20" baseline="0" dirty="0"/>
                        <a:t>1. </a:t>
                      </a:r>
                      <a:r>
                        <a:rPr lang="en-US" altLang="ko-KR" sz="800" dirty="0"/>
                        <a:t>Scan</a:t>
                      </a:r>
                      <a:r>
                        <a:rPr lang="en-US" altLang="ko-KR" sz="800" baseline="0" dirty="0"/>
                        <a:t> or key-in a barcode to retrieve material information.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8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/>
                        <a:t>2. </a:t>
                      </a:r>
                      <a:r>
                        <a:rPr lang="en-US" altLang="ko-KR" sz="800" dirty="0"/>
                        <a:t>Click the </a:t>
                      </a:r>
                      <a:r>
                        <a:rPr lang="en-US" altLang="ko-KR" sz="800" b="1" dirty="0"/>
                        <a:t>[Search] </a:t>
                      </a:r>
                      <a:r>
                        <a:rPr lang="en-US" altLang="ko-KR" sz="800" dirty="0"/>
                        <a:t>button to display the material </a:t>
                      </a:r>
                      <a:r>
                        <a:rPr lang="en-US" altLang="ko-KR" sz="800" baseline="0" dirty="0"/>
                        <a:t>information </a:t>
                      </a:r>
                      <a:r>
                        <a:rPr lang="en-US" altLang="ko-KR" sz="800" dirty="0"/>
                        <a:t>in the grid according to barcode</a:t>
                      </a:r>
                      <a:r>
                        <a:rPr lang="en-US" altLang="ko-KR" sz="800" baseline="0" dirty="0"/>
                        <a:t> value</a:t>
                      </a:r>
                      <a:r>
                        <a:rPr lang="en-US" altLang="ko-KR" sz="800" dirty="0"/>
                        <a:t>.</a:t>
                      </a:r>
                    </a:p>
                    <a:p>
                      <a:endParaRPr lang="en-US" altLang="ko-KR" sz="8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3. Click the </a:t>
                      </a:r>
                      <a:r>
                        <a:rPr lang="en-US" altLang="ko-KR" sz="800" b="1" dirty="0"/>
                        <a:t>[Reset]</a:t>
                      </a:r>
                      <a:r>
                        <a:rPr lang="en-US" altLang="ko-KR" sz="800" dirty="0"/>
                        <a:t> button to clear all fields on the screen.</a:t>
                      </a:r>
                      <a:endParaRPr lang="en-US" altLang="ko-KR" sz="8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4. Material information</a:t>
                      </a:r>
                      <a:r>
                        <a:rPr lang="en-US" altLang="ko-KR" sz="800" baseline="0" dirty="0"/>
                        <a:t> of</a:t>
                      </a:r>
                      <a:r>
                        <a:rPr lang="ko-KR" altLang="en-US" sz="800" baseline="0" dirty="0"/>
                        <a:t> </a:t>
                      </a:r>
                      <a:r>
                        <a:rPr lang="en-US" altLang="ko-KR" sz="800" baseline="0" dirty="0"/>
                        <a:t>scanned barcode will be listed up in the material list.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8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spc="-20" baseline="0" dirty="0"/>
                        <a:t>5. Select move information. When selecting move information, Load information fields and </a:t>
                      </a:r>
                      <a:r>
                        <a:rPr lang="en-US" altLang="ko-KR" sz="800" b="1" spc="-20" baseline="0" dirty="0"/>
                        <a:t>[Loading] </a:t>
                      </a:r>
                      <a:r>
                        <a:rPr lang="en-US" altLang="ko-KR" sz="800" b="0" spc="-20" baseline="0" dirty="0"/>
                        <a:t>button</a:t>
                      </a:r>
                      <a:r>
                        <a:rPr lang="en-US" altLang="ko-KR" sz="800" b="1" spc="-20" baseline="0" dirty="0"/>
                        <a:t> </a:t>
                      </a:r>
                      <a:r>
                        <a:rPr lang="en-US" altLang="ko-KR" sz="800" spc="-20" baseline="0" dirty="0"/>
                        <a:t>will be disabled.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8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spc="-20" baseline="0" dirty="0"/>
                        <a:t>6. Select load information. When selecting load information, Move information fields and </a:t>
                      </a:r>
                      <a:r>
                        <a:rPr lang="en-US" altLang="ko-KR" sz="800" b="1" spc="-20" baseline="0" dirty="0"/>
                        <a:t>[Move] </a:t>
                      </a:r>
                      <a:r>
                        <a:rPr lang="en-US" altLang="ko-KR" sz="800" b="0" spc="-20" baseline="0" dirty="0"/>
                        <a:t>button</a:t>
                      </a:r>
                      <a:r>
                        <a:rPr lang="en-US" altLang="ko-KR" sz="800" spc="-20" baseline="0" dirty="0"/>
                        <a:t> will be disabled.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8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spc="-20" baseline="0" dirty="0"/>
                        <a:t>7. </a:t>
                      </a:r>
                      <a:r>
                        <a:rPr lang="en-US" altLang="ko-KR" sz="800" baseline="0" dirty="0"/>
                        <a:t>Click </a:t>
                      </a:r>
                      <a:r>
                        <a:rPr lang="en-US" altLang="ko-KR" sz="800" b="1" baseline="0" dirty="0"/>
                        <a:t>[Loading]</a:t>
                      </a:r>
                      <a:r>
                        <a:rPr lang="en-US" altLang="ko-KR" sz="800" baseline="0" dirty="0"/>
                        <a:t> button to load a lot/lots according to load information.</a:t>
                      </a:r>
                      <a:endParaRPr lang="en-US" altLang="ko-KR" sz="8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spc="-20" baseline="0" dirty="0"/>
                        <a:t>8. </a:t>
                      </a:r>
                      <a:r>
                        <a:rPr lang="en-US" altLang="ko-KR" sz="800" baseline="0" dirty="0"/>
                        <a:t>Click </a:t>
                      </a:r>
                      <a:r>
                        <a:rPr lang="en-US" altLang="ko-KR" sz="800" b="1" baseline="0" dirty="0"/>
                        <a:t>[Move]</a:t>
                      </a:r>
                      <a:r>
                        <a:rPr lang="en-US" altLang="ko-KR" sz="800" baseline="0" dirty="0"/>
                        <a:t> button to move a lot/lots according to move information.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8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spc="-20" baseline="0" dirty="0"/>
                        <a:t>9. </a:t>
                      </a:r>
                      <a:r>
                        <a:rPr lang="en-US" altLang="ko-KR" sz="800" baseline="0" dirty="0"/>
                        <a:t>Click </a:t>
                      </a:r>
                      <a:r>
                        <a:rPr lang="en-US" altLang="ko-KR" sz="800" b="1" baseline="0" dirty="0"/>
                        <a:t>[Status]</a:t>
                      </a:r>
                      <a:r>
                        <a:rPr lang="en-US" altLang="ko-KR" sz="800" baseline="0" dirty="0"/>
                        <a:t> button to redirect to Material Status OI.</a:t>
                      </a:r>
                      <a:endParaRPr lang="en-US" altLang="ko-KR" sz="8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b="0" baseline="0" dirty="0"/>
                        <a:t>10. </a:t>
                      </a:r>
                      <a:r>
                        <a:rPr lang="en-US" altLang="ko-KR" sz="800" baseline="0" dirty="0"/>
                        <a:t>Click </a:t>
                      </a:r>
                      <a:r>
                        <a:rPr lang="en-US" altLang="ko-KR" sz="800" b="1" baseline="0" dirty="0"/>
                        <a:t>[Split]</a:t>
                      </a:r>
                      <a:r>
                        <a:rPr lang="en-US" altLang="ko-KR" sz="800" baseline="0" dirty="0"/>
                        <a:t> button to redirect to Material Split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spc="-20" baseline="0" dirty="0"/>
                        <a:t>11. </a:t>
                      </a:r>
                      <a:r>
                        <a:rPr lang="en-US" altLang="ko-KR" sz="800" baseline="0" dirty="0"/>
                        <a:t>Click </a:t>
                      </a:r>
                      <a:r>
                        <a:rPr lang="en-US" altLang="ko-KR" sz="800" b="1" baseline="0" dirty="0"/>
                        <a:t>[Unloading]</a:t>
                      </a:r>
                      <a:r>
                        <a:rPr lang="en-US" altLang="ko-KR" sz="800" baseline="0" dirty="0"/>
                        <a:t> button to redirect to Material Unload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spc="-20" baseline="0" dirty="0"/>
                        <a:t>12. </a:t>
                      </a:r>
                      <a:r>
                        <a:rPr lang="en-US" altLang="ko-KR" sz="800" dirty="0"/>
                        <a:t>Click the </a:t>
                      </a:r>
                      <a:r>
                        <a:rPr lang="en-US" altLang="ko-KR" sz="800" b="1" dirty="0"/>
                        <a:t>[Close]</a:t>
                      </a:r>
                      <a:r>
                        <a:rPr lang="en-US" altLang="ko-KR" sz="800" dirty="0"/>
                        <a:t> button to exit the OI.</a:t>
                      </a:r>
                      <a:endParaRPr lang="en-US" altLang="ko-KR" sz="8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4" name="Rectangle 63">
            <a:extLst>
              <a:ext uri="{FF2B5EF4-FFF2-40B4-BE49-F238E27FC236}">
                <a16:creationId xmlns:a16="http://schemas.microsoft.com/office/drawing/2014/main" id="{2E01249D-50B3-0745-57AF-34E806BEA9FF}"/>
              </a:ext>
            </a:extLst>
          </p:cNvPr>
          <p:cNvSpPr/>
          <p:nvPr/>
        </p:nvSpPr>
        <p:spPr>
          <a:xfrm>
            <a:off x="468965" y="2950465"/>
            <a:ext cx="6942097" cy="2172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63"/>
          <p:cNvSpPr/>
          <p:nvPr/>
        </p:nvSpPr>
        <p:spPr>
          <a:xfrm>
            <a:off x="342067" y="22307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1" name="Oval 63"/>
          <p:cNvSpPr/>
          <p:nvPr/>
        </p:nvSpPr>
        <p:spPr>
          <a:xfrm>
            <a:off x="6934500" y="218713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6507000" y="218557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6932835" y="193592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12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304411" y="291480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3"/>
          <p:cNvSpPr/>
          <p:nvPr/>
        </p:nvSpPr>
        <p:spPr>
          <a:xfrm>
            <a:off x="6874386" y="60556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3"/>
          <p:cNvSpPr/>
          <p:nvPr/>
        </p:nvSpPr>
        <p:spPr>
          <a:xfrm>
            <a:off x="6373438" y="607424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9" name="Oval 63"/>
          <p:cNvSpPr/>
          <p:nvPr/>
        </p:nvSpPr>
        <p:spPr>
          <a:xfrm>
            <a:off x="378964" y="607136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0" name="Oval 63"/>
          <p:cNvSpPr/>
          <p:nvPr/>
        </p:nvSpPr>
        <p:spPr>
          <a:xfrm>
            <a:off x="299288" y="531890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1" name="Oval 63"/>
          <p:cNvSpPr/>
          <p:nvPr/>
        </p:nvSpPr>
        <p:spPr>
          <a:xfrm>
            <a:off x="288964" y="574728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2" name="Oval 63"/>
          <p:cNvSpPr/>
          <p:nvPr/>
        </p:nvSpPr>
        <p:spPr>
          <a:xfrm>
            <a:off x="879912" y="607136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10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3" name="Oval 63"/>
          <p:cNvSpPr/>
          <p:nvPr/>
        </p:nvSpPr>
        <p:spPr>
          <a:xfrm>
            <a:off x="1349292" y="607136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11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Material Load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Mat Mgt. (자재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Material Load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20315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1. </a:t>
                      </a:r>
                      <a:r>
                        <a:rPr lang="en-US" altLang="ko-KR" sz="900" dirty="0"/>
                        <a:t>Select material loading</a:t>
                      </a:r>
                      <a:r>
                        <a:rPr lang="en-US" altLang="ko-KR" sz="900" baseline="0" dirty="0"/>
                        <a:t> information.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2. </a:t>
                      </a:r>
                      <a:r>
                        <a:rPr lang="en-US" altLang="ko-KR" sz="900" dirty="0"/>
                        <a:t>Scan</a:t>
                      </a:r>
                      <a:r>
                        <a:rPr lang="en-US" altLang="ko-KR" sz="900" baseline="0" dirty="0"/>
                        <a:t> or key-in a barcode to load.</a:t>
                      </a:r>
                      <a:endParaRPr lang="en-US" altLang="ko-KR" sz="900" spc="-2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3.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material </a:t>
                      </a:r>
                      <a:r>
                        <a:rPr lang="en-US" altLang="ko-KR" sz="900" baseline="0" dirty="0"/>
                        <a:t>information </a:t>
                      </a:r>
                      <a:r>
                        <a:rPr lang="en-US" altLang="ko-KR" sz="900" dirty="0"/>
                        <a:t>in the grid according to barcode</a:t>
                      </a:r>
                      <a:r>
                        <a:rPr lang="en-US" altLang="ko-KR" sz="900" baseline="0" dirty="0"/>
                        <a:t> value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5. Material information</a:t>
                      </a:r>
                      <a:r>
                        <a:rPr lang="en-US" altLang="ko-KR" sz="900" baseline="0" dirty="0"/>
                        <a:t> of</a:t>
                      </a:r>
                      <a:r>
                        <a:rPr lang="ko-KR" altLang="en-US" sz="900" baseline="0" dirty="0"/>
                        <a:t> </a:t>
                      </a:r>
                      <a:r>
                        <a:rPr lang="en-US" altLang="ko-KR" sz="900" baseline="0" dirty="0"/>
                        <a:t>scanned barcode will be listed up in the material list.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6.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[Loading]</a:t>
                      </a:r>
                      <a:r>
                        <a:rPr lang="en-US" altLang="ko-KR" sz="900" baseline="0" dirty="0"/>
                        <a:t> button to load a lot/lots according to load information.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7.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[Adapt]</a:t>
                      </a:r>
                      <a:r>
                        <a:rPr lang="en-US" altLang="ko-KR" sz="900" baseline="0" dirty="0"/>
                        <a:t> button to redirect to Material Status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b="0" baseline="0" dirty="0"/>
                        <a:t>8.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[Unloading]</a:t>
                      </a:r>
                      <a:r>
                        <a:rPr lang="en-US" altLang="ko-KR" sz="900" baseline="0" dirty="0"/>
                        <a:t> button to redirect to Material Split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9.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4" name="Rectangle 63">
            <a:extLst>
              <a:ext uri="{FF2B5EF4-FFF2-40B4-BE49-F238E27FC236}">
                <a16:creationId xmlns:a16="http://schemas.microsoft.com/office/drawing/2014/main" id="{43D2C5AE-9AB4-32EE-7B5C-E15153F3B197}"/>
              </a:ext>
            </a:extLst>
          </p:cNvPr>
          <p:cNvSpPr/>
          <p:nvPr/>
        </p:nvSpPr>
        <p:spPr>
          <a:xfrm>
            <a:off x="468965" y="3208120"/>
            <a:ext cx="6942097" cy="28390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63"/>
          <p:cNvSpPr/>
          <p:nvPr/>
        </p:nvSpPr>
        <p:spPr>
          <a:xfrm>
            <a:off x="361863" y="217338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1" name="Oval 63"/>
          <p:cNvSpPr/>
          <p:nvPr/>
        </p:nvSpPr>
        <p:spPr>
          <a:xfrm>
            <a:off x="378964" y="247561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6932835" y="245768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6932835" y="193592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6511080" y="245768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3"/>
          <p:cNvSpPr/>
          <p:nvPr/>
        </p:nvSpPr>
        <p:spPr>
          <a:xfrm>
            <a:off x="6874386" y="60556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3"/>
          <p:cNvSpPr/>
          <p:nvPr/>
        </p:nvSpPr>
        <p:spPr>
          <a:xfrm>
            <a:off x="378964" y="607136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3"/>
          <p:cNvSpPr/>
          <p:nvPr/>
        </p:nvSpPr>
        <p:spPr>
          <a:xfrm>
            <a:off x="334155" y="311812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9" name="Oval 63"/>
          <p:cNvSpPr/>
          <p:nvPr/>
        </p:nvSpPr>
        <p:spPr>
          <a:xfrm>
            <a:off x="879912" y="607136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Material Unload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Mat Mgt. (자재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Material Unload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20317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1. </a:t>
                      </a:r>
                      <a:r>
                        <a:rPr lang="en-US" altLang="ko-KR" sz="900" dirty="0"/>
                        <a:t>Scan</a:t>
                      </a:r>
                      <a:r>
                        <a:rPr lang="en-US" altLang="ko-KR" sz="900" baseline="0" dirty="0"/>
                        <a:t> or key-in a barcode to load.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</a:t>
                      </a:r>
                      <a:r>
                        <a:rPr lang="en-US" altLang="ko-KR" sz="900" baseline="0" dirty="0"/>
                        <a:t> to retrieve material information</a:t>
                      </a:r>
                      <a:endParaRPr lang="en-US" altLang="ko-KR" sz="900" dirty="0"/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Material information</a:t>
                      </a:r>
                      <a:r>
                        <a:rPr lang="en-US" altLang="ko-KR" sz="900" baseline="0" dirty="0"/>
                        <a:t> of</a:t>
                      </a:r>
                      <a:r>
                        <a:rPr lang="ko-KR" altLang="en-US" sz="900" baseline="0" dirty="0"/>
                        <a:t> </a:t>
                      </a:r>
                      <a:r>
                        <a:rPr lang="en-US" altLang="ko-KR" sz="900" baseline="0" dirty="0"/>
                        <a:t>scanned barcode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5. Select material unload information.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6.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[Unloading]</a:t>
                      </a:r>
                      <a:r>
                        <a:rPr lang="en-US" altLang="ko-KR" sz="900" baseline="0" dirty="0"/>
                        <a:t> button to unload a lot.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7.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9" name="Oval 63"/>
          <p:cNvSpPr/>
          <p:nvPr/>
        </p:nvSpPr>
        <p:spPr>
          <a:xfrm>
            <a:off x="6891518" y="217708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4"/>
          <p:cNvSpPr/>
          <p:nvPr/>
        </p:nvSpPr>
        <p:spPr>
          <a:xfrm>
            <a:off x="6801518" y="61191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3"/>
          <p:cNvSpPr/>
          <p:nvPr/>
        </p:nvSpPr>
        <p:spPr>
          <a:xfrm>
            <a:off x="772443" y="215870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2" name="Oval 63"/>
          <p:cNvSpPr/>
          <p:nvPr/>
        </p:nvSpPr>
        <p:spPr>
          <a:xfrm>
            <a:off x="6891518" y="192587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6461075" y="21897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269874" y="259075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3"/>
          <p:cNvSpPr/>
          <p:nvPr/>
        </p:nvSpPr>
        <p:spPr>
          <a:xfrm>
            <a:off x="269874" y="362298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Material Return (자재 반납)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Mat Mgt. (자재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Material Return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20320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1. </a:t>
                      </a:r>
                      <a:r>
                        <a:rPr lang="en-US" altLang="ko-KR" sz="900" dirty="0"/>
                        <a:t>Scan</a:t>
                      </a:r>
                      <a:r>
                        <a:rPr lang="en-US" altLang="ko-KR" sz="900" baseline="0" dirty="0"/>
                        <a:t> or key-in a barcode to return.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</a:t>
                      </a:r>
                      <a:r>
                        <a:rPr lang="en-US" altLang="ko-KR" sz="900" baseline="0" dirty="0"/>
                        <a:t> to retrieve material information</a:t>
                      </a:r>
                      <a:endParaRPr lang="en-US" altLang="ko-KR" sz="900" dirty="0"/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Material information</a:t>
                      </a:r>
                      <a:r>
                        <a:rPr lang="en-US" altLang="ko-KR" sz="900" baseline="0" dirty="0"/>
                        <a:t> of</a:t>
                      </a:r>
                      <a:r>
                        <a:rPr lang="ko-KR" altLang="en-US" sz="900" baseline="0" dirty="0"/>
                        <a:t> </a:t>
                      </a:r>
                      <a:r>
                        <a:rPr lang="en-US" altLang="ko-KR" sz="900" baseline="0" dirty="0"/>
                        <a:t>scanned barcode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5. Select material return information.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6.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[Return]</a:t>
                      </a:r>
                      <a:r>
                        <a:rPr lang="en-US" altLang="ko-KR" sz="900" baseline="0" dirty="0"/>
                        <a:t> button to return a lot.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7.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6891518" y="217708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6891518" y="61191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9" name="Oval 63"/>
          <p:cNvSpPr/>
          <p:nvPr/>
        </p:nvSpPr>
        <p:spPr>
          <a:xfrm>
            <a:off x="772443" y="215870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0" name="Oval 63"/>
          <p:cNvSpPr/>
          <p:nvPr/>
        </p:nvSpPr>
        <p:spPr>
          <a:xfrm>
            <a:off x="6891518" y="192587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3"/>
          <p:cNvSpPr/>
          <p:nvPr/>
        </p:nvSpPr>
        <p:spPr>
          <a:xfrm>
            <a:off x="6461075" y="21897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269874" y="259075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252000" y="360162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Paste Filtering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Chk Mgt. (재고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Paste Filtering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20403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67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1. </a:t>
                      </a:r>
                      <a:r>
                        <a:rPr lang="en-US" altLang="ko-KR" sz="900" dirty="0"/>
                        <a:t>Scan</a:t>
                      </a:r>
                      <a:r>
                        <a:rPr lang="en-US" altLang="ko-KR" sz="900" baseline="0" dirty="0"/>
                        <a:t> or key-in a barcode to split paste material. 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</a:t>
                      </a:r>
                      <a:r>
                        <a:rPr lang="en-US" altLang="ko-KR" sz="900" baseline="0" dirty="0"/>
                        <a:t> to retrieve material information</a:t>
                      </a:r>
                      <a:endParaRPr lang="en-US" altLang="ko-KR" sz="900" dirty="0"/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Material information</a:t>
                      </a:r>
                      <a:r>
                        <a:rPr lang="en-US" altLang="ko-KR" sz="900" baseline="0" dirty="0"/>
                        <a:t> of</a:t>
                      </a:r>
                      <a:r>
                        <a:rPr lang="ko-KR" altLang="en-US" sz="900" baseline="0" dirty="0"/>
                        <a:t> </a:t>
                      </a:r>
                      <a:r>
                        <a:rPr lang="en-US" altLang="ko-KR" sz="900" baseline="0" dirty="0"/>
                        <a:t>scanned barcode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5. Input split quantity of paste. 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6. </a:t>
                      </a:r>
                      <a:r>
                        <a:rPr lang="en-US" altLang="ko-KR" sz="900" baseline="0" dirty="0"/>
                        <a:t>When clicking </a:t>
                      </a:r>
                      <a:r>
                        <a:rPr lang="en-US" altLang="ko-KR" sz="900" b="1" baseline="0" dirty="0"/>
                        <a:t>[Add]</a:t>
                      </a:r>
                      <a:r>
                        <a:rPr lang="en-US" altLang="ko-KR" sz="900" baseline="0" dirty="0"/>
                        <a:t> button, inventory lot ID will be auto generated by system and listed up in the grid.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7. List of paste inventory lots will be displayed.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8. Click </a:t>
                      </a:r>
                      <a:r>
                        <a:rPr lang="en-US" altLang="ko-KR" sz="900" b="1" baseline="0" dirty="0"/>
                        <a:t>[Split] </a:t>
                      </a:r>
                      <a:r>
                        <a:rPr lang="en-US" altLang="ko-KR" sz="900" b="0" baseline="0" dirty="0"/>
                        <a:t>button to split inventory lots in the grid from the mother lot.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="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9.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[Print Option]</a:t>
                      </a:r>
                      <a:r>
                        <a:rPr lang="en-US" altLang="ko-KR" sz="900" baseline="0" dirty="0"/>
                        <a:t> button to choose a printer.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10. Check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b="1" baseline="0" dirty="0"/>
                        <a:t>[Print Label] </a:t>
                      </a:r>
                      <a:r>
                        <a:rPr lang="en-US" altLang="ko-KR" sz="900" b="0" baseline="0" dirty="0"/>
                        <a:t>checkbox to enable label printing.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11.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6920886" y="352354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4" name="Rectangle 63">
            <a:extLst>
              <a:ext uri="{FF2B5EF4-FFF2-40B4-BE49-F238E27FC236}">
                <a16:creationId xmlns:a16="http://schemas.microsoft.com/office/drawing/2014/main" id="{79BAA812-66DA-4093-852F-72E15FEEF884}"/>
              </a:ext>
            </a:extLst>
          </p:cNvPr>
          <p:cNvSpPr/>
          <p:nvPr/>
        </p:nvSpPr>
        <p:spPr>
          <a:xfrm>
            <a:off x="468965" y="4253940"/>
            <a:ext cx="6942097" cy="18916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907500" y="609006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3"/>
          <p:cNvSpPr/>
          <p:nvPr/>
        </p:nvSpPr>
        <p:spPr>
          <a:xfrm>
            <a:off x="6891518" y="217708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3"/>
          <p:cNvSpPr/>
          <p:nvPr/>
        </p:nvSpPr>
        <p:spPr>
          <a:xfrm>
            <a:off x="844451" y="21897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2" name="Oval 63"/>
          <p:cNvSpPr/>
          <p:nvPr/>
        </p:nvSpPr>
        <p:spPr>
          <a:xfrm>
            <a:off x="269714" y="416376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6461075" y="21897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269874" y="259075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3"/>
          <p:cNvSpPr/>
          <p:nvPr/>
        </p:nvSpPr>
        <p:spPr>
          <a:xfrm>
            <a:off x="269714" y="360508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334155" y="608865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934451" y="608865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10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4"/>
          <p:cNvSpPr/>
          <p:nvPr/>
        </p:nvSpPr>
        <p:spPr>
          <a:xfrm>
            <a:off x="6891518" y="192106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11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Paste Canister Reg.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Chk Mgt. (재고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Paste Canister Reg.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20405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1. </a:t>
                      </a:r>
                      <a:r>
                        <a:rPr lang="en-US" altLang="ko-KR" sz="900" dirty="0"/>
                        <a:t>Select Equipment and Sub-Equipment to retrieve</a:t>
                      </a:r>
                      <a:r>
                        <a:rPr lang="en-US" altLang="ko-KR" sz="900" baseline="0" dirty="0"/>
                        <a:t> material information of a loaded paste material. 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</a:t>
                      </a:r>
                      <a:r>
                        <a:rPr lang="en-US" altLang="ko-KR" sz="900" baseline="0" dirty="0"/>
                        <a:t> to retrieve material information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Material information</a:t>
                      </a:r>
                      <a:r>
                        <a:rPr lang="en-US" altLang="ko-KR" sz="900" baseline="0" dirty="0"/>
                        <a:t> of</a:t>
                      </a:r>
                      <a:r>
                        <a:rPr lang="ko-KR" altLang="en-US" sz="900" baseline="0" dirty="0"/>
                        <a:t> </a:t>
                      </a:r>
                      <a:r>
                        <a:rPr lang="en-US" altLang="ko-KR" sz="900" baseline="0" dirty="0"/>
                        <a:t>the loaded paste material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5.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[Register]</a:t>
                      </a:r>
                      <a:r>
                        <a:rPr lang="en-US" altLang="ko-KR" sz="900" dirty="0"/>
                        <a:t> button to create an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paste material with zero quantity.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6.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[Print Option]</a:t>
                      </a:r>
                      <a:r>
                        <a:rPr lang="en-US" altLang="ko-KR" sz="900" baseline="0" dirty="0"/>
                        <a:t> button to choose a printer.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7. Check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b="1" baseline="0" dirty="0"/>
                        <a:t>[Print Label] </a:t>
                      </a:r>
                      <a:r>
                        <a:rPr lang="en-US" altLang="ko-KR" sz="900" b="0" baseline="0" dirty="0"/>
                        <a:t>checkbox to enable label printing.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="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8.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9" name="Oval 64"/>
          <p:cNvSpPr/>
          <p:nvPr/>
        </p:nvSpPr>
        <p:spPr>
          <a:xfrm>
            <a:off x="6907500" y="609006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3"/>
          <p:cNvSpPr/>
          <p:nvPr/>
        </p:nvSpPr>
        <p:spPr>
          <a:xfrm>
            <a:off x="6981518" y="213402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3"/>
          <p:cNvSpPr/>
          <p:nvPr/>
        </p:nvSpPr>
        <p:spPr>
          <a:xfrm>
            <a:off x="255371" y="216236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2" name="Oval 63"/>
          <p:cNvSpPr/>
          <p:nvPr/>
        </p:nvSpPr>
        <p:spPr>
          <a:xfrm>
            <a:off x="6511036" y="213534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269874" y="275986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6891518" y="192106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334155" y="608865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934451" y="608865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Paste Wastage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Chk Mgt. (재고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Paste Wastage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20407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spc="-20" baseline="0" dirty="0"/>
                        <a:t>1. </a:t>
                      </a:r>
                      <a:r>
                        <a:rPr lang="en-US" altLang="ko-KR" sz="900" dirty="0"/>
                        <a:t>Enter the search conditions</a:t>
                      </a:r>
                      <a:r>
                        <a:rPr lang="en-US" altLang="ko-KR" sz="900" baseline="0" dirty="0"/>
                        <a:t> to retrieve paste wastage list.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</a:t>
                      </a:r>
                      <a:r>
                        <a:rPr lang="en-US" altLang="ko-KR" sz="900" baseline="0" dirty="0"/>
                        <a:t> to retrieve material information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4. Input paste wastage information to register paste wastage.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5.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[Create]</a:t>
                      </a:r>
                      <a:r>
                        <a:rPr lang="en-US" altLang="ko-KR" sz="900" dirty="0"/>
                        <a:t> button to create</a:t>
                      </a:r>
                      <a:r>
                        <a:rPr lang="en-US" altLang="ko-KR" sz="900" baseline="0" dirty="0"/>
                        <a:t> paste wastage according to the input information.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6. List of paste wastage will be displayed.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7.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[Edit]</a:t>
                      </a:r>
                      <a:r>
                        <a:rPr lang="en-US" altLang="ko-KR" sz="900" dirty="0"/>
                        <a:t> button to update Justification column in the grid.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8.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[Delete]</a:t>
                      </a:r>
                      <a:r>
                        <a:rPr lang="en-US" altLang="ko-KR" sz="900" dirty="0"/>
                        <a:t> button to delete checked item from the grid.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9.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50111" y="4146692"/>
            <a:ext cx="6942097" cy="18189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69874" y="416010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4"/>
          <p:cNvSpPr/>
          <p:nvPr/>
        </p:nvSpPr>
        <p:spPr>
          <a:xfrm>
            <a:off x="5957019" y="60902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3"/>
          <p:cNvSpPr/>
          <p:nvPr/>
        </p:nvSpPr>
        <p:spPr>
          <a:xfrm>
            <a:off x="6937572" y="234236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255371" y="216236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3" name="Oval 63"/>
          <p:cNvSpPr/>
          <p:nvPr/>
        </p:nvSpPr>
        <p:spPr>
          <a:xfrm>
            <a:off x="6513144" y="235043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269874" y="275986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6891518" y="192106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6423144" y="608645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6937572" y="608390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Screen Load/Unload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(Warehouse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INV Mat Mgt. (자재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Screen Load/Unload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20417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spc="-20" baseline="0" dirty="0"/>
                        <a:t>1. </a:t>
                      </a:r>
                      <a:r>
                        <a:rPr lang="en-US" altLang="ko-KR" sz="900" dirty="0"/>
                        <a:t>Scan</a:t>
                      </a:r>
                      <a:r>
                        <a:rPr lang="en-US" altLang="ko-KR" sz="900" baseline="0" dirty="0"/>
                        <a:t> a new screen to be loaded.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</a:t>
                      </a:r>
                      <a:r>
                        <a:rPr lang="en-US" altLang="ko-KR" sz="900" baseline="0" dirty="0"/>
                        <a:t> to retrieve material information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Material information of the</a:t>
                      </a:r>
                      <a:r>
                        <a:rPr lang="en-US" altLang="ko-KR" sz="900" baseline="0" dirty="0"/>
                        <a:t> scanned screen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5. Select a target equipment to load a new screen with unload reason code, screen type, screen life and remark.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6. Select defect area of loaded screen to be unloaded.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7.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[Load/Unload]</a:t>
                      </a:r>
                      <a:r>
                        <a:rPr lang="en-US" altLang="ko-KR" sz="900" dirty="0"/>
                        <a:t> button to unload</a:t>
                      </a:r>
                      <a:r>
                        <a:rPr lang="en-US" altLang="ko-KR" sz="900" baseline="0" dirty="0"/>
                        <a:t> a loaded screen and to load a new screen. </a:t>
                      </a: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8.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6927000" y="190317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9" name="Oval 63"/>
          <p:cNvSpPr/>
          <p:nvPr/>
        </p:nvSpPr>
        <p:spPr>
          <a:xfrm>
            <a:off x="6927000" y="216834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3"/>
          <p:cNvSpPr/>
          <p:nvPr/>
        </p:nvSpPr>
        <p:spPr>
          <a:xfrm>
            <a:off x="286776" y="221985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1" name="Oval 63"/>
          <p:cNvSpPr/>
          <p:nvPr/>
        </p:nvSpPr>
        <p:spPr>
          <a:xfrm>
            <a:off x="6471648" y="217043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286776" y="251239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269874" y="336184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2644651" y="336184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3"/>
          <p:cNvSpPr/>
          <p:nvPr/>
        </p:nvSpPr>
        <p:spPr>
          <a:xfrm>
            <a:off x="6631130" y="613588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18. LOT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58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331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337004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1081559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2163118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1004304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2019442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WIP 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Production Management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Mgt. (LOT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Management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/>
                        <a:t>1</a:t>
                      </a:r>
                      <a:r>
                        <a:rPr lang="en-US" sz="900" dirty="0"/>
                        <a:t>)</a:t>
                      </a:r>
                      <a:r>
                        <a:rPr lang="en-US" sz="900" baseline="0" dirty="0"/>
                        <a:t> </a:t>
                      </a:r>
                      <a:r>
                        <a:rPr lang="en-US" altLang="ko-KR" sz="900" dirty="0"/>
                        <a:t>Enter the search conditions to retrieve LOT information and LAMA list.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2)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requested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3)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endParaRPr lang="en-US" sz="900" dirty="0"/>
                    </a:p>
                    <a:p>
                      <a:r>
                        <a:rPr lang="en-US" sz="900" dirty="0"/>
                        <a:t>4) </a:t>
                      </a:r>
                      <a:r>
                        <a:rPr lang="en-US" altLang="ko-KR" sz="900" dirty="0"/>
                        <a:t>LOT information will be displayed according to the search conditions.</a:t>
                      </a:r>
                    </a:p>
                    <a:p>
                      <a:endParaRPr lang="en-US" sz="900" dirty="0"/>
                    </a:p>
                    <a:p>
                      <a:r>
                        <a:rPr lang="en-US" sz="900" dirty="0"/>
                        <a:t>5)</a:t>
                      </a:r>
                      <a:r>
                        <a:rPr lang="en-US" sz="900" baseline="0" dirty="0"/>
                        <a:t> </a:t>
                      </a:r>
                      <a:r>
                        <a:rPr lang="en-US" altLang="ko-KR" sz="900" dirty="0"/>
                        <a:t>LAMA list will be displayed according to the search conditions.</a:t>
                      </a:r>
                    </a:p>
                    <a:p>
                      <a:endParaRPr lang="en-US" sz="900" dirty="0"/>
                    </a:p>
                    <a:p>
                      <a:r>
                        <a:rPr lang="en-US" sz="900" dirty="0"/>
                        <a:t>6) Click the button at the bottom to navigate to the corresponding menu.</a:t>
                      </a:r>
                    </a:p>
                    <a:p>
                      <a:endParaRPr lang="en-US" sz="900" dirty="0"/>
                    </a:p>
                    <a:p>
                      <a:r>
                        <a:rPr lang="en-US" sz="900" dirty="0"/>
                        <a:t>7)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sz="9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381687" y="3752000"/>
            <a:ext cx="7087500" cy="13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70123" y="219464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0" name="Oval 64"/>
          <p:cNvSpPr/>
          <p:nvPr/>
        </p:nvSpPr>
        <p:spPr>
          <a:xfrm>
            <a:off x="7080050" y="244454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6699524" y="244454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912110" y="264900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912110" y="414839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554301" y="606807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2" name="Oval 64"/>
          <p:cNvSpPr/>
          <p:nvPr/>
        </p:nvSpPr>
        <p:spPr>
          <a:xfrm>
            <a:off x="6875588" y="197314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Multi-LOT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58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331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337004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1081559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2163118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1004304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2019442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WIP 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Production Management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Mgt. (LOT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Multi-LOT Management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1)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Enter the search conditions to retrieve LOT information.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2) 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requested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3)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4) LOT information will be displayed in the grid.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5) Click the button at the bottom to navigate to the corresponding menu.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6)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15" name="그림 14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46918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381687" y="2776800"/>
            <a:ext cx="7087500" cy="13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64"/>
          <p:cNvSpPr/>
          <p:nvPr/>
        </p:nvSpPr>
        <p:spPr>
          <a:xfrm>
            <a:off x="770123" y="219464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0" name="Oval 64"/>
          <p:cNvSpPr/>
          <p:nvPr/>
        </p:nvSpPr>
        <p:spPr>
          <a:xfrm>
            <a:off x="7080050" y="244454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6699524" y="244454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912110" y="264900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554301" y="606239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6881267" y="193339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LOT End (LOT 작업 종료)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58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331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337004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1081559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2163118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1004304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2019442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WIP 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Production Management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Mgt. (LOT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End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dirty="0"/>
                        <a:t>1)</a:t>
                      </a:r>
                      <a:r>
                        <a:rPr lang="en-US" altLang="ko-KR" sz="900" dirty="0"/>
                        <a:t> Enter the search conditions to retrieve LOT information.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2) 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requested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3)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4) Information of the selected PO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5)</a:t>
                      </a:r>
                      <a:r>
                        <a:rPr lang="en-US" altLang="ko-KR" sz="900" b="0" baseline="0" dirty="0"/>
                        <a:t> </a:t>
                      </a:r>
                      <a:r>
                        <a:rPr lang="en-US" altLang="ko-KR" sz="900" b="0" dirty="0"/>
                        <a:t>Enter the information to process </a:t>
                      </a:r>
                      <a:r>
                        <a:rPr lang="en-US" altLang="ko-KR" sz="900" b="1" dirty="0"/>
                        <a:t>[LOT END]</a:t>
                      </a:r>
                      <a:r>
                        <a:rPr lang="en-US" altLang="ko-KR" sz="900" b="0" dirty="0"/>
                        <a:t> for the selected PO.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6)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[END]</a:t>
                      </a:r>
                      <a:r>
                        <a:rPr lang="en-US" altLang="ko-KR" sz="900" dirty="0"/>
                        <a:t> button to trigger the LOT END event with the entered information.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7) The Posting list will be displayed in the grid,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including details.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8) Click the </a:t>
                      </a:r>
                      <a:r>
                        <a:rPr lang="en-US" altLang="ko-KR" sz="900" b="1" dirty="0"/>
                        <a:t>[Reversal]</a:t>
                      </a:r>
                      <a:r>
                        <a:rPr lang="en-US" altLang="ko-KR" sz="900" dirty="0"/>
                        <a:t> button to navigate to the Reversal screen for the selected LOT.</a:t>
                      </a: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9)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381687" y="3779600"/>
            <a:ext cx="7087500" cy="13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345953" y="223345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9" name="Rectangle 63"/>
          <p:cNvSpPr/>
          <p:nvPr/>
        </p:nvSpPr>
        <p:spPr>
          <a:xfrm>
            <a:off x="381687" y="2738230"/>
            <a:ext cx="7087500" cy="4186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64"/>
          <p:cNvSpPr/>
          <p:nvPr/>
        </p:nvSpPr>
        <p:spPr>
          <a:xfrm>
            <a:off x="7074744" y="232290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6677179" y="232290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450314" y="277016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450314" y="326215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524858" y="405231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7089653" y="605008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579523" y="604511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6883771" y="195019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Rework 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58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331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337004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1081559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2163118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1004304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2019442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WIP 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Production Management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Mgt. (LOT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Rework End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dirty="0"/>
                        <a:t>1)</a:t>
                      </a:r>
                      <a:r>
                        <a:rPr lang="en-US" sz="900" dirty="0"/>
                        <a:t> </a:t>
                      </a:r>
                      <a:r>
                        <a:rPr lang="en-US" altLang="ko-KR" sz="900" dirty="0"/>
                        <a:t>Enter the search conditions to retrieve LOT information.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2) 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requested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3)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4)</a:t>
                      </a:r>
                      <a:r>
                        <a:rPr lang="en-US" sz="900" baseline="0" dirty="0"/>
                        <a:t> </a:t>
                      </a:r>
                      <a:r>
                        <a:rPr lang="en-US" altLang="ko-KR" sz="900" dirty="0"/>
                        <a:t>Information of the selected LOT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5) LOT information will be displayed in the grid.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6) </a:t>
                      </a:r>
                      <a:r>
                        <a:rPr lang="en-US" altLang="ko-KR" sz="900" b="0" dirty="0"/>
                        <a:t>Click the [End] button to perform the Rework End process.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7) </a:t>
                      </a:r>
                      <a:r>
                        <a:rPr lang="en-US" altLang="ko-KR" sz="900" b="0" dirty="0"/>
                        <a:t>Click the [Reserve] button to reserve the selected LOT for the specified equipment.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When the equipment is selected, the reserved LOTs will be displayed.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8) </a:t>
                      </a:r>
                      <a:r>
                        <a:rPr lang="en-US" altLang="ko-KR" sz="900" b="0" dirty="0"/>
                        <a:t>Click the</a:t>
                      </a:r>
                      <a:r>
                        <a:rPr lang="en-US" altLang="ko-KR" sz="900" b="1" dirty="0"/>
                        <a:t> [Print Option]</a:t>
                      </a:r>
                      <a:r>
                        <a:rPr lang="en-US" altLang="ko-KR" sz="900" b="0" dirty="0"/>
                        <a:t> button to select the printer for label printing. Check the checkbox to print the label when performing the Judge process.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9)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</a:p>
                    <a:p>
                      <a:endParaRPr sz="9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381687" y="3637000"/>
            <a:ext cx="7087500" cy="13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20903" y="244802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66" name="Oval 65"/>
          <p:cNvSpPr/>
          <p:nvPr/>
        </p:nvSpPr>
        <p:spPr>
          <a:xfrm>
            <a:off x="7114500" y="601671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4"/>
          <p:cNvSpPr/>
          <p:nvPr/>
        </p:nvSpPr>
        <p:spPr>
          <a:xfrm>
            <a:off x="7071601" y="231171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6696754" y="231171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6850100" y="197094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812789" y="295349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534493" y="393037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648083" y="602043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5"/>
          <p:cNvSpPr/>
          <p:nvPr/>
        </p:nvSpPr>
        <p:spPr>
          <a:xfrm>
            <a:off x="6654460" y="601671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LOT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58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331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337004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1081559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2163118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1004304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2019442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WIP 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Production Management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Mgt. (LOT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1) Enter the search conditions to retrieve LOT information.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2) 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requested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3)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4) </a:t>
                      </a:r>
                      <a:r>
                        <a:rPr lang="en-US" altLang="ko-KR" sz="900" dirty="0"/>
                        <a:t>LOT information will be displayed in the grid.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5)</a:t>
                      </a:r>
                      <a:r>
                        <a:rPr lang="en-US" sz="900" baseline="0" dirty="0"/>
                        <a:t>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[Reprint]</a:t>
                      </a:r>
                      <a:r>
                        <a:rPr lang="en-US" altLang="ko-KR" sz="900" dirty="0"/>
                        <a:t> button to navigate to the Reprint screen for the selected LOT.</a:t>
                      </a:r>
                      <a:endParaRPr lang="en-US" altLang="ko-KR" sz="900" baseline="0" dirty="0"/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6)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[Reversal]</a:t>
                      </a:r>
                      <a:r>
                        <a:rPr lang="en-US" altLang="ko-KR" sz="900" dirty="0"/>
                        <a:t> button to navigate to the Reversal screen for the selected LOT.</a:t>
                      </a:r>
                      <a:endParaRPr lang="en-US" altLang="ko-KR" sz="900" baseline="0" dirty="0"/>
                    </a:p>
                    <a:p>
                      <a:endParaRPr lang="en-US" sz="900" dirty="0"/>
                    </a:p>
                    <a:p>
                      <a:r>
                        <a:rPr lang="en-US" sz="900" dirty="0"/>
                        <a:t>7)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sz="9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381687" y="3002200"/>
            <a:ext cx="7087500" cy="13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64"/>
          <p:cNvSpPr/>
          <p:nvPr/>
        </p:nvSpPr>
        <p:spPr>
          <a:xfrm>
            <a:off x="345953" y="223345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0" name="Oval 64"/>
          <p:cNvSpPr/>
          <p:nvPr/>
        </p:nvSpPr>
        <p:spPr>
          <a:xfrm>
            <a:off x="7074744" y="232290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6677179" y="232290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450314" y="318477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580942" y="607563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1018264" y="607563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6902229" y="194096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LOT Reversal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58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331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337004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1081559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2163118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1004304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2019442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WIP 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Production Management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Mgt. (LOT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Reversal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dirty="0"/>
                        <a:t>1)</a:t>
                      </a:r>
                      <a:r>
                        <a:rPr lang="en-US" sz="900" dirty="0"/>
                        <a:t> </a:t>
                      </a:r>
                      <a:r>
                        <a:rPr lang="en-US" altLang="ko-KR" sz="900" dirty="0"/>
                        <a:t>Enter the search conditions to retrieve LOT information.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2) 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requested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3)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4) </a:t>
                      </a:r>
                      <a:r>
                        <a:rPr lang="en-US" altLang="ko-KR" sz="900" dirty="0"/>
                        <a:t>LOT information will be displayed in the grid.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/>
                        <a:t>5)</a:t>
                      </a:r>
                      <a:r>
                        <a:rPr lang="en-US" sz="900" b="0" baseline="0" dirty="0"/>
                        <a:t> </a:t>
                      </a:r>
                      <a:r>
                        <a:rPr lang="en-US" altLang="ko-KR" sz="900" b="0" dirty="0"/>
                        <a:t>Enter the Reason Code and Remark to perform the Reversal process.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/>
                        <a:t>6)</a:t>
                      </a:r>
                      <a:r>
                        <a:rPr lang="en-US" sz="900" b="0" baseline="0" dirty="0"/>
                        <a:t> </a:t>
                      </a:r>
                      <a:r>
                        <a:rPr lang="en-US" altLang="ko-KR" sz="900" b="0" dirty="0"/>
                        <a:t>Click the </a:t>
                      </a:r>
                      <a:r>
                        <a:rPr lang="en-US" altLang="ko-KR" sz="900" b="1" dirty="0"/>
                        <a:t>[Reversal]</a:t>
                      </a:r>
                      <a:r>
                        <a:rPr lang="en-US" altLang="ko-KR" sz="900" b="0" dirty="0"/>
                        <a:t> button to perform the Reversal process for the selected LOT.</a:t>
                      </a:r>
                    </a:p>
                    <a:p>
                      <a:endParaRPr lang="en-US" sz="900" dirty="0"/>
                    </a:p>
                    <a:p>
                      <a:r>
                        <a:rPr lang="en-US" sz="900" dirty="0"/>
                        <a:t>7)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sz="9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08925" y="2521699"/>
            <a:ext cx="6985788" cy="954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112625" y="60471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4"/>
          <p:cNvSpPr/>
          <p:nvPr/>
        </p:nvSpPr>
        <p:spPr>
          <a:xfrm>
            <a:off x="345953" y="223345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1" name="Oval 64"/>
          <p:cNvSpPr/>
          <p:nvPr/>
        </p:nvSpPr>
        <p:spPr>
          <a:xfrm>
            <a:off x="7074744" y="248275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6677179" y="248275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779725" y="268497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779725" y="374704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5"/>
          <p:cNvSpPr/>
          <p:nvPr/>
        </p:nvSpPr>
        <p:spPr>
          <a:xfrm>
            <a:off x="6845689" y="19729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1. Enter the barcode to retrieve Lot information.</a:t>
                      </a:r>
                    </a:p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2. Click the </a:t>
                      </a:r>
                      <a:r>
                        <a:rPr lang="en-US" altLang="ko-KR" sz="900" b="1" spc="-20" baseline="0" dirty="0"/>
                        <a:t>[Search]</a:t>
                      </a:r>
                      <a:r>
                        <a:rPr lang="en-US" altLang="ko-KR" sz="900" spc="-20" baseline="0" dirty="0"/>
                        <a:t> button to display the Lot information according to the search conditions.</a:t>
                      </a:r>
                    </a:p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3. Click the </a:t>
                      </a:r>
                      <a:r>
                        <a:rPr lang="en-US" altLang="ko-KR" sz="900" b="1" spc="-20" baseline="0" dirty="0"/>
                        <a:t>[Reset]</a:t>
                      </a:r>
                      <a:r>
                        <a:rPr lang="en-US" altLang="ko-KR" sz="900" spc="-20" baseline="0" dirty="0"/>
                        <a:t> button to clear all fields on the screen.</a:t>
                      </a:r>
                    </a:p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4. Lot information will be displayed according to the search conditions.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5. Enter the information for lot Moving. 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6.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[Move] </a:t>
                      </a:r>
                      <a:r>
                        <a:rPr lang="en-US" altLang="ko-KR" sz="900" dirty="0"/>
                        <a:t>button to move the Lot.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*</a:t>
                      </a:r>
                      <a:r>
                        <a:rPr lang="en-US" altLang="ko-KR" sz="900" dirty="0">
                          <a:effectLst/>
                        </a:rPr>
                        <a:t>The Lot quantity changes according to the entered Lot Qty.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7.</a:t>
                      </a:r>
                      <a:r>
                        <a:rPr lang="en-US" altLang="ko-KR" sz="900" dirty="0"/>
                        <a:t>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46" y="1756345"/>
            <a:ext cx="7222509" cy="49388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24. LOT Move (LOT 이동)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WIP (Production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LOT Mgt. (LOT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Move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20740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sp>
        <p:nvSpPr>
          <p:cNvPr id="65" name="Oval 64"/>
          <p:cNvSpPr/>
          <p:nvPr/>
        </p:nvSpPr>
        <p:spPr>
          <a:xfrm>
            <a:off x="6856291" y="470401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4" name="Rectangle 63">
            <a:extLst>
              <a:ext uri="{FF2B5EF4-FFF2-40B4-BE49-F238E27FC236}">
                <a16:creationId xmlns:a16="http://schemas.microsoft.com/office/drawing/2014/main" id="{812360E9-EEFF-1057-152C-983978BDF8C6}"/>
              </a:ext>
            </a:extLst>
          </p:cNvPr>
          <p:cNvSpPr/>
          <p:nvPr/>
        </p:nvSpPr>
        <p:spPr>
          <a:xfrm>
            <a:off x="388892" y="4053659"/>
            <a:ext cx="7048227" cy="622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63"/>
          <p:cNvSpPr/>
          <p:nvPr/>
        </p:nvSpPr>
        <p:spPr>
          <a:xfrm>
            <a:off x="6932697" y="23688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6497143" y="23688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6971743" y="197257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298892" y="249268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6" name="Oval 63"/>
          <p:cNvSpPr/>
          <p:nvPr/>
        </p:nvSpPr>
        <p:spPr>
          <a:xfrm>
            <a:off x="311673" y="400382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Rectangle 63">
            <a:extLst>
              <a:ext uri="{FF2B5EF4-FFF2-40B4-BE49-F238E27FC236}">
                <a16:creationId xmlns:a16="http://schemas.microsoft.com/office/drawing/2014/main" id="{812360E9-EEFF-1057-152C-983978BDF8C6}"/>
              </a:ext>
            </a:extLst>
          </p:cNvPr>
          <p:cNvSpPr/>
          <p:nvPr/>
        </p:nvSpPr>
        <p:spPr>
          <a:xfrm>
            <a:off x="388892" y="2974244"/>
            <a:ext cx="7037608" cy="9981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63"/>
          <p:cNvSpPr/>
          <p:nvPr/>
        </p:nvSpPr>
        <p:spPr>
          <a:xfrm>
            <a:off x="261019" y="283615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25. Lot Judgement (LOT 재작업 판정)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58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331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337004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1081559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2163118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1004304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2019442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WIP 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Production Management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Mgt. (LOT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Judgement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dirty="0"/>
                        <a:t>1)</a:t>
                      </a:r>
                      <a:r>
                        <a:rPr lang="en-US" sz="900" dirty="0"/>
                        <a:t> </a:t>
                      </a:r>
                      <a:r>
                        <a:rPr lang="en-US" altLang="ko-KR" sz="900" dirty="0"/>
                        <a:t>Enter the search conditions to retrieve LOT information.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2) 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requested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3)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4) LOT information will be displayed in the grid.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5) </a:t>
                      </a:r>
                      <a:r>
                        <a:rPr lang="en-US" altLang="ko-KR" sz="900" b="0" dirty="0"/>
                        <a:t>Enter the information to perform the judgement process.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6) </a:t>
                      </a:r>
                      <a:r>
                        <a:rPr lang="en-US" altLang="ko-KR" sz="900" dirty="0"/>
                        <a:t>The judgement list will be displayed in the grid,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including details.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r>
                        <a:rPr lang="en-US" altLang="ko-KR" sz="900" dirty="0"/>
                        <a:t>7)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b="0" dirty="0"/>
                        <a:t>Click the </a:t>
                      </a:r>
                      <a:r>
                        <a:rPr lang="en-US" altLang="ko-KR" sz="900" b="1" dirty="0"/>
                        <a:t>[Judge]</a:t>
                      </a:r>
                      <a:r>
                        <a:rPr lang="en-US" altLang="ko-KR" sz="900" b="0" dirty="0"/>
                        <a:t> button to perform the Judge process for the selected LOT with the entered information.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8) </a:t>
                      </a:r>
                      <a:r>
                        <a:rPr lang="en-US" altLang="ko-KR" sz="900" b="0" dirty="0"/>
                        <a:t>Click the</a:t>
                      </a:r>
                      <a:r>
                        <a:rPr lang="en-US" altLang="ko-KR" sz="900" b="1" dirty="0"/>
                        <a:t> [Print Option]</a:t>
                      </a:r>
                      <a:r>
                        <a:rPr lang="en-US" altLang="ko-KR" sz="900" b="0" dirty="0"/>
                        <a:t> button to select the printer for label printing. Check the checkbox to print the label when performing the Judge process.</a:t>
                      </a:r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9)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[Reprint]</a:t>
                      </a:r>
                      <a:r>
                        <a:rPr lang="en-US" altLang="ko-KR" sz="900" dirty="0"/>
                        <a:t> button to navigate to the Reprint screen for the selected LOT.</a:t>
                      </a:r>
                      <a:endParaRPr lang="en-US" altLang="ko-KR" sz="900" baseline="0" dirty="0"/>
                    </a:p>
                    <a:p>
                      <a:endParaRPr lang="en-US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10)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[Reversal]</a:t>
                      </a:r>
                      <a:r>
                        <a:rPr lang="en-US" altLang="ko-KR" sz="900" dirty="0"/>
                        <a:t> button to navigate to the Reversal screen for the selected LOT.</a:t>
                      </a:r>
                      <a:endParaRPr lang="en-US" altLang="ko-KR" sz="900" baseline="0" dirty="0"/>
                    </a:p>
                    <a:p>
                      <a:endParaRPr lang="en-US" sz="900" dirty="0"/>
                    </a:p>
                    <a:p>
                      <a:r>
                        <a:rPr lang="en-US" sz="900" dirty="0"/>
                        <a:t>11)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sz="9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12" name="그림 1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41999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12403" y="4472226"/>
            <a:ext cx="7014097" cy="13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5" name="Oval 64"/>
          <p:cNvSpPr/>
          <p:nvPr/>
        </p:nvSpPr>
        <p:spPr>
          <a:xfrm>
            <a:off x="304403" y="221736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66" name="Oval 65"/>
          <p:cNvSpPr/>
          <p:nvPr/>
        </p:nvSpPr>
        <p:spPr>
          <a:xfrm>
            <a:off x="7114500" y="59656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7091409" y="245590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6699524" y="245590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6864229" y="199586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11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690609" y="270012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321442" y="351229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4"/>
          <p:cNvSpPr/>
          <p:nvPr/>
        </p:nvSpPr>
        <p:spPr>
          <a:xfrm>
            <a:off x="594058" y="486969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9" name="Oval 64"/>
          <p:cNvSpPr/>
          <p:nvPr/>
        </p:nvSpPr>
        <p:spPr>
          <a:xfrm>
            <a:off x="667892" y="599991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0" name="Oval 64"/>
          <p:cNvSpPr/>
          <p:nvPr/>
        </p:nvSpPr>
        <p:spPr>
          <a:xfrm>
            <a:off x="1883306" y="599991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1" name="Oval 64"/>
          <p:cNvSpPr/>
          <p:nvPr/>
        </p:nvSpPr>
        <p:spPr>
          <a:xfrm>
            <a:off x="2383102" y="599991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10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26. LOT Merge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58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331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337004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1081559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2163118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1004304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2019442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WIP 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Production Management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Mgt. (LOT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Merge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1) Enter the search conditions to retrieve LOT information.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2) 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requested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3)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4) LOT information will be displayed in the grid.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5)</a:t>
                      </a:r>
                      <a:r>
                        <a:rPr lang="en-US" altLang="ko-KR" sz="900" b="0" baseline="0" dirty="0"/>
                        <a:t> </a:t>
                      </a:r>
                      <a:r>
                        <a:rPr lang="en-US" altLang="ko-KR" sz="900" b="0" dirty="0"/>
                        <a:t>Click the </a:t>
                      </a:r>
                      <a:r>
                        <a:rPr lang="en-US" altLang="ko-KR" sz="900" b="1" dirty="0"/>
                        <a:t>[Merge]</a:t>
                      </a:r>
                      <a:r>
                        <a:rPr lang="en-US" altLang="ko-KR" sz="900" b="0" dirty="0"/>
                        <a:t> button to perform the merge process for the selected LOTs.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6) </a:t>
                      </a:r>
                      <a:r>
                        <a:rPr lang="en-US" altLang="ko-KR" sz="900" b="0" dirty="0"/>
                        <a:t>Click the </a:t>
                      </a:r>
                      <a:r>
                        <a:rPr lang="en-US" altLang="ko-KR" sz="900" b="1" dirty="0"/>
                        <a:t>[Print Option]</a:t>
                      </a:r>
                      <a:r>
                        <a:rPr lang="en-US" altLang="ko-KR" sz="900" b="0" dirty="0"/>
                        <a:t> button to select the printer for label printing. Check the checkbox to print the label when performing the Judge process.</a:t>
                      </a:r>
                    </a:p>
                    <a:p>
                      <a:endParaRPr lang="en-US" altLang="ko-KR" sz="900" dirty="0"/>
                    </a:p>
                    <a:p>
                      <a:r>
                        <a:rPr lang="en-US" altLang="ko-KR" sz="900" dirty="0"/>
                        <a:t>7)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381687" y="3020600"/>
            <a:ext cx="7087500" cy="13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114500" y="59656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9" name="Oval 64"/>
          <p:cNvSpPr/>
          <p:nvPr/>
        </p:nvSpPr>
        <p:spPr>
          <a:xfrm>
            <a:off x="7074744" y="244998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4"/>
          <p:cNvSpPr/>
          <p:nvPr/>
        </p:nvSpPr>
        <p:spPr>
          <a:xfrm>
            <a:off x="6694218" y="244998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304777" y="227392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3" name="Oval 64"/>
          <p:cNvSpPr/>
          <p:nvPr/>
        </p:nvSpPr>
        <p:spPr>
          <a:xfrm>
            <a:off x="566034" y="327919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662585" y="604511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6864602" y="199562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27. LOT Scan to WH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58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331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337004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1081559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2163118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1004304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2019442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WIP 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Production Management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Mgt. (LOT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Scan to WH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1) Enter the search conditions to retrieve LOT information.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2) 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requested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3)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4) LOT information will be displayed in the grid.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- </a:t>
                      </a:r>
                      <a:r>
                        <a:rPr lang="en-US" altLang="ko-KR" sz="900" b="0" dirty="0"/>
                        <a:t>When the LOT is scanned, the warehouse receiving process will be executed immediately.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5)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381687" y="3020600"/>
            <a:ext cx="7087500" cy="13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64"/>
          <p:cNvSpPr/>
          <p:nvPr/>
        </p:nvSpPr>
        <p:spPr>
          <a:xfrm>
            <a:off x="7074744" y="244998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9" name="Oval 64"/>
          <p:cNvSpPr/>
          <p:nvPr/>
        </p:nvSpPr>
        <p:spPr>
          <a:xfrm>
            <a:off x="6694218" y="244998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4"/>
          <p:cNvSpPr/>
          <p:nvPr/>
        </p:nvSpPr>
        <p:spPr>
          <a:xfrm>
            <a:off x="304777" y="227392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1" name="Oval 64"/>
          <p:cNvSpPr/>
          <p:nvPr/>
        </p:nvSpPr>
        <p:spPr>
          <a:xfrm>
            <a:off x="566034" y="327919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6864602" y="199562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28. LOT Hold (LOT 잠금)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58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331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337004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1081559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2163118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1004304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2019442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WIP 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Production Management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Mgt. (LOT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Hold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1) Enter the search conditions to retrieve LOT information.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2) 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requested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3)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4) LOT information will be displayed in the grid.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5)</a:t>
                      </a:r>
                      <a:r>
                        <a:rPr lang="en-US" altLang="ko-KR" sz="900" b="0" baseline="0" dirty="0"/>
                        <a:t> </a:t>
                      </a:r>
                      <a:r>
                        <a:rPr lang="en-US" altLang="ko-KR" sz="900" b="0" dirty="0"/>
                        <a:t>Enter the Reason Code and Remark to perform the Hold</a:t>
                      </a:r>
                      <a:r>
                        <a:rPr lang="en-US" altLang="ko-KR" sz="900" b="0" baseline="0" dirty="0"/>
                        <a:t> </a:t>
                      </a:r>
                      <a:r>
                        <a:rPr lang="en-US" altLang="ko-KR" sz="900" b="0" dirty="0"/>
                        <a:t>process.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6)</a:t>
                      </a:r>
                      <a:r>
                        <a:rPr lang="en-US" altLang="ko-KR" sz="900" b="0" baseline="0" dirty="0"/>
                        <a:t> </a:t>
                      </a:r>
                      <a:r>
                        <a:rPr lang="en-US" altLang="ko-KR" sz="900" b="0" dirty="0"/>
                        <a:t>Click the </a:t>
                      </a:r>
                      <a:r>
                        <a:rPr lang="en-US" altLang="ko-KR" sz="900" b="1" dirty="0"/>
                        <a:t>[Hold]</a:t>
                      </a:r>
                      <a:r>
                        <a:rPr lang="en-US" altLang="ko-KR" sz="900" b="0" dirty="0"/>
                        <a:t> button to perform the Hold process for the selected LOT.</a:t>
                      </a:r>
                    </a:p>
                    <a:p>
                      <a:endParaRPr lang="en-US" altLang="ko-KR" sz="900" dirty="0"/>
                    </a:p>
                    <a:p>
                      <a:r>
                        <a:rPr lang="en-US" altLang="ko-KR" sz="900" dirty="0"/>
                        <a:t>7)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381687" y="2776800"/>
            <a:ext cx="7087500" cy="13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65"/>
          <p:cNvSpPr/>
          <p:nvPr/>
        </p:nvSpPr>
        <p:spPr>
          <a:xfrm>
            <a:off x="7112625" y="60471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345953" y="223345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2" name="Oval 64"/>
          <p:cNvSpPr/>
          <p:nvPr/>
        </p:nvSpPr>
        <p:spPr>
          <a:xfrm>
            <a:off x="7074744" y="248275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6677179" y="248275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569583" y="300302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785404" y="565535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5"/>
          <p:cNvSpPr/>
          <p:nvPr/>
        </p:nvSpPr>
        <p:spPr>
          <a:xfrm>
            <a:off x="6845689" y="19729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29. LOT Release (LOT 잠금해제)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58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331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337004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1081559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2163118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1004304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2019442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WIP 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Production Management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Mgt. (LOT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Release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1) Enter the search conditions to retrieve LOT information.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2) 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 to display the requested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3)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4) LOT information will be displayed in the grid.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5)</a:t>
                      </a:r>
                      <a:r>
                        <a:rPr lang="en-US" altLang="ko-KR" sz="900" b="0" baseline="0" dirty="0"/>
                        <a:t> </a:t>
                      </a:r>
                      <a:r>
                        <a:rPr lang="en-US" altLang="ko-KR" sz="900" b="0" dirty="0"/>
                        <a:t>Enter the Reason Code and Remark to perform the Release</a:t>
                      </a:r>
                      <a:r>
                        <a:rPr lang="en-US" altLang="ko-KR" sz="900" b="0" baseline="0" dirty="0"/>
                        <a:t> </a:t>
                      </a:r>
                      <a:r>
                        <a:rPr lang="en-US" altLang="ko-KR" sz="900" b="0" dirty="0"/>
                        <a:t>process.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6)</a:t>
                      </a:r>
                      <a:r>
                        <a:rPr lang="en-US" altLang="ko-KR" sz="900" b="0" baseline="0" dirty="0"/>
                        <a:t> </a:t>
                      </a:r>
                      <a:r>
                        <a:rPr lang="en-US" altLang="ko-KR" sz="900" b="0" dirty="0"/>
                        <a:t>Click the </a:t>
                      </a:r>
                      <a:r>
                        <a:rPr lang="en-US" altLang="ko-KR" sz="900" b="1" dirty="0"/>
                        <a:t>[Release]</a:t>
                      </a:r>
                      <a:r>
                        <a:rPr lang="en-US" altLang="ko-KR" sz="900" b="0" dirty="0"/>
                        <a:t> button to perform the Release process for the selected LOT.</a:t>
                      </a:r>
                    </a:p>
                    <a:p>
                      <a:endParaRPr lang="en-US" altLang="ko-KR" sz="900" dirty="0"/>
                    </a:p>
                    <a:p>
                      <a:r>
                        <a:rPr lang="en-US" altLang="ko-KR" sz="900" dirty="0"/>
                        <a:t>7)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381687" y="2776800"/>
            <a:ext cx="7087500" cy="13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114500" y="59656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2</a:t>
            </a:r>
          </a:p>
        </p:txBody>
      </p:sp>
      <p:sp>
        <p:nvSpPr>
          <p:cNvPr id="10" name="Oval 65"/>
          <p:cNvSpPr/>
          <p:nvPr/>
        </p:nvSpPr>
        <p:spPr>
          <a:xfrm>
            <a:off x="7112625" y="60471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345953" y="223345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2" name="Oval 64"/>
          <p:cNvSpPr/>
          <p:nvPr/>
        </p:nvSpPr>
        <p:spPr>
          <a:xfrm>
            <a:off x="7074744" y="248275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6677179" y="248275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637737" y="312229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791084" y="568375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5"/>
          <p:cNvSpPr/>
          <p:nvPr/>
        </p:nvSpPr>
        <p:spPr>
          <a:xfrm>
            <a:off x="6845689" y="19729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0A79D-764B-6A2F-685D-326C99934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5B63D-A66A-E786-FBB1-A0627FD43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3</a:t>
            </a:r>
            <a:r>
              <a:rPr lang="en-US" dirty="0"/>
              <a:t>0</a:t>
            </a:r>
            <a:r>
              <a:rPr dirty="0"/>
              <a:t>. </a:t>
            </a:r>
            <a:r>
              <a:rPr dirty="0" err="1"/>
              <a:t>Label</a:t>
            </a:r>
            <a:r>
              <a:rPr dirty="0"/>
              <a:t> </a:t>
            </a:r>
            <a:r>
              <a:rPr dirty="0" err="1"/>
              <a:t>Print</a:t>
            </a:r>
            <a:r>
              <a:rPr dirty="0"/>
              <a:t> (라벨 발행)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BC41B-1012-E38E-F76A-CF70D2F7F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F53FA306-9639-27EB-45DC-493DB1DCE5B9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LBL (LBL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LBL (라벨관리)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Label Print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21100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64F63685-A4D0-2DE6-BFA3-F4AD04B2ACA0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900" dirty="0"/>
                        <a:t>1. Enter or Scan a Barcode </a:t>
                      </a:r>
                      <a:r>
                        <a:rPr lang="en" altLang="ko-KR" sz="900" baseline="0" dirty="0"/>
                        <a:t>to retrieve </a:t>
                      </a:r>
                    </a:p>
                    <a:p>
                      <a:r>
                        <a:rPr lang="en" altLang="ko-KR" sz="900" baseline="0" dirty="0"/>
                        <a:t>Lot Information. </a:t>
                      </a:r>
                    </a:p>
                    <a:p>
                      <a:endParaRPr lang="en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900" baseline="0" dirty="0"/>
                        <a:t>2. </a:t>
                      </a:r>
                      <a:r>
                        <a:rPr lang="en" altLang="ko-KR" sz="900" dirty="0"/>
                        <a:t>Click the </a:t>
                      </a:r>
                      <a:r>
                        <a:rPr lang="en" altLang="ko-KR" sz="900" b="1" dirty="0"/>
                        <a:t>[Search]</a:t>
                      </a:r>
                      <a:r>
                        <a:rPr lang="en" altLang="ko-KR" sz="900" dirty="0"/>
                        <a:t> button to display the Lot Information and label print histories in the grid according to the search conditions.</a:t>
                      </a:r>
                    </a:p>
                    <a:p>
                      <a:endParaRPr lang="en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900" dirty="0"/>
                        <a:t>3. Click the </a:t>
                      </a:r>
                      <a:r>
                        <a:rPr lang="en" altLang="ko-KR" sz="900" b="1" dirty="0"/>
                        <a:t>[Reset]</a:t>
                      </a:r>
                      <a:r>
                        <a:rPr lang="en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900" dirty="0"/>
                    </a:p>
                    <a:p>
                      <a:r>
                        <a:rPr lang="en" altLang="ko-KR" sz="900" dirty="0"/>
                        <a:t>4. Lot Information will be displayed in the table,</a:t>
                      </a:r>
                      <a:r>
                        <a:rPr lang="en" altLang="ko-KR" sz="900" baseline="0" dirty="0"/>
                        <a:t> </a:t>
                      </a:r>
                      <a:r>
                        <a:rPr lang="en" altLang="ko-KR" sz="900" dirty="0"/>
                        <a:t>including details.</a:t>
                      </a:r>
                    </a:p>
                    <a:p>
                      <a:endParaRPr lang="en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900" dirty="0"/>
                        <a:t>5. Label Print History Lists will be displayed in the grid,</a:t>
                      </a:r>
                      <a:r>
                        <a:rPr lang="en" altLang="ko-KR" sz="900" baseline="0" dirty="0"/>
                        <a:t> </a:t>
                      </a:r>
                      <a:r>
                        <a:rPr lang="en" altLang="ko-KR" sz="900" dirty="0"/>
                        <a:t>including details.</a:t>
                      </a:r>
                    </a:p>
                    <a:p>
                      <a:endParaRPr lang="en" altLang="ko-KR" sz="900" dirty="0"/>
                    </a:p>
                    <a:p>
                      <a:r>
                        <a:rPr lang="en" altLang="ko-KR" sz="900" baseline="0" dirty="0"/>
                        <a:t>6 </a:t>
                      </a:r>
                      <a:r>
                        <a:rPr lang="en" altLang="ko-KR" sz="900" dirty="0"/>
                        <a:t>Enter the </a:t>
                      </a:r>
                      <a:r>
                        <a:rPr lang="en-US" altLang="ko-KR" sz="900" dirty="0"/>
                        <a:t>reason</a:t>
                      </a:r>
                      <a:r>
                        <a:rPr lang="en" altLang="ko-KR" sz="900" dirty="0"/>
                        <a:t> for reprint</a:t>
                      </a:r>
                      <a:r>
                        <a:rPr lang="en" altLang="ko-KR" sz="900" baseline="0" dirty="0"/>
                        <a:t>.</a:t>
                      </a:r>
                      <a:endParaRPr lang="en" altLang="ko-KR" sz="900" dirty="0"/>
                    </a:p>
                    <a:p>
                      <a:endParaRPr lang="en" altLang="ko-KR" sz="900" dirty="0"/>
                    </a:p>
                    <a:p>
                      <a:r>
                        <a:rPr lang="en" altLang="ko-KR" sz="900" dirty="0"/>
                        <a:t>7. </a:t>
                      </a:r>
                      <a:r>
                        <a:rPr lang="en" altLang="ko-KR" sz="900" baseline="0" dirty="0"/>
                        <a:t>Click </a:t>
                      </a:r>
                      <a:r>
                        <a:rPr lang="en" altLang="ko-KR" sz="900" b="1" baseline="0" dirty="0"/>
                        <a:t>[Print Option]</a:t>
                      </a:r>
                      <a:r>
                        <a:rPr lang="en" altLang="ko-KR" sz="900" baseline="0" dirty="0"/>
                        <a:t> button to setup printer.</a:t>
                      </a:r>
                    </a:p>
                    <a:p>
                      <a:r>
                        <a:rPr lang="en" altLang="ko-KR" sz="900" baseline="0" dirty="0"/>
                        <a:t> 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900" baseline="0" dirty="0"/>
                        <a:t>8. Click </a:t>
                      </a:r>
                      <a:r>
                        <a:rPr lang="en" altLang="ko-KR" sz="900" b="1" baseline="0" dirty="0"/>
                        <a:t>[Reprint]</a:t>
                      </a:r>
                      <a:r>
                        <a:rPr lang="en" altLang="ko-KR" sz="900" baseline="0" dirty="0"/>
                        <a:t> button to print label </a:t>
                      </a:r>
                    </a:p>
                    <a:p>
                      <a:endParaRPr lang="en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900" dirty="0"/>
                        <a:t>9. Click the </a:t>
                      </a:r>
                      <a:r>
                        <a:rPr lang="en" altLang="ko-KR" sz="900" b="1" dirty="0"/>
                        <a:t>[Close]</a:t>
                      </a:r>
                      <a:r>
                        <a:rPr lang="en" altLang="ko-KR" sz="900" dirty="0"/>
                        <a:t> button to exit the OI.</a:t>
                      </a:r>
                      <a:endParaRPr lang="en" altLang="ko-KR" sz="1000" kern="1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12" name="Picture 62" descr="screenshot_031.png">
            <a:extLst>
              <a:ext uri="{FF2B5EF4-FFF2-40B4-BE49-F238E27FC236}">
                <a16:creationId xmlns:a16="http://schemas.microsoft.com/office/drawing/2014/main" id="{D9DDE4B3-56D0-323B-D493-6F4E99891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7048B00C-1A1A-9F99-D3BF-7B0DEB59F335}"/>
              </a:ext>
            </a:extLst>
          </p:cNvPr>
          <p:cNvSpPr/>
          <p:nvPr/>
        </p:nvSpPr>
        <p:spPr>
          <a:xfrm>
            <a:off x="268387" y="224013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788E195-8F88-0521-F743-5E8931A46F86}"/>
              </a:ext>
            </a:extLst>
          </p:cNvPr>
          <p:cNvSpPr/>
          <p:nvPr/>
        </p:nvSpPr>
        <p:spPr>
          <a:xfrm>
            <a:off x="268387" y="25187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4" name="Rectangle 63">
            <a:extLst>
              <a:ext uri="{FF2B5EF4-FFF2-40B4-BE49-F238E27FC236}">
                <a16:creationId xmlns:a16="http://schemas.microsoft.com/office/drawing/2014/main" id="{5A1D0DA4-CBEA-D891-368A-2D2508C8AFD0}"/>
              </a:ext>
            </a:extLst>
          </p:cNvPr>
          <p:cNvSpPr/>
          <p:nvPr/>
        </p:nvSpPr>
        <p:spPr>
          <a:xfrm>
            <a:off x="457726" y="4957587"/>
            <a:ext cx="6968774" cy="11521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63">
            <a:extLst>
              <a:ext uri="{FF2B5EF4-FFF2-40B4-BE49-F238E27FC236}">
                <a16:creationId xmlns:a16="http://schemas.microsoft.com/office/drawing/2014/main" id="{82315CEA-3CC0-F8F8-0A7B-64117CC452FC}"/>
              </a:ext>
            </a:extLst>
          </p:cNvPr>
          <p:cNvSpPr/>
          <p:nvPr/>
        </p:nvSpPr>
        <p:spPr>
          <a:xfrm>
            <a:off x="6929147" y="22307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6" name="Oval 63">
            <a:extLst>
              <a:ext uri="{FF2B5EF4-FFF2-40B4-BE49-F238E27FC236}">
                <a16:creationId xmlns:a16="http://schemas.microsoft.com/office/drawing/2014/main" id="{C36315F9-D82C-0533-3D37-210D324F0507}"/>
              </a:ext>
            </a:extLst>
          </p:cNvPr>
          <p:cNvSpPr/>
          <p:nvPr/>
        </p:nvSpPr>
        <p:spPr>
          <a:xfrm>
            <a:off x="6533083" y="22307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7" name="Oval 64">
            <a:extLst>
              <a:ext uri="{FF2B5EF4-FFF2-40B4-BE49-F238E27FC236}">
                <a16:creationId xmlns:a16="http://schemas.microsoft.com/office/drawing/2014/main" id="{CC7779DF-0C8E-085E-A360-42C7E0A19210}"/>
              </a:ext>
            </a:extLst>
          </p:cNvPr>
          <p:cNvSpPr/>
          <p:nvPr/>
        </p:nvSpPr>
        <p:spPr>
          <a:xfrm>
            <a:off x="268387" y="370689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8" name="Oval 64">
            <a:extLst>
              <a:ext uri="{FF2B5EF4-FFF2-40B4-BE49-F238E27FC236}">
                <a16:creationId xmlns:a16="http://schemas.microsoft.com/office/drawing/2014/main" id="{58DBB98F-F1CD-8176-4985-CE664E144EA1}"/>
              </a:ext>
            </a:extLst>
          </p:cNvPr>
          <p:cNvSpPr/>
          <p:nvPr/>
        </p:nvSpPr>
        <p:spPr>
          <a:xfrm>
            <a:off x="251999" y="468187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9" name="Oval 64">
            <a:extLst>
              <a:ext uri="{FF2B5EF4-FFF2-40B4-BE49-F238E27FC236}">
                <a16:creationId xmlns:a16="http://schemas.microsoft.com/office/drawing/2014/main" id="{29EEACE6-F4ED-CBF6-E25E-1B32550CE491}"/>
              </a:ext>
            </a:extLst>
          </p:cNvPr>
          <p:cNvSpPr/>
          <p:nvPr/>
        </p:nvSpPr>
        <p:spPr>
          <a:xfrm>
            <a:off x="277726" y="617603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4">
            <a:extLst>
              <a:ext uri="{FF2B5EF4-FFF2-40B4-BE49-F238E27FC236}">
                <a16:creationId xmlns:a16="http://schemas.microsoft.com/office/drawing/2014/main" id="{C578CEBB-B29B-7207-0EF4-C69D2C29A186}"/>
              </a:ext>
            </a:extLst>
          </p:cNvPr>
          <p:cNvSpPr/>
          <p:nvPr/>
        </p:nvSpPr>
        <p:spPr>
          <a:xfrm>
            <a:off x="6847813" y="617603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>
            <a:extLst>
              <a:ext uri="{FF2B5EF4-FFF2-40B4-BE49-F238E27FC236}">
                <a16:creationId xmlns:a16="http://schemas.microsoft.com/office/drawing/2014/main" id="{88446F31-2B51-FD7B-AAE6-64A032F6356C}"/>
              </a:ext>
            </a:extLst>
          </p:cNvPr>
          <p:cNvSpPr/>
          <p:nvPr/>
        </p:nvSpPr>
        <p:spPr>
          <a:xfrm>
            <a:off x="6929627" y="194648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790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lang="en-US" altLang="ko-KR" dirty="0"/>
              <a:t>31. Label Print Option (</a:t>
            </a:r>
            <a:r>
              <a:rPr lang="ko-KR" altLang="en-US" dirty="0"/>
              <a:t>라벨 옵션 설정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421549"/>
              </p:ext>
            </p:extLst>
          </p:nvPr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LBL (LBL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LBL (라벨관리)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Label Print Option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21080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900" dirty="0"/>
                        <a:t>1. </a:t>
                      </a:r>
                      <a:r>
                        <a:rPr lang="en-US" altLang="ko-KR" sz="900" dirty="0"/>
                        <a:t>Select the desired printer using the checkbox.</a:t>
                      </a:r>
                      <a:endParaRPr lang="en" altLang="ko-KR" sz="900" dirty="0"/>
                    </a:p>
                    <a:p>
                      <a:endParaRPr lang="en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2.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[Save]</a:t>
                      </a:r>
                      <a:r>
                        <a:rPr lang="en-US" altLang="ko-KR" sz="900" baseline="0" dirty="0"/>
                        <a:t> button to confirm print selection.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E465F28C-5A22-A2F0-B90C-DF4AA4DBD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26" y="1662010"/>
            <a:ext cx="7335478" cy="5105204"/>
          </a:xfrm>
          <a:prstGeom prst="rect">
            <a:avLst/>
          </a:prstGeom>
        </p:spPr>
      </p:pic>
      <p:sp>
        <p:nvSpPr>
          <p:cNvPr id="4" name="Rectangle 63">
            <a:extLst>
              <a:ext uri="{FF2B5EF4-FFF2-40B4-BE49-F238E27FC236}">
                <a16:creationId xmlns:a16="http://schemas.microsoft.com/office/drawing/2014/main" id="{82D24895-1DD4-6F5C-1D71-37E4574A4FB4}"/>
              </a:ext>
            </a:extLst>
          </p:cNvPr>
          <p:cNvSpPr/>
          <p:nvPr/>
        </p:nvSpPr>
        <p:spPr>
          <a:xfrm>
            <a:off x="2284611" y="3310829"/>
            <a:ext cx="3312368" cy="18002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63">
            <a:extLst>
              <a:ext uri="{FF2B5EF4-FFF2-40B4-BE49-F238E27FC236}">
                <a16:creationId xmlns:a16="http://schemas.microsoft.com/office/drawing/2014/main" id="{60B83C0E-095D-B774-72CD-6CAC405EFC70}"/>
              </a:ext>
            </a:extLst>
          </p:cNvPr>
          <p:cNvSpPr/>
          <p:nvPr/>
        </p:nvSpPr>
        <p:spPr>
          <a:xfrm>
            <a:off x="5074754" y="521587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2149801" y="322082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32. Relabel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LBL (LBL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LBL (라벨관리)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Relabel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21105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1. Enter the barcode to retrieve Lot information.</a:t>
                      </a:r>
                    </a:p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2. Click the </a:t>
                      </a:r>
                      <a:r>
                        <a:rPr lang="en-US" altLang="ko-KR" sz="900" b="1" spc="-20" baseline="0" dirty="0"/>
                        <a:t>[Search]</a:t>
                      </a:r>
                      <a:r>
                        <a:rPr lang="en-US" altLang="ko-KR" sz="900" spc="-20" baseline="0" dirty="0"/>
                        <a:t> button to display the Lot information according to the search conditions.</a:t>
                      </a:r>
                    </a:p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3. Click the </a:t>
                      </a:r>
                      <a:r>
                        <a:rPr lang="en-US" altLang="ko-KR" sz="900" b="1" spc="-20" baseline="0" dirty="0"/>
                        <a:t>[Reset]</a:t>
                      </a:r>
                      <a:r>
                        <a:rPr lang="en-US" altLang="ko-KR" sz="900" spc="-20" baseline="0" dirty="0"/>
                        <a:t> button to clear all fields on the screen.</a:t>
                      </a:r>
                    </a:p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4. Lot information will be displayed according to the search conditions.</a:t>
                      </a:r>
                    </a:p>
                    <a:p>
                      <a:pPr marL="228600" indent="-228600">
                        <a:spcBef>
                          <a:spcPts val="500"/>
                        </a:spcBef>
                        <a:buFont typeface="+mj-ea"/>
                        <a:buAutoNum type="arabicPeriod" startAt="4"/>
                      </a:pPr>
                      <a:endParaRPr lang="en-US" altLang="ko-KR" sz="900" spc="-20" baseline="0" dirty="0"/>
                    </a:p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5. Enter the information for relabeling. The quantity must be less than the existing quantity.</a:t>
                      </a:r>
                    </a:p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6. The Relabel History will be displayed in the grid. Every time a relabel is performed based on the Original Lot ID, it will be saved in the History.</a:t>
                      </a:r>
                    </a:p>
                    <a:p>
                      <a:pPr marL="228600" indent="-228600">
                        <a:spcBef>
                          <a:spcPts val="500"/>
                        </a:spcBef>
                        <a:buFont typeface="+mj-ea"/>
                        <a:buAutoNum type="arabicPeriod" startAt="6"/>
                      </a:pPr>
                      <a:endParaRPr lang="en-US" altLang="ko-KR" sz="900" spc="-20" baseline="0" dirty="0"/>
                    </a:p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7. Click the </a:t>
                      </a:r>
                      <a:r>
                        <a:rPr lang="en-US" altLang="ko-KR" sz="900" b="1" spc="-20" baseline="0" dirty="0"/>
                        <a:t>[Print Option] </a:t>
                      </a:r>
                      <a:r>
                        <a:rPr lang="en-US" altLang="ko-KR" sz="900" spc="-20" baseline="0" dirty="0"/>
                        <a:t>button to change the print settings.</a:t>
                      </a:r>
                    </a:p>
                    <a:p>
                      <a:pPr marL="228600" indent="-228600">
                        <a:spcBef>
                          <a:spcPts val="500"/>
                        </a:spcBef>
                        <a:buFont typeface="+mj-ea"/>
                        <a:buAutoNum type="arabicPeriod" startAt="7"/>
                      </a:pPr>
                      <a:endParaRPr lang="en-US" altLang="ko-KR" sz="900" spc="-20" baseline="0" dirty="0"/>
                    </a:p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8. Click the </a:t>
                      </a:r>
                      <a:r>
                        <a:rPr lang="en-US" altLang="ko-KR" sz="900" b="1" spc="-20" baseline="0" dirty="0"/>
                        <a:t>[Relabel]</a:t>
                      </a:r>
                      <a:r>
                        <a:rPr lang="en-US" altLang="ko-KR" sz="900" spc="-20" baseline="0" dirty="0"/>
                        <a:t> button to proceed with the relabeling. </a:t>
                      </a:r>
                      <a:r>
                        <a:rPr lang="en-US" altLang="ko-KR" sz="900" dirty="0"/>
                        <a:t>The relabeled Lot will be newly registered in the OQC inspection list of the existing Original Lot ID.</a:t>
                      </a:r>
                    </a:p>
                    <a:p>
                      <a:pPr marL="0" indent="0"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9.</a:t>
                      </a:r>
                      <a:r>
                        <a:rPr lang="en-US" altLang="ko-KR" sz="900" dirty="0"/>
                        <a:t>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10" name="Picture 62" descr="screenshot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11" name="Oval 64"/>
          <p:cNvSpPr/>
          <p:nvPr/>
        </p:nvSpPr>
        <p:spPr>
          <a:xfrm>
            <a:off x="6881743" y="615747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Rectangle 63">
            <a:extLst>
              <a:ext uri="{FF2B5EF4-FFF2-40B4-BE49-F238E27FC236}">
                <a16:creationId xmlns:a16="http://schemas.microsoft.com/office/drawing/2014/main" id="{812360E9-EEFF-1057-152C-983978BDF8C6}"/>
              </a:ext>
            </a:extLst>
          </p:cNvPr>
          <p:cNvSpPr/>
          <p:nvPr/>
        </p:nvSpPr>
        <p:spPr>
          <a:xfrm>
            <a:off x="457726" y="4318942"/>
            <a:ext cx="6968774" cy="18266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63"/>
          <p:cNvSpPr/>
          <p:nvPr/>
        </p:nvSpPr>
        <p:spPr>
          <a:xfrm>
            <a:off x="279692" y="222939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4" name="Oval 63"/>
          <p:cNvSpPr/>
          <p:nvPr/>
        </p:nvSpPr>
        <p:spPr>
          <a:xfrm>
            <a:off x="6902577" y="22012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3"/>
          <p:cNvSpPr/>
          <p:nvPr/>
        </p:nvSpPr>
        <p:spPr>
          <a:xfrm>
            <a:off x="6467023" y="22012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3"/>
          <p:cNvSpPr/>
          <p:nvPr/>
        </p:nvSpPr>
        <p:spPr>
          <a:xfrm>
            <a:off x="6902577" y="191207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3"/>
          <p:cNvSpPr/>
          <p:nvPr/>
        </p:nvSpPr>
        <p:spPr>
          <a:xfrm>
            <a:off x="283083" y="257777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3"/>
          <p:cNvSpPr/>
          <p:nvPr/>
        </p:nvSpPr>
        <p:spPr>
          <a:xfrm>
            <a:off x="341999" y="615747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9" name="Oval 63"/>
          <p:cNvSpPr/>
          <p:nvPr/>
        </p:nvSpPr>
        <p:spPr>
          <a:xfrm>
            <a:off x="277726" y="421067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0" name="Rectangle 63">
            <a:extLst>
              <a:ext uri="{FF2B5EF4-FFF2-40B4-BE49-F238E27FC236}">
                <a16:creationId xmlns:a16="http://schemas.microsoft.com/office/drawing/2014/main" id="{812360E9-EEFF-1057-152C-983978BDF8C6}"/>
              </a:ext>
            </a:extLst>
          </p:cNvPr>
          <p:cNvSpPr/>
          <p:nvPr/>
        </p:nvSpPr>
        <p:spPr>
          <a:xfrm>
            <a:off x="457726" y="3460237"/>
            <a:ext cx="6968774" cy="7027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63"/>
          <p:cNvSpPr/>
          <p:nvPr/>
        </p:nvSpPr>
        <p:spPr>
          <a:xfrm>
            <a:off x="283083" y="341835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33. LOT PQC / Patrol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QCM (Quality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PQC (공정검사)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PQC / Patrol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21250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1. Enter the search conditions</a:t>
                      </a:r>
                      <a:r>
                        <a:rPr lang="en-US" altLang="ko-KR" sz="900" baseline="0"/>
                        <a:t> to retrieve </a:t>
                      </a:r>
                    </a:p>
                    <a:p>
                      <a:r>
                        <a:rPr lang="en-US" altLang="ko-KR" sz="900" baseline="0"/>
                        <a:t>IPQA Audit registration list</a:t>
                      </a:r>
                      <a:r>
                        <a:rPr lang="en-US" altLang="ko-KR" sz="900"/>
                        <a:t>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/>
                        <a:t>2. </a:t>
                      </a:r>
                      <a:r>
                        <a:rPr lang="en-US" altLang="ko-KR" sz="900"/>
                        <a:t>Click the </a:t>
                      </a:r>
                      <a:r>
                        <a:rPr lang="en-US" altLang="ko-KR" sz="900" b="1"/>
                        <a:t>[Search]</a:t>
                      </a:r>
                      <a:r>
                        <a:rPr lang="en-US" altLang="ko-KR" sz="900"/>
                        <a:t> button to display the IPQA</a:t>
                      </a:r>
                      <a:r>
                        <a:rPr lang="en-US" altLang="ko-KR" sz="900" baseline="0"/>
                        <a:t> Audit registration</a:t>
                      </a:r>
                      <a:r>
                        <a:rPr lang="en-US" altLang="ko-KR" sz="900"/>
                        <a:t> in the grid according to the search conditions.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3. Click the </a:t>
                      </a:r>
                      <a:r>
                        <a:rPr lang="en-US" altLang="ko-KR" sz="900" b="1"/>
                        <a:t>[Reset]</a:t>
                      </a:r>
                      <a:r>
                        <a:rPr lang="en-US" altLang="ko-KR" sz="90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4. "Attended By" is set based on the logged-in account.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5.</a:t>
                      </a:r>
                      <a:r>
                        <a:rPr lang="en-US" altLang="ko-KR" sz="900" baseline="0"/>
                        <a:t> </a:t>
                      </a:r>
                      <a:r>
                        <a:rPr lang="en-US" altLang="ko-KR" sz="900"/>
                        <a:t>The IPQA Audit order list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6.</a:t>
                      </a:r>
                      <a:r>
                        <a:rPr lang="en-US" altLang="ko-KR" sz="900" baseline="0"/>
                        <a:t> </a:t>
                      </a:r>
                      <a:r>
                        <a:rPr lang="en-US" altLang="ko-KR" sz="900"/>
                        <a:t>The inspection item list of the IPQA Audit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7. Click the </a:t>
                      </a:r>
                      <a:r>
                        <a:rPr lang="en-US" altLang="ko-KR" sz="900" b="1"/>
                        <a:t>[Audit Start]</a:t>
                      </a:r>
                      <a:r>
                        <a:rPr lang="en-US" altLang="ko-KR" sz="900"/>
                        <a:t> button to Start the inspection.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8. Click the </a:t>
                      </a:r>
                      <a:r>
                        <a:rPr lang="en-US" altLang="ko-KR" sz="900" b="1"/>
                        <a:t>[Audit Finish]</a:t>
                      </a:r>
                      <a:r>
                        <a:rPr lang="en-US" altLang="ko-KR" sz="900"/>
                        <a:t> button to End the inspection.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285030" y="214404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4" name="Rectangle 63">
            <a:extLst>
              <a:ext uri="{FF2B5EF4-FFF2-40B4-BE49-F238E27FC236}">
                <a16:creationId xmlns:a16="http://schemas.microsoft.com/office/drawing/2014/main" id="{41D83BD5-35CB-0E9F-E5BE-3A263D02C5CA}"/>
              </a:ext>
            </a:extLst>
          </p:cNvPr>
          <p:cNvSpPr/>
          <p:nvPr/>
        </p:nvSpPr>
        <p:spPr>
          <a:xfrm>
            <a:off x="431813" y="2920088"/>
            <a:ext cx="2313127" cy="32710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63">
            <a:extLst>
              <a:ext uri="{FF2B5EF4-FFF2-40B4-BE49-F238E27FC236}">
                <a16:creationId xmlns:a16="http://schemas.microsoft.com/office/drawing/2014/main" id="{61C2B078-8653-BA60-1044-E7BABC624E3F}"/>
              </a:ext>
            </a:extLst>
          </p:cNvPr>
          <p:cNvSpPr/>
          <p:nvPr/>
        </p:nvSpPr>
        <p:spPr>
          <a:xfrm>
            <a:off x="2861150" y="2922902"/>
            <a:ext cx="4640350" cy="3196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63"/>
          <p:cNvSpPr/>
          <p:nvPr/>
        </p:nvSpPr>
        <p:spPr>
          <a:xfrm>
            <a:off x="7321500" y="242382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2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1" name="Oval 63"/>
          <p:cNvSpPr/>
          <p:nvPr/>
        </p:nvSpPr>
        <p:spPr>
          <a:xfrm>
            <a:off x="6461075" y="244632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3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5782499" y="259461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4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556419" y="327184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5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3004691" y="32423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6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5" name="Oval 63"/>
          <p:cNvSpPr/>
          <p:nvPr/>
        </p:nvSpPr>
        <p:spPr>
          <a:xfrm>
            <a:off x="4869743" y="61191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7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6" name="Oval 63"/>
          <p:cNvSpPr/>
          <p:nvPr/>
        </p:nvSpPr>
        <p:spPr>
          <a:xfrm>
            <a:off x="6128560" y="611257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8</a:t>
            </a:r>
            <a:endParaRPr sz="1000" b="1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000"/>
                        </a:spcBef>
                      </a:pPr>
                      <a:r>
                        <a:rPr lang="en-US" altLang="ko-KR" sz="900" spc="-20" baseline="0" dirty="0"/>
                        <a:t>1. </a:t>
                      </a:r>
                      <a:r>
                        <a:rPr lang="en-US" altLang="ko-KR" sz="900" dirty="0"/>
                        <a:t>Enter the search conditions</a:t>
                      </a:r>
                      <a:r>
                        <a:rPr lang="en-US" altLang="ko-KR" sz="900" baseline="0" dirty="0"/>
                        <a:t> to retrieve OQC Batch list. </a:t>
                      </a:r>
                    </a:p>
                    <a:p>
                      <a:pPr marL="0" inden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2. Click the </a:t>
                      </a:r>
                      <a:r>
                        <a:rPr lang="en-US" altLang="ko-KR" sz="900" b="1" spc="-20" baseline="0" dirty="0"/>
                        <a:t>[Search]</a:t>
                      </a:r>
                      <a:r>
                        <a:rPr lang="en-US" altLang="ko-KR" sz="900" spc="-20" baseline="0" dirty="0"/>
                        <a:t> button to display the OQC information according to the search conditions.</a:t>
                      </a:r>
                    </a:p>
                    <a:p>
                      <a:pPr marL="0" inden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3. Click the </a:t>
                      </a:r>
                      <a:r>
                        <a:rPr lang="en-US" altLang="ko-KR" sz="900" b="1" spc="-20" baseline="0" dirty="0"/>
                        <a:t>[Reset]</a:t>
                      </a:r>
                      <a:r>
                        <a:rPr lang="en-US" altLang="ko-KR" sz="900" spc="-20" baseline="0" dirty="0"/>
                        <a:t> button to clear all fields on the screen.</a:t>
                      </a:r>
                    </a:p>
                    <a:p>
                      <a:pPr>
                        <a:lnSpc>
                          <a:spcPct val="90000"/>
                        </a:lnSpc>
                        <a:spcBef>
                          <a:spcPts val="1000"/>
                        </a:spcBef>
                      </a:pPr>
                      <a:r>
                        <a:rPr lang="en-US" altLang="ko-KR" sz="900" dirty="0"/>
                        <a:t>4. The OQC</a:t>
                      </a:r>
                      <a:r>
                        <a:rPr lang="en-US" altLang="ko-KR" sz="900" baseline="0" dirty="0"/>
                        <a:t> Batch</a:t>
                      </a:r>
                      <a:r>
                        <a:rPr lang="en-US" altLang="ko-KR" sz="900" dirty="0"/>
                        <a:t> list will be displayed in the grid,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including details.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5.</a:t>
                      </a:r>
                      <a:r>
                        <a:rPr lang="en-US" altLang="ko-KR" sz="900" dirty="0">
                          <a:effectLst/>
                        </a:rPr>
                        <a:t> Click the</a:t>
                      </a:r>
                      <a:r>
                        <a:rPr lang="en-US" altLang="ko-KR" sz="900" b="1" dirty="0">
                          <a:effectLst/>
                        </a:rPr>
                        <a:t> [Scan to WH]</a:t>
                      </a:r>
                      <a:r>
                        <a:rPr lang="en-US" altLang="ko-KR" sz="900" dirty="0">
                          <a:effectLst/>
                        </a:rPr>
                        <a:t> button to redirect to the Scan to Warehouse screen.</a:t>
                      </a:r>
                    </a:p>
                    <a:p>
                      <a:pPr rtl="0">
                        <a:lnSpc>
                          <a:spcPct val="90000"/>
                        </a:lnSpc>
                        <a:spcBef>
                          <a:spcPts val="1000"/>
                        </a:spcBef>
                      </a:pPr>
                      <a:r>
                        <a:rPr lang="en-US" altLang="ko-KR" sz="900" dirty="0"/>
                        <a:t>6. </a:t>
                      </a:r>
                      <a:r>
                        <a:rPr lang="en-US" altLang="ko-KR" sz="900" dirty="0">
                          <a:effectLst/>
                        </a:rPr>
                        <a:t>Click the </a:t>
                      </a:r>
                      <a:r>
                        <a:rPr lang="en-US" altLang="ko-KR" sz="900" b="1" dirty="0">
                          <a:effectLst/>
                        </a:rPr>
                        <a:t>[PAT] </a:t>
                      </a:r>
                      <a:r>
                        <a:rPr lang="en-US" altLang="ko-KR" sz="900" dirty="0">
                          <a:effectLst/>
                        </a:rPr>
                        <a:t>button to redirect to the Lot Judgment screen, where you can register and make judgments on the PAT list.</a:t>
                      </a:r>
                      <a:endParaRPr lang="en-US" altLang="ko-KR" sz="900" baseline="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7.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>
                          <a:effectLst/>
                        </a:rPr>
                        <a:t>Click the</a:t>
                      </a:r>
                      <a:r>
                        <a:rPr lang="en-US" altLang="ko-KR" sz="900" b="1" dirty="0">
                          <a:effectLst/>
                        </a:rPr>
                        <a:t> [Relabel] </a:t>
                      </a:r>
                      <a:r>
                        <a:rPr lang="en-US" altLang="ko-KR" sz="900" dirty="0">
                          <a:effectLst/>
                        </a:rPr>
                        <a:t>button to redirect to the Relabel.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8.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[VI] </a:t>
                      </a:r>
                      <a:r>
                        <a:rPr lang="en-US" altLang="ko-KR" sz="900" dirty="0"/>
                        <a:t>button to redirect to the Lot Judgment screen with the default test set to VI.</a:t>
                      </a:r>
                    </a:p>
                    <a:p>
                      <a: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9.</a:t>
                      </a:r>
                      <a:r>
                        <a:rPr lang="en-US" altLang="ko-KR" sz="900" dirty="0"/>
                        <a:t> Click the </a:t>
                      </a:r>
                      <a:r>
                        <a:rPr lang="en-US" altLang="ko-KR" sz="900" b="1" dirty="0"/>
                        <a:t>[EL Check]</a:t>
                      </a:r>
                      <a:r>
                        <a:rPr lang="en-US" altLang="ko-KR" sz="900" dirty="0"/>
                        <a:t> button to redirect to the Lot Judgment screen with the default test set to </a:t>
                      </a:r>
                      <a:r>
                        <a:rPr lang="en-US" altLang="ko-KR" sz="900" b="1" dirty="0"/>
                        <a:t>EL Check</a:t>
                      </a:r>
                      <a:r>
                        <a:rPr lang="en-US" altLang="ko-KR" sz="900" dirty="0"/>
                        <a:t>.</a:t>
                      </a:r>
                      <a:r>
                        <a:rPr lang="en-US" altLang="ko-KR" sz="900" spc="-20" baseline="0" dirty="0"/>
                        <a:t>.</a:t>
                      </a:r>
                    </a:p>
                    <a:p>
                      <a: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10.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[Detail]</a:t>
                      </a:r>
                      <a:r>
                        <a:rPr lang="en-US" altLang="ko-KR" sz="900" dirty="0"/>
                        <a:t> button to redirect to the Lot detail list for that Batch.</a:t>
                      </a:r>
                    </a:p>
                    <a:p>
                      <a: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+mj-ea"/>
                        <a:buNone/>
                      </a:pPr>
                      <a:r>
                        <a:rPr lang="en-US" altLang="ko-KR" sz="900" dirty="0"/>
                        <a:t>11.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[Release]</a:t>
                      </a:r>
                      <a:r>
                        <a:rPr lang="en-US" altLang="ko-KR" sz="900" dirty="0"/>
                        <a:t> button to release the Batch whose final test result is AVAILABLE.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12.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77" y="1698060"/>
            <a:ext cx="7272690" cy="50336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34. LOT OQC </a:t>
            </a:r>
            <a:r>
              <a:rPr dirty="0" err="1"/>
              <a:t>Status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QCM (Quality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OQC (제품검사)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OQC 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21280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361788" y="3264400"/>
            <a:ext cx="7107399" cy="2566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948247" y="288508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934500" y="603074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11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4"/>
          <p:cNvSpPr/>
          <p:nvPr/>
        </p:nvSpPr>
        <p:spPr>
          <a:xfrm>
            <a:off x="7024500" y="200683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6461075" y="288508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303735" y="234922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3" name="Oval 64"/>
          <p:cNvSpPr/>
          <p:nvPr/>
        </p:nvSpPr>
        <p:spPr>
          <a:xfrm>
            <a:off x="299611" y="312986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268387" y="603668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1015330" y="603668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1527204" y="603074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9" name="Oval 64"/>
          <p:cNvSpPr/>
          <p:nvPr/>
        </p:nvSpPr>
        <p:spPr>
          <a:xfrm>
            <a:off x="3427618" y="603074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  <a:r>
              <a:rPr lang="en-US" sz="1000" b="1" dirty="0">
                <a:solidFill>
                  <a:srgbClr val="004080"/>
                </a:solidFill>
              </a:rPr>
              <a:t>0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2285575" y="603882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4"/>
          <p:cNvSpPr/>
          <p:nvPr/>
        </p:nvSpPr>
        <p:spPr>
          <a:xfrm>
            <a:off x="2846529" y="603919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3911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493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000"/>
                        </a:spcBef>
                      </a:pPr>
                      <a:r>
                        <a:rPr lang="en-US" altLang="ko-KR" sz="900" spc="-20" baseline="0" dirty="0"/>
                        <a:t>13. </a:t>
                      </a:r>
                      <a:r>
                        <a:rPr lang="en-US" altLang="ko-KR" sz="900" dirty="0"/>
                        <a:t>Basic information based on the Timeframe Batch is retrieved.</a:t>
                      </a:r>
                    </a:p>
                    <a:p>
                      <a:pPr>
                        <a:lnSpc>
                          <a:spcPct val="90000"/>
                        </a:lnSpc>
                        <a:spcBef>
                          <a:spcPts val="1000"/>
                        </a:spcBef>
                      </a:pPr>
                      <a:r>
                        <a:rPr lang="en-US" altLang="ko-KR" sz="900" spc="-20" baseline="0" dirty="0"/>
                        <a:t>14. </a:t>
                      </a:r>
                      <a:r>
                        <a:rPr lang="en-US" altLang="ko-KR" sz="900" dirty="0"/>
                        <a:t>The LOT List based on the </a:t>
                      </a:r>
                      <a:r>
                        <a:rPr lang="en-US" altLang="ko-KR" sz="900" dirty="0" err="1"/>
                        <a:t>Timefram</a:t>
                      </a:r>
                      <a:r>
                        <a:rPr lang="en-US" altLang="ko-KR" sz="900" dirty="0"/>
                        <a:t> Batch is retrieved.</a:t>
                      </a:r>
                      <a:endParaRPr lang="en-US" altLang="ko-KR" sz="900" spc="-20" baseline="0" dirty="0"/>
                    </a:p>
                    <a:p>
                      <a:pPr>
                        <a:lnSpc>
                          <a:spcPct val="90000"/>
                        </a:lnSpc>
                        <a:spcBef>
                          <a:spcPts val="1000"/>
                        </a:spcBef>
                      </a:pPr>
                      <a:r>
                        <a:rPr lang="en-US" altLang="ko-KR" sz="900" dirty="0"/>
                        <a:t>15.</a:t>
                      </a:r>
                      <a:r>
                        <a:rPr lang="en-US" altLang="ko-KR" sz="900" dirty="0">
                          <a:effectLst/>
                        </a:rPr>
                        <a:t>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[Block]</a:t>
                      </a:r>
                      <a:r>
                        <a:rPr lang="en-US" altLang="ko-KR" sz="900" dirty="0"/>
                        <a:t> button to send the checked items from the Lot List to the 'Block (LOT Hold)' screen.</a:t>
                      </a:r>
                      <a:endParaRPr lang="en-US" altLang="ko-KR" sz="900" dirty="0">
                        <a:effectLst/>
                      </a:endParaRPr>
                    </a:p>
                    <a:p>
                      <a:pPr>
                        <a:lnSpc>
                          <a:spcPct val="90000"/>
                        </a:lnSpc>
                        <a:spcBef>
                          <a:spcPts val="1000"/>
                        </a:spcBef>
                      </a:pPr>
                      <a:r>
                        <a:rPr lang="en-US" altLang="ko-KR" sz="900" dirty="0"/>
                        <a:t>16. Click the </a:t>
                      </a:r>
                      <a:r>
                        <a:rPr lang="en-US" altLang="ko-KR" sz="900" b="1" dirty="0"/>
                        <a:t>[Unblock]</a:t>
                      </a:r>
                      <a:r>
                        <a:rPr lang="en-US" altLang="ko-KR" sz="900" dirty="0"/>
                        <a:t> button to send the checked items from the Lot List to the 'Unblock (LOT Release)' screen.</a:t>
                      </a:r>
                      <a:endParaRPr lang="en-US" altLang="ko-KR" sz="900" baseline="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17.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[PAT]</a:t>
                      </a:r>
                      <a:r>
                        <a:rPr lang="en-US" altLang="ko-KR" sz="900" dirty="0"/>
                        <a:t> button to send the checked items from the Lot List for PAT Type creation. If no items are checked, this will only navigate to the screen to create a PAT list.</a:t>
                      </a:r>
                      <a:endParaRPr lang="en-US" altLang="ko-KR" sz="900" dirty="0">
                        <a:effectLst/>
                      </a:endParaRP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18. Click the </a:t>
                      </a:r>
                      <a:r>
                        <a:rPr lang="en-US" altLang="ko-KR" sz="900" b="1" dirty="0">
                          <a:effectLst/>
                        </a:rPr>
                        <a:t>[Relabel]</a:t>
                      </a:r>
                      <a:r>
                        <a:rPr lang="en-US" altLang="ko-KR" sz="900" dirty="0">
                          <a:effectLst/>
                        </a:rPr>
                        <a:t> button to send the selected LOT's information to the 'Relabel' screen. This action references only the selected row's LOT information, regardless of the checked list.</a:t>
                      </a:r>
                      <a:endParaRPr lang="en-US" altLang="ko-KR" sz="90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19.</a:t>
                      </a:r>
                      <a:r>
                        <a:rPr lang="en-US" altLang="ko-KR" sz="900" dirty="0"/>
                        <a:t> Click the </a:t>
                      </a:r>
                      <a:r>
                        <a:rPr lang="en-US" altLang="ko-KR" sz="900" b="1" dirty="0"/>
                        <a:t>[VI] </a:t>
                      </a:r>
                      <a:r>
                        <a:rPr lang="en-US" altLang="ko-KR" sz="900" dirty="0"/>
                        <a:t>button to redirect to the Lot Judgment screen with the default test set to VI.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If checked items exist in the LOT List, they are added to the VI inspection list. (If an item already exists, its existing value is retrieved.)</a:t>
                      </a:r>
                      <a:endParaRPr lang="en-US" altLang="ko-KR" sz="900" spc="-20" baseline="0" dirty="0"/>
                    </a:p>
                    <a:p>
                      <a: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20.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[EL Check]</a:t>
                      </a:r>
                      <a:r>
                        <a:rPr lang="en-US" altLang="ko-KR" sz="900" dirty="0"/>
                        <a:t> button to redirect to the Lot Judgment screen with the default test set to </a:t>
                      </a:r>
                      <a:r>
                        <a:rPr lang="en-US" altLang="ko-KR" sz="900" b="1" dirty="0"/>
                        <a:t>EL Check</a:t>
                      </a:r>
                      <a:r>
                        <a:rPr lang="en-US" altLang="ko-KR" sz="900" dirty="0"/>
                        <a:t>.</a:t>
                      </a:r>
                      <a:r>
                        <a:rPr lang="en-US" altLang="ko-KR" sz="900" spc="-20" baseline="0" dirty="0"/>
                        <a:t>. </a:t>
                      </a:r>
                      <a:r>
                        <a:rPr lang="en-US" altLang="ko-KR" sz="900" dirty="0"/>
                        <a:t>If checked items exist in the LOT List, they are added to the VI inspection list. (If an item already exists, its existing value is retrieved.)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21.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97" y="1661540"/>
            <a:ext cx="7268752" cy="51056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34</a:t>
            </a:r>
            <a:r>
              <a:rPr lang="en-US" dirty="0"/>
              <a:t>-1</a:t>
            </a:r>
            <a:r>
              <a:rPr dirty="0"/>
              <a:t>. LOT OQC </a:t>
            </a:r>
            <a:r>
              <a:rPr dirty="0" err="1"/>
              <a:t>Status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QCM (Quality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OQC (제품검사)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OQC 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21280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361788" y="2878782"/>
            <a:ext cx="7107399" cy="2952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965131" y="196335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21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268387" y="603668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937035" y="603668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1527204" y="603074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17	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9" name="Oval 64"/>
          <p:cNvSpPr/>
          <p:nvPr/>
        </p:nvSpPr>
        <p:spPr>
          <a:xfrm>
            <a:off x="3313352" y="602916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20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2154655" y="603919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4"/>
          <p:cNvSpPr/>
          <p:nvPr/>
        </p:nvSpPr>
        <p:spPr>
          <a:xfrm>
            <a:off x="2710167" y="603074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2" name="Oval 64"/>
          <p:cNvSpPr/>
          <p:nvPr/>
        </p:nvSpPr>
        <p:spPr>
          <a:xfrm>
            <a:off x="283934" y="223825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3" name="Oval 64"/>
          <p:cNvSpPr/>
          <p:nvPr/>
        </p:nvSpPr>
        <p:spPr>
          <a:xfrm>
            <a:off x="280030" y="276619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14</a:t>
            </a:r>
            <a:endParaRPr sz="1000" b="1" dirty="0">
              <a:solidFill>
                <a:srgbClr val="004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2985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35. LOT OQC </a:t>
            </a:r>
            <a:r>
              <a:rPr dirty="0" err="1"/>
              <a:t>Judgement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QCM (Quality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OQC (제품검사)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OQC Judgement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21285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1. Enter the barcode to retrieve OQC Batch information. </a:t>
                      </a:r>
                      <a:r>
                        <a:rPr lang="en-US" altLang="ko-KR" sz="900" dirty="0"/>
                        <a:t>If the OQC Batch Information has already been retrieved, only Lot IDs included in that Batch can be retrieved. The retrieved Lot information will be added to (4), and if a judgment is made for that Lot, that information will automatically be displayed in (4) when the Batch information is retrieved.</a:t>
                      </a:r>
                      <a:endParaRPr lang="en-US" altLang="ko-KR" sz="900" spc="-20" baseline="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2. Click the </a:t>
                      </a:r>
                      <a:r>
                        <a:rPr lang="en-US" altLang="ko-KR" sz="900" b="1" spc="-20" baseline="0" dirty="0"/>
                        <a:t>[Reset]</a:t>
                      </a:r>
                      <a:r>
                        <a:rPr lang="en-US" altLang="ko-KR" sz="900" spc="-20" baseline="0" dirty="0"/>
                        <a:t> button to clear all fields on the screen.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3. </a:t>
                      </a:r>
                      <a:r>
                        <a:rPr lang="en-US" altLang="ko-KR" sz="900" dirty="0">
                          <a:effectLst/>
                        </a:rPr>
                        <a:t>Click the </a:t>
                      </a:r>
                      <a:r>
                        <a:rPr lang="en-US" altLang="ko-KR" sz="900" b="1" dirty="0">
                          <a:effectLst/>
                        </a:rPr>
                        <a:t>[Refresh]</a:t>
                      </a:r>
                      <a:r>
                        <a:rPr lang="en-US" altLang="ko-KR" sz="900" dirty="0">
                          <a:effectLst/>
                        </a:rPr>
                        <a:t> button to reset, leaving only the saved information for the Batch.</a:t>
                      </a:r>
                      <a:endParaRPr lang="en-US" altLang="ko-KR" sz="900" spc="-20" baseline="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4. </a:t>
                      </a:r>
                      <a:r>
                        <a:rPr lang="en-US" altLang="ko-KR" sz="900" dirty="0">
                          <a:effectLst/>
                        </a:rPr>
                        <a:t>The list of Lots inspected in the Batch will be displayed. </a:t>
                      </a:r>
                      <a:r>
                        <a:rPr lang="en-US" altLang="ko-KR" sz="900" dirty="0"/>
                        <a:t>Retrieved LOT information is not saved to the inspection list until it is processed by </a:t>
                      </a:r>
                      <a:r>
                        <a:rPr lang="en-US" altLang="ko-KR" sz="900" b="1" dirty="0"/>
                        <a:t>[</a:t>
                      </a:r>
                      <a:r>
                        <a:rPr lang="en-US" altLang="ko-KR" sz="900" b="1" dirty="0" err="1"/>
                        <a:t>Jugde</a:t>
                      </a:r>
                      <a:r>
                        <a:rPr lang="en-US" altLang="ko-KR" sz="900" b="1" dirty="0"/>
                        <a:t>]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dirty="0">
                        <a:effectLst/>
                      </a:endParaRP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5. </a:t>
                      </a:r>
                      <a:r>
                        <a:rPr lang="en-US" altLang="ko-KR" sz="900" dirty="0"/>
                        <a:t>You can select whether to perform the VI (Visual Inspection) test or the EL Check test. If you change this radio button selection, you must re-select the Lot in (4).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4" name="Rectangle 63">
            <a:extLst>
              <a:ext uri="{FF2B5EF4-FFF2-40B4-BE49-F238E27FC236}">
                <a16:creationId xmlns:a16="http://schemas.microsoft.com/office/drawing/2014/main" id="{C182E0E9-D498-0DE5-391D-300F245CD2CB}"/>
              </a:ext>
            </a:extLst>
          </p:cNvPr>
          <p:cNvSpPr/>
          <p:nvPr/>
        </p:nvSpPr>
        <p:spPr>
          <a:xfrm>
            <a:off x="435750" y="3567848"/>
            <a:ext cx="3433038" cy="2911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64"/>
          <p:cNvSpPr/>
          <p:nvPr/>
        </p:nvSpPr>
        <p:spPr>
          <a:xfrm>
            <a:off x="340395" y="22667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1" name="Oval 64"/>
          <p:cNvSpPr/>
          <p:nvPr/>
        </p:nvSpPr>
        <p:spPr>
          <a:xfrm>
            <a:off x="6461075" y="218596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6934500" y="218596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368446" y="349999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3868787" y="335103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490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35</a:t>
            </a:r>
            <a:r>
              <a:rPr lang="en-US" dirty="0"/>
              <a:t>-1</a:t>
            </a:r>
            <a:r>
              <a:rPr dirty="0"/>
              <a:t>. LOT OQC </a:t>
            </a:r>
            <a:r>
              <a:rPr dirty="0" err="1"/>
              <a:t>Judgement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QCM (Quality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OQC (제품검사)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OQC Judgement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21285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6.</a:t>
                      </a:r>
                      <a:r>
                        <a:rPr lang="en-US" altLang="ko-KR" sz="900" dirty="0"/>
                        <a:t> If an issue occurs, enter the Reason Code and Quantity. The Reason Code </a:t>
                      </a:r>
                      <a:r>
                        <a:rPr lang="en-US" altLang="ko-KR" sz="900" b="1" dirty="0"/>
                        <a:t>SP00 (Breakage due to handling)</a:t>
                      </a:r>
                      <a:r>
                        <a:rPr lang="en-US" altLang="ko-KR" sz="900" dirty="0"/>
                        <a:t> does not affect the result.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7.</a:t>
                      </a:r>
                      <a:r>
                        <a:rPr lang="en-US" altLang="ko-KR" sz="900" dirty="0">
                          <a:effectLst/>
                        </a:rPr>
                        <a:t> Click the </a:t>
                      </a:r>
                      <a:r>
                        <a:rPr lang="en-US" altLang="ko-KR" sz="900" b="1" dirty="0">
                          <a:effectLst/>
                        </a:rPr>
                        <a:t>[Add]</a:t>
                      </a:r>
                      <a:r>
                        <a:rPr lang="en-US" altLang="ko-KR" sz="900" dirty="0">
                          <a:effectLst/>
                        </a:rPr>
                        <a:t> button to add the selected Reason Code and Quantity to the Grid. </a:t>
                      </a:r>
                      <a:r>
                        <a:rPr lang="en-US" altLang="ko-KR" sz="900" dirty="0"/>
                        <a:t>The changes will not be saved until </a:t>
                      </a:r>
                      <a:r>
                        <a:rPr lang="en-US" altLang="ko-KR" sz="900" b="1" dirty="0"/>
                        <a:t>[Judge]</a:t>
                      </a:r>
                      <a:r>
                        <a:rPr lang="en-US" altLang="ko-KR" sz="900" dirty="0"/>
                        <a:t> is clicked.</a:t>
                      </a:r>
                      <a:endParaRPr lang="en-US" altLang="ko-KR" sz="900" dirty="0">
                        <a:effectLst/>
                      </a:endParaRP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8.</a:t>
                      </a:r>
                      <a:r>
                        <a:rPr lang="en-US" altLang="ko-KR" sz="900" dirty="0"/>
                        <a:t> Click the </a:t>
                      </a:r>
                      <a:r>
                        <a:rPr lang="en-US" altLang="ko-KR" sz="900" b="1" dirty="0"/>
                        <a:t>[Delete]</a:t>
                      </a:r>
                      <a:r>
                        <a:rPr lang="en-US" altLang="ko-KR" sz="900" dirty="0"/>
                        <a:t> button to remove the checked items from the grid. The changes will not be saved until </a:t>
                      </a:r>
                      <a:r>
                        <a:rPr lang="en-US" altLang="ko-KR" sz="900" b="1" dirty="0"/>
                        <a:t>[Judge]</a:t>
                      </a:r>
                      <a:r>
                        <a:rPr lang="en-US" altLang="ko-KR" sz="900" dirty="0"/>
                        <a:t> is clicked.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9. Reason Codes and Quantities are added to or removed from the Grid using the </a:t>
                      </a:r>
                      <a:r>
                        <a:rPr lang="en-US" altLang="ko-KR" sz="900" b="1" dirty="0"/>
                        <a:t>[Add]</a:t>
                      </a:r>
                      <a:r>
                        <a:rPr lang="en-US" altLang="ko-KR" sz="900" dirty="0"/>
                        <a:t> or </a:t>
                      </a:r>
                      <a:r>
                        <a:rPr lang="en-US" altLang="ko-KR" sz="900" b="1" dirty="0"/>
                        <a:t>[Delete]</a:t>
                      </a:r>
                      <a:r>
                        <a:rPr lang="en-US" altLang="ko-KR" sz="900" dirty="0"/>
                        <a:t> buttons. When a Lot is selected in the LOT OQC Batch Grid, if there is an existing saved Reason Code List, it will be displayed in the Grid.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</a:rPr>
                        <a:t>10. Click the </a:t>
                      </a:r>
                      <a:r>
                        <a:rPr lang="en-US" altLang="ko-KR" sz="900" b="1" dirty="0">
                          <a:effectLst/>
                        </a:rPr>
                        <a:t>[Judge]</a:t>
                      </a:r>
                      <a:r>
                        <a:rPr lang="en-US" altLang="ko-KR" sz="900" dirty="0">
                          <a:effectLst/>
                        </a:rPr>
                        <a:t> button to save the added Reason Code and Quantity and determine the Test result based on those values.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11.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6893123" y="608315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10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4"/>
          <p:cNvSpPr/>
          <p:nvPr/>
        </p:nvSpPr>
        <p:spPr>
          <a:xfrm>
            <a:off x="6934500" y="194267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  <a:r>
              <a:rPr lang="en-US" sz="1000" b="1" dirty="0">
                <a:solidFill>
                  <a:srgbClr val="004080"/>
                </a:solidFill>
              </a:rPr>
              <a:t>1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3865223" y="359888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Rectangle 63">
            <a:extLst>
              <a:ext uri="{FF2B5EF4-FFF2-40B4-BE49-F238E27FC236}">
                <a16:creationId xmlns:a16="http://schemas.microsoft.com/office/drawing/2014/main" id="{C182E0E9-D498-0DE5-391D-300F245CD2CB}"/>
              </a:ext>
            </a:extLst>
          </p:cNvPr>
          <p:cNvSpPr/>
          <p:nvPr/>
        </p:nvSpPr>
        <p:spPr>
          <a:xfrm>
            <a:off x="3955223" y="4049486"/>
            <a:ext cx="3513964" cy="20336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64"/>
          <p:cNvSpPr/>
          <p:nvPr/>
        </p:nvSpPr>
        <p:spPr>
          <a:xfrm>
            <a:off x="6437780" y="375784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0" name="Oval 64"/>
          <p:cNvSpPr/>
          <p:nvPr/>
        </p:nvSpPr>
        <p:spPr>
          <a:xfrm>
            <a:off x="6934500" y="376411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1" name="Oval 63"/>
          <p:cNvSpPr/>
          <p:nvPr/>
        </p:nvSpPr>
        <p:spPr>
          <a:xfrm>
            <a:off x="3865223" y="395761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36. Equipment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RAS (Equipment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Equip Mgt. (설비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Equipment 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21460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1. Enter the search conditions</a:t>
                      </a:r>
                      <a:r>
                        <a:rPr lang="en-US" altLang="ko-KR" sz="900" baseline="0" dirty="0"/>
                        <a:t> to retrieve </a:t>
                      </a:r>
                    </a:p>
                    <a:p>
                      <a:r>
                        <a:rPr lang="en-US" altLang="ko-KR" sz="900" baseline="0" dirty="0"/>
                        <a:t>Equipment status list. 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</a:t>
                      </a:r>
                      <a:r>
                        <a:rPr lang="en-US" altLang="ko-KR" sz="900" dirty="0"/>
                        <a:t> button to display the Equipment status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r>
                        <a:rPr lang="en-US" altLang="ko-KR" sz="900" dirty="0"/>
                        <a:t>4. The equipment</a:t>
                      </a:r>
                      <a:r>
                        <a:rPr lang="en-US" altLang="ko-KR" sz="900" baseline="0" dirty="0"/>
                        <a:t> status</a:t>
                      </a:r>
                      <a:r>
                        <a:rPr lang="en-US" altLang="ko-KR" sz="900" dirty="0"/>
                        <a:t> list will be displayed in the grid,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including details.</a:t>
                      </a:r>
                    </a:p>
                    <a:p>
                      <a:endParaRPr lang="en-US" altLang="ko-KR" sz="900" dirty="0"/>
                    </a:p>
                    <a:p>
                      <a:r>
                        <a:rPr lang="en-US" altLang="ko-KR" sz="900" dirty="0"/>
                        <a:t>5.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[E10 Status]</a:t>
                      </a:r>
                      <a:r>
                        <a:rPr lang="en-US" altLang="ko-KR" sz="900" baseline="0" dirty="0"/>
                        <a:t> button to redirect to selected equipment’s E10 Status OI.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6.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56686" y="3259800"/>
            <a:ext cx="7012501" cy="27153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94195" y="22667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9" name="Oval 64"/>
          <p:cNvSpPr/>
          <p:nvPr/>
        </p:nvSpPr>
        <p:spPr>
          <a:xfrm>
            <a:off x="6965131" y="25187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4"/>
          <p:cNvSpPr/>
          <p:nvPr/>
        </p:nvSpPr>
        <p:spPr>
          <a:xfrm>
            <a:off x="6564439" y="251874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294195" y="313114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6875131" y="193434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456686" y="60816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37. Equip Event Process (설비 이벤트)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RAS (Equipment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Carrier Mgt. (대차관리)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Equip Event Process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21465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1. Select the equipment type (configured as Level 3).</a:t>
                      </a:r>
                    </a:p>
                    <a:p>
                      <a:r>
                        <a:rPr lang="en-US" altLang="ko-KR" sz="900" dirty="0"/>
                        <a:t>The events defined for the selected type will be available for selection.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Equipment is classified by Scan Check — either through CodeView or manual input.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After selecting the equipment, click the </a:t>
                      </a:r>
                      <a:r>
                        <a:rPr lang="en-US" altLang="ko-KR" sz="900" b="1" dirty="0"/>
                        <a:t>[Search]</a:t>
                      </a:r>
                      <a:r>
                        <a:rPr lang="en-US" altLang="ko-KR" sz="900" dirty="0"/>
                        <a:t> button to retrieve the related equipment items.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r>
                        <a:rPr lang="en-US" altLang="ko-KR" sz="900" dirty="0"/>
                        <a:t>5. The retrieved equipment items will be displayed in this section.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6. Event input items will be displayed in the corresponding section.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r>
                        <a:rPr lang="en-US" altLang="ko-KR" sz="900" dirty="0"/>
                        <a:t>7. </a:t>
                      </a:r>
                      <a:r>
                        <a:rPr lang="en-US" altLang="ko-KR" sz="900" baseline="0" dirty="0"/>
                        <a:t>Click the </a:t>
                      </a:r>
                      <a:r>
                        <a:rPr lang="en-US" altLang="ko-KR" sz="900" b="1" baseline="0" dirty="0"/>
                        <a:t>[Tran]</a:t>
                      </a:r>
                      <a:r>
                        <a:rPr lang="en-US" altLang="ko-KR" sz="900" baseline="0" dirty="0"/>
                        <a:t> button to trigger the selected event for the retrieved equipment.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8.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5" name="Oval 64"/>
          <p:cNvSpPr/>
          <p:nvPr/>
        </p:nvSpPr>
        <p:spPr>
          <a:xfrm>
            <a:off x="6814308" y="619921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9" name="Rectangle 63"/>
          <p:cNvSpPr/>
          <p:nvPr/>
        </p:nvSpPr>
        <p:spPr>
          <a:xfrm>
            <a:off x="456686" y="3187792"/>
            <a:ext cx="7012501" cy="13471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63"/>
          <p:cNvSpPr/>
          <p:nvPr/>
        </p:nvSpPr>
        <p:spPr>
          <a:xfrm>
            <a:off x="457752" y="4785842"/>
            <a:ext cx="7012501" cy="1359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64"/>
          <p:cNvSpPr/>
          <p:nvPr/>
        </p:nvSpPr>
        <p:spPr>
          <a:xfrm>
            <a:off x="294195" y="22667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2" name="Oval 64"/>
          <p:cNvSpPr/>
          <p:nvPr/>
        </p:nvSpPr>
        <p:spPr>
          <a:xfrm>
            <a:off x="6875131" y="193434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294195" y="314385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297586" y="272208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6568262" y="266940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296005" y="473992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6954166" y="266992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38. Carrier Registration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RAS (Equipment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Carrier Mgt. (대차관리)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Carrier Registration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21535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1. Enter the required information for carrier creation.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r>
                        <a:rPr lang="en-US" altLang="ko-KR" sz="900" dirty="0"/>
                        <a:t>2. When the carrier is successfully saved, its RFID information will be retrieved and displayed.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[Save]</a:t>
                      </a:r>
                      <a:r>
                        <a:rPr lang="en-US" altLang="ko-KR" sz="900" dirty="0"/>
                        <a:t> button to create or update the carrier based on the entered information.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9" name="Oval 64"/>
          <p:cNvSpPr/>
          <p:nvPr/>
        </p:nvSpPr>
        <p:spPr>
          <a:xfrm>
            <a:off x="294195" y="22667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0" name="Oval 64"/>
          <p:cNvSpPr/>
          <p:nvPr/>
        </p:nvSpPr>
        <p:spPr>
          <a:xfrm>
            <a:off x="6875131" y="193434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297586" y="327484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6814308" y="619921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39. Carrier RFID Tagging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RAS (Equipment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Carrier Mgt. (대차관리)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Carrier RFID Tagging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21538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1. Required option that must be selected to enable communication with the Brooks equipment.</a:t>
                      </a:r>
                    </a:p>
                    <a:p>
                      <a:endParaRPr lang="en-US" altLang="ko-KR" sz="700" dirty="0"/>
                    </a:p>
                    <a:p>
                      <a:r>
                        <a:rPr lang="en-US" altLang="ko-KR" sz="900" dirty="0"/>
                        <a:t>2. Click the </a:t>
                      </a:r>
                      <a:r>
                        <a:rPr lang="en-US" altLang="ko-KR" sz="900" b="1" dirty="0"/>
                        <a:t>[Read]</a:t>
                      </a:r>
                      <a:r>
                        <a:rPr lang="en-US" altLang="ko-KR" sz="900" dirty="0"/>
                        <a:t> button to retrieve Tag information from the equipment.</a:t>
                      </a:r>
                    </a:p>
                    <a:p>
                      <a:endParaRPr lang="en-US" altLang="ko-KR" sz="700" dirty="0"/>
                    </a:p>
                    <a:p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[Clear]</a:t>
                      </a:r>
                      <a:r>
                        <a:rPr lang="en-US" altLang="ko-KR" sz="900" dirty="0"/>
                        <a:t> button to reset all field data in the Process Information section.</a:t>
                      </a:r>
                    </a:p>
                    <a:p>
                      <a:endParaRPr lang="en-US" altLang="ko-KR" sz="700" dirty="0"/>
                    </a:p>
                    <a:p>
                      <a:r>
                        <a:rPr lang="en-US" altLang="ko-KR" sz="900" dirty="0"/>
                        <a:t>4. Click the </a:t>
                      </a:r>
                      <a:r>
                        <a:rPr lang="en-US" altLang="ko-KR" sz="900" b="1" dirty="0"/>
                        <a:t>[Tag]</a:t>
                      </a:r>
                      <a:r>
                        <a:rPr lang="en-US" altLang="ko-KR" sz="900" dirty="0"/>
                        <a:t> button to send the entered or initialized </a:t>
                      </a:r>
                      <a:r>
                        <a:rPr lang="en-US" altLang="ko-KR" sz="900" b="1" dirty="0"/>
                        <a:t>Process Information</a:t>
                      </a:r>
                      <a:r>
                        <a:rPr lang="en-US" altLang="ko-KR" sz="900" dirty="0"/>
                        <a:t> — based on the retrieved Carrier data — to the equipment, where it will be written to the RFID.</a:t>
                      </a:r>
                    </a:p>
                    <a:p>
                      <a:endParaRPr lang="en-US" altLang="ko-KR" sz="700" dirty="0"/>
                    </a:p>
                    <a:p>
                      <a:r>
                        <a:rPr lang="en-US" altLang="ko-KR" sz="900" dirty="0"/>
                        <a:t>5. Field displaying the retrieved Carrier information.</a:t>
                      </a:r>
                    </a:p>
                    <a:p>
                      <a:endParaRPr lang="en-US" altLang="ko-KR" sz="700" dirty="0"/>
                    </a:p>
                    <a:p>
                      <a:r>
                        <a:rPr lang="en-US" altLang="ko-KR" sz="900" dirty="0"/>
                        <a:t>6. Field used for data received from or written to the equipment.</a:t>
                      </a:r>
                    </a:p>
                    <a:p>
                      <a:endParaRPr lang="en-US" altLang="ko-KR" sz="700" dirty="0"/>
                    </a:p>
                    <a:p>
                      <a:r>
                        <a:rPr lang="en-US" altLang="ko-KR" sz="900" dirty="0"/>
                        <a:t>7. This field is activated when the Tag RFID is damaged (e.g., FFFFFFF) or when there is no Carrier corresponding to the Serial Number.</a:t>
                      </a:r>
                    </a:p>
                    <a:p>
                      <a:r>
                        <a:rPr lang="en-US" altLang="ko-KR" sz="900" dirty="0"/>
                        <a:t>When activated, data can be entered according to the Scan Check status, either through </a:t>
                      </a:r>
                      <a:r>
                        <a:rPr lang="en-US" altLang="ko-KR" sz="900" b="1" dirty="0"/>
                        <a:t>CodeView</a:t>
                      </a:r>
                      <a:r>
                        <a:rPr lang="en-US" altLang="ko-KR" sz="900" dirty="0"/>
                        <a:t> or </a:t>
                      </a:r>
                      <a:r>
                        <a:rPr lang="en-US" altLang="ko-KR" sz="900" b="1" dirty="0"/>
                        <a:t>Scan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endParaRPr lang="en-US" altLang="ko-KR" sz="700" dirty="0"/>
                    </a:p>
                    <a:p>
                      <a:r>
                        <a:rPr lang="en-US" altLang="ko-KR" sz="900" dirty="0"/>
                        <a:t>8. Click the </a:t>
                      </a:r>
                      <a:r>
                        <a:rPr lang="en-US" altLang="ko-KR" sz="900" b="1" dirty="0"/>
                        <a:t>[Search]</a:t>
                      </a:r>
                      <a:r>
                        <a:rPr lang="en-US" altLang="ko-KR" sz="900" dirty="0"/>
                        <a:t> button to retrieve information for the entered or selected Carrier.</a:t>
                      </a:r>
                    </a:p>
                    <a:p>
                      <a:endParaRPr lang="en-US" altLang="ko-KR" sz="700" dirty="0"/>
                    </a:p>
                    <a:p>
                      <a:r>
                        <a:rPr lang="en-US" altLang="ko-KR" sz="900" dirty="0"/>
                        <a:t>9.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endParaRPr lang="en-US" altLang="ko-KR" sz="700" dirty="0"/>
                    </a:p>
                    <a:p>
                      <a:r>
                        <a:rPr lang="en-US" altLang="ko-KR" sz="900" dirty="0"/>
                        <a:t>10.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9" name="Oval 64"/>
          <p:cNvSpPr/>
          <p:nvPr/>
        </p:nvSpPr>
        <p:spPr>
          <a:xfrm>
            <a:off x="294195" y="22667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0" name="Rectangle 63"/>
          <p:cNvSpPr/>
          <p:nvPr/>
        </p:nvSpPr>
        <p:spPr>
          <a:xfrm>
            <a:off x="427727" y="2950790"/>
            <a:ext cx="7021985" cy="13941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63"/>
          <p:cNvSpPr/>
          <p:nvPr/>
        </p:nvSpPr>
        <p:spPr>
          <a:xfrm>
            <a:off x="427726" y="4344978"/>
            <a:ext cx="7021985" cy="18461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64"/>
          <p:cNvSpPr/>
          <p:nvPr/>
        </p:nvSpPr>
        <p:spPr>
          <a:xfrm>
            <a:off x="6533083" y="643075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6965131" y="643075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6029027" y="643075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251999" y="289546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256223" y="434189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6537307" y="265912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4"/>
          <p:cNvSpPr/>
          <p:nvPr/>
        </p:nvSpPr>
        <p:spPr>
          <a:xfrm>
            <a:off x="6949653" y="265312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9" name="Oval 64"/>
          <p:cNvSpPr/>
          <p:nvPr/>
        </p:nvSpPr>
        <p:spPr>
          <a:xfrm>
            <a:off x="6875131" y="193434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10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0" name="Oval 64"/>
          <p:cNvSpPr/>
          <p:nvPr/>
        </p:nvSpPr>
        <p:spPr>
          <a:xfrm>
            <a:off x="2716659" y="226023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40. Carrier RFID Read/Write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RAS (Equipment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Carrier Mgt. (대차관리)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Carrier RFID Read/Write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21540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1. Required option that must be selected to enable communication with the Brooks equipment.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[Read]</a:t>
                      </a:r>
                      <a:r>
                        <a:rPr lang="en-US" altLang="ko-KR" sz="900" dirty="0"/>
                        <a:t> button to retrieve Tag information from the equipment.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 dirty="0"/>
                        <a:t>3.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[Write]</a:t>
                      </a:r>
                      <a:r>
                        <a:rPr lang="en-US" altLang="ko-KR" sz="900" dirty="0"/>
                        <a:t> button to send the entered </a:t>
                      </a:r>
                      <a:r>
                        <a:rPr lang="en-US" altLang="ko-KR" sz="900" b="1" dirty="0"/>
                        <a:t>Process Information </a:t>
                      </a:r>
                      <a:r>
                        <a:rPr lang="en-US" altLang="ko-KR" sz="900" dirty="0"/>
                        <a:t>— based on the retrieved Carrier data —  to the equipment, where it will be written to the RFID.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r>
                        <a:rPr lang="en-US" altLang="ko-KR" sz="900" spc="-20" baseline="0" dirty="0"/>
                        <a:t>4. </a:t>
                      </a:r>
                      <a:r>
                        <a:rPr lang="en-US" altLang="ko-KR" sz="900" dirty="0"/>
                        <a:t>Field displaying the retrieved Carrier information.</a:t>
                      </a:r>
                    </a:p>
                    <a:p>
                      <a:endParaRPr lang="en-US" altLang="ko-KR" sz="900" dirty="0"/>
                    </a:p>
                    <a:p>
                      <a:r>
                        <a:rPr lang="en-US" altLang="ko-KR" sz="900" dirty="0"/>
                        <a:t>5. Field used for data received from or written to the equipment.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6.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8" name="Oval 64"/>
          <p:cNvSpPr/>
          <p:nvPr/>
        </p:nvSpPr>
        <p:spPr>
          <a:xfrm>
            <a:off x="294195" y="22667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9" name="Rectangle 63"/>
          <p:cNvSpPr/>
          <p:nvPr/>
        </p:nvSpPr>
        <p:spPr>
          <a:xfrm>
            <a:off x="427727" y="2950790"/>
            <a:ext cx="7021985" cy="13941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63"/>
          <p:cNvSpPr/>
          <p:nvPr/>
        </p:nvSpPr>
        <p:spPr>
          <a:xfrm>
            <a:off x="427726" y="4344978"/>
            <a:ext cx="7021985" cy="18461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64"/>
          <p:cNvSpPr/>
          <p:nvPr/>
        </p:nvSpPr>
        <p:spPr>
          <a:xfrm>
            <a:off x="6533083" y="643075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6965131" y="643075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251999" y="289546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256223" y="434189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6875131" y="193434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41. Carrier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RAS (Equipment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Carrier Mgt. (대차관리)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Carrier 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21585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1. Enter the search conditions</a:t>
                      </a:r>
                      <a:r>
                        <a:rPr lang="en-US" altLang="ko-KR" sz="900" baseline="0" dirty="0"/>
                        <a:t> to retrieve </a:t>
                      </a:r>
                    </a:p>
                    <a:p>
                      <a:r>
                        <a:rPr lang="en-US" altLang="ko-KR" sz="900" baseline="0" dirty="0"/>
                        <a:t>Carrier status list. 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</a:t>
                      </a:r>
                      <a:r>
                        <a:rPr lang="en-US" altLang="ko-KR" sz="900" dirty="0"/>
                        <a:t> button to display the Carrier status</a:t>
                      </a:r>
                      <a:r>
                        <a:rPr lang="en-US" altLang="ko-KR" sz="900" baseline="0" dirty="0"/>
                        <a:t> list</a:t>
                      </a:r>
                      <a:r>
                        <a:rPr lang="en-US" altLang="ko-KR" sz="900" dirty="0"/>
                        <a:t> in the grid according to the search conditions.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r>
                        <a:rPr lang="en-US" altLang="ko-KR" sz="900" dirty="0"/>
                        <a:t>4. The carrier</a:t>
                      </a:r>
                      <a:r>
                        <a:rPr lang="en-US" altLang="ko-KR" sz="900" baseline="0" dirty="0"/>
                        <a:t> status</a:t>
                      </a:r>
                      <a:r>
                        <a:rPr lang="en-US" altLang="ko-KR" sz="900" dirty="0"/>
                        <a:t> list will be displayed in the grid,</a:t>
                      </a:r>
                      <a:r>
                        <a:rPr lang="en-US" altLang="ko-KR" sz="900" baseline="0" dirty="0"/>
                        <a:t> </a:t>
                      </a:r>
                      <a:r>
                        <a:rPr lang="en-US" altLang="ko-KR" sz="900" dirty="0"/>
                        <a:t>including details.</a:t>
                      </a:r>
                    </a:p>
                    <a:p>
                      <a:endParaRPr lang="en-US" altLang="ko-KR" sz="900" dirty="0"/>
                    </a:p>
                    <a:p>
                      <a:r>
                        <a:rPr lang="en-US" altLang="ko-KR" sz="900" dirty="0"/>
                        <a:t>5.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[Repair]</a:t>
                      </a:r>
                      <a:r>
                        <a:rPr lang="en-US" altLang="ko-KR" sz="900" baseline="0" dirty="0"/>
                        <a:t> button to redirect to selected carrier’s repair event OI.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[Clean]</a:t>
                      </a:r>
                      <a:r>
                        <a:rPr lang="en-US" altLang="ko-KR" sz="900" baseline="0" dirty="0"/>
                        <a:t> button to redirect to selected carrier’s clean event OI.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</a:t>
                      </a:r>
                      <a:r>
                        <a:rPr lang="en-US" altLang="ko-KR" sz="900" b="1" baseline="0" dirty="0" err="1"/>
                        <a:t>Registaration</a:t>
                      </a:r>
                      <a:r>
                        <a:rPr lang="en-US" altLang="ko-KR" sz="900" b="1" baseline="0" dirty="0"/>
                        <a:t>]</a:t>
                      </a:r>
                      <a:r>
                        <a:rPr lang="en-US" altLang="ko-KR" sz="900" baseline="0" dirty="0"/>
                        <a:t> button to redirect create carrier process OI.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8. </a:t>
                      </a:r>
                      <a:r>
                        <a:rPr lang="en-US" altLang="ko-KR" sz="900" baseline="0" dirty="0"/>
                        <a:t>Click </a:t>
                      </a:r>
                      <a:r>
                        <a:rPr lang="en-US" altLang="ko-KR" sz="900" b="1" baseline="0" dirty="0"/>
                        <a:t>[Detail]</a:t>
                      </a:r>
                      <a:r>
                        <a:rPr lang="en-US" altLang="ko-KR" sz="900" baseline="0" dirty="0"/>
                        <a:t> button to redirect to selected carrier’s information OI.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9.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12403" y="3098800"/>
            <a:ext cx="6984776" cy="28763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64"/>
          <p:cNvSpPr/>
          <p:nvPr/>
        </p:nvSpPr>
        <p:spPr>
          <a:xfrm>
            <a:off x="294195" y="22667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0" name="Oval 64"/>
          <p:cNvSpPr/>
          <p:nvPr/>
        </p:nvSpPr>
        <p:spPr>
          <a:xfrm>
            <a:off x="6965131" y="266275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6564439" y="266275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294195" y="313114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6875131" y="193434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456686" y="60816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988467" y="609565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1520248" y="609565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2140595" y="609565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42. Carrier Event Process (캐리어 이벤트)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RAS (Equipment Management)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Carrier Mgt. (대차관리)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Carrier Event Process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21590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1. The event defined according to the RFID check status can be selected.</a:t>
                      </a:r>
                    </a:p>
                    <a:p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Carrier</a:t>
                      </a:r>
                      <a:r>
                        <a:rPr lang="en-US" altLang="ko-KR" sz="900" dirty="0"/>
                        <a:t> is classified by Scan Check — either through CodeView or manual input.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After selecting the carrier, click the </a:t>
                      </a:r>
                      <a:r>
                        <a:rPr lang="en-US" altLang="ko-KR" sz="900" b="1" dirty="0"/>
                        <a:t>[Search]</a:t>
                      </a:r>
                      <a:r>
                        <a:rPr lang="en-US" altLang="ko-KR" sz="900" dirty="0"/>
                        <a:t> button to retrieve the related equipment items.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r>
                        <a:rPr lang="en-US" altLang="ko-KR" sz="900" dirty="0"/>
                        <a:t>5. The retrieved carrier items will be displayed in this section.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6. Event input items will be displayed in the corresponding section.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r>
                        <a:rPr lang="en-US" altLang="ko-KR" sz="900" dirty="0"/>
                        <a:t>7. </a:t>
                      </a:r>
                      <a:r>
                        <a:rPr lang="en-US" altLang="ko-KR" sz="900" baseline="0" dirty="0"/>
                        <a:t>Click the </a:t>
                      </a:r>
                      <a:r>
                        <a:rPr lang="en-US" altLang="ko-KR" sz="900" b="1" baseline="0" dirty="0"/>
                        <a:t>[Tran]</a:t>
                      </a:r>
                      <a:r>
                        <a:rPr lang="en-US" altLang="ko-KR" sz="900" baseline="0" dirty="0"/>
                        <a:t> button to trigger the selected event for the retrieved carrier.</a:t>
                      </a:r>
                    </a:p>
                    <a:p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8. 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9" name="Oval 64"/>
          <p:cNvSpPr/>
          <p:nvPr/>
        </p:nvSpPr>
        <p:spPr>
          <a:xfrm>
            <a:off x="6814308" y="619921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4"/>
          <p:cNvSpPr/>
          <p:nvPr/>
        </p:nvSpPr>
        <p:spPr>
          <a:xfrm>
            <a:off x="294195" y="22667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1" name="Oval 64"/>
          <p:cNvSpPr/>
          <p:nvPr/>
        </p:nvSpPr>
        <p:spPr>
          <a:xfrm>
            <a:off x="6875131" y="193434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7" name="Rectangle 63"/>
          <p:cNvSpPr/>
          <p:nvPr/>
        </p:nvSpPr>
        <p:spPr>
          <a:xfrm>
            <a:off x="456686" y="3022798"/>
            <a:ext cx="7012501" cy="13471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63"/>
          <p:cNvSpPr/>
          <p:nvPr/>
        </p:nvSpPr>
        <p:spPr>
          <a:xfrm>
            <a:off x="457752" y="4682268"/>
            <a:ext cx="7012501" cy="1359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64"/>
          <p:cNvSpPr/>
          <p:nvPr/>
        </p:nvSpPr>
        <p:spPr>
          <a:xfrm>
            <a:off x="276685" y="294272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294195" y="26126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6608404" y="246398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287968" y="462719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6994308" y="246450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43. Spare Part Usage/Return Management (Spare Part 사용/반납 관리)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FMS (Equipment Maintenance)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Spare Part (부품관리)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Spare Part Usage/Return Management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60134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1. Enter the search conditions</a:t>
                      </a:r>
                      <a:r>
                        <a:rPr lang="en-US" altLang="ko-KR" sz="900" baseline="0"/>
                        <a:t> to retrieve </a:t>
                      </a:r>
                    </a:p>
                    <a:p>
                      <a:r>
                        <a:rPr lang="en-US" altLang="ko-KR" sz="900" baseline="0"/>
                        <a:t>Part Usage list</a:t>
                      </a:r>
                      <a:r>
                        <a:rPr lang="en-US" altLang="ko-KR" sz="900"/>
                        <a:t>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/>
                        <a:t>2. </a:t>
                      </a:r>
                      <a:r>
                        <a:rPr lang="en-US" altLang="ko-KR" sz="900"/>
                        <a:t>Click the </a:t>
                      </a:r>
                      <a:r>
                        <a:rPr lang="en-US" altLang="ko-KR" sz="900" b="1"/>
                        <a:t>[Search]</a:t>
                      </a:r>
                      <a:r>
                        <a:rPr lang="en-US" altLang="ko-KR" sz="900"/>
                        <a:t> button to display in the grid according to the search conditions.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3. Click the </a:t>
                      </a:r>
                      <a:r>
                        <a:rPr lang="en-US" altLang="ko-KR" sz="900" b="1"/>
                        <a:t>[Reset]</a:t>
                      </a:r>
                      <a:r>
                        <a:rPr lang="en-US" altLang="ko-KR" sz="90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4. The maintenance work order list will be displayed in the grid.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5. The list of spare parts in use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6. Moves to the screen for issuing spare parts internally.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7. Moves to the screen for returning spare parts internally.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4" name="Rectangle 63">
            <a:extLst>
              <a:ext uri="{FF2B5EF4-FFF2-40B4-BE49-F238E27FC236}">
                <a16:creationId xmlns:a16="http://schemas.microsoft.com/office/drawing/2014/main" id="{1D5089D8-FA50-CF92-6EB6-FCFAE196312B}"/>
              </a:ext>
            </a:extLst>
          </p:cNvPr>
          <p:cNvSpPr/>
          <p:nvPr/>
        </p:nvSpPr>
        <p:spPr>
          <a:xfrm>
            <a:off x="447260" y="3166814"/>
            <a:ext cx="3461365" cy="28083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63">
            <a:extLst>
              <a:ext uri="{FF2B5EF4-FFF2-40B4-BE49-F238E27FC236}">
                <a16:creationId xmlns:a16="http://schemas.microsoft.com/office/drawing/2014/main" id="{0E6D1E1B-22BC-D59A-C5E9-AED190CC77E8}"/>
              </a:ext>
            </a:extLst>
          </p:cNvPr>
          <p:cNvSpPr/>
          <p:nvPr/>
        </p:nvSpPr>
        <p:spPr>
          <a:xfrm>
            <a:off x="4013885" y="3166814"/>
            <a:ext cx="3458195" cy="28083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63"/>
          <p:cNvSpPr/>
          <p:nvPr/>
        </p:nvSpPr>
        <p:spPr>
          <a:xfrm>
            <a:off x="300809" y="22657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1" name="Oval 63"/>
          <p:cNvSpPr/>
          <p:nvPr/>
        </p:nvSpPr>
        <p:spPr>
          <a:xfrm>
            <a:off x="7272001" y="258242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2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6512540" y="260259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3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480809" y="338350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4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4144088" y="333254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5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5" name="Oval 63"/>
          <p:cNvSpPr/>
          <p:nvPr/>
        </p:nvSpPr>
        <p:spPr>
          <a:xfrm>
            <a:off x="357260" y="610181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6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6" name="Oval 63"/>
          <p:cNvSpPr/>
          <p:nvPr/>
        </p:nvSpPr>
        <p:spPr>
          <a:xfrm>
            <a:off x="916459" y="610181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7</a:t>
            </a:r>
            <a:endParaRPr sz="1000" b="1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43</a:t>
            </a:r>
            <a:r>
              <a:rPr lang="en-US" dirty="0"/>
              <a:t>-1</a:t>
            </a:r>
            <a:r>
              <a:rPr dirty="0"/>
              <a:t>. </a:t>
            </a:r>
            <a:r>
              <a:rPr dirty="0" err="1"/>
              <a:t>Spare</a:t>
            </a:r>
            <a:r>
              <a:rPr dirty="0"/>
              <a:t> </a:t>
            </a:r>
            <a:r>
              <a:rPr dirty="0" err="1"/>
              <a:t>Part</a:t>
            </a:r>
            <a:r>
              <a:rPr dirty="0"/>
              <a:t> </a:t>
            </a:r>
            <a:r>
              <a:rPr dirty="0" err="1"/>
              <a:t>Usage</a:t>
            </a:r>
            <a:r>
              <a:rPr dirty="0"/>
              <a:t>/</a:t>
            </a:r>
            <a:r>
              <a:rPr dirty="0" err="1"/>
              <a:t>Return</a:t>
            </a:r>
            <a:r>
              <a:rPr dirty="0"/>
              <a:t> Management (</a:t>
            </a:r>
            <a:r>
              <a:rPr dirty="0" err="1"/>
              <a:t>Spare</a:t>
            </a:r>
            <a:r>
              <a:rPr dirty="0"/>
              <a:t> </a:t>
            </a:r>
            <a:r>
              <a:rPr dirty="0" err="1"/>
              <a:t>Part</a:t>
            </a:r>
            <a:r>
              <a:rPr dirty="0"/>
              <a:t> 사용/반납 관리)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FMS (Equipment Maintenance)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Spare Part (부품관리)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Spare Part Usage/Return Management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60134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1. Enter the search conditions</a:t>
                      </a:r>
                      <a:r>
                        <a:rPr lang="en-US" altLang="ko-KR" sz="900" baseline="0" dirty="0"/>
                        <a:t>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</a:t>
                      </a:r>
                      <a:r>
                        <a:rPr lang="en-US" altLang="ko-KR" sz="900" dirty="0"/>
                        <a:t> button to display in the grid according to the search conditions.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Set the attribute values.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5. Scan the label to search.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6. The spare part label list will be displayed. Parts with a Part Label value are in stock, while those without are out of stock.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7. The spare parts to be used for the specified work order number will be displayed.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8. Moves to the screen for processing issue requests for materials without a label value or out of stock.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9. Click the </a:t>
                      </a:r>
                      <a:r>
                        <a:rPr lang="en-US" altLang="ko-KR" sz="900" b="1" dirty="0"/>
                        <a:t>[Withdrawal]</a:t>
                      </a:r>
                      <a:r>
                        <a:rPr lang="en-US" altLang="ko-KR" sz="900" dirty="0"/>
                        <a:t> button to Process the input of spare parts.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4" name="Rectangle 63">
            <a:extLst>
              <a:ext uri="{FF2B5EF4-FFF2-40B4-BE49-F238E27FC236}">
                <a16:creationId xmlns:a16="http://schemas.microsoft.com/office/drawing/2014/main" id="{1D5089D8-FA50-CF92-6EB6-FCFAE196312B}"/>
              </a:ext>
            </a:extLst>
          </p:cNvPr>
          <p:cNvSpPr/>
          <p:nvPr/>
        </p:nvSpPr>
        <p:spPr>
          <a:xfrm>
            <a:off x="440995" y="4220004"/>
            <a:ext cx="1915624" cy="14670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63">
            <a:extLst>
              <a:ext uri="{FF2B5EF4-FFF2-40B4-BE49-F238E27FC236}">
                <a16:creationId xmlns:a16="http://schemas.microsoft.com/office/drawing/2014/main" id="{0E6D1E1B-22BC-D59A-C5E9-AED190CC77E8}"/>
              </a:ext>
            </a:extLst>
          </p:cNvPr>
          <p:cNvSpPr/>
          <p:nvPr/>
        </p:nvSpPr>
        <p:spPr>
          <a:xfrm>
            <a:off x="2572643" y="3994926"/>
            <a:ext cx="4841148" cy="16921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63"/>
          <p:cNvSpPr/>
          <p:nvPr/>
        </p:nvSpPr>
        <p:spPr>
          <a:xfrm>
            <a:off x="303055" y="215870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1" name="Oval 63"/>
          <p:cNvSpPr/>
          <p:nvPr/>
        </p:nvSpPr>
        <p:spPr>
          <a:xfrm>
            <a:off x="278988" y="255476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4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7" name="Oval 63"/>
          <p:cNvSpPr/>
          <p:nvPr/>
        </p:nvSpPr>
        <p:spPr>
          <a:xfrm>
            <a:off x="2572643" y="359886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5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8" name="Oval 63"/>
          <p:cNvSpPr/>
          <p:nvPr/>
        </p:nvSpPr>
        <p:spPr>
          <a:xfrm>
            <a:off x="988467" y="399492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9" name="Oval 63"/>
          <p:cNvSpPr/>
          <p:nvPr/>
        </p:nvSpPr>
        <p:spPr>
          <a:xfrm>
            <a:off x="2392643" y="399492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0" name="Oval 63"/>
          <p:cNvSpPr/>
          <p:nvPr/>
        </p:nvSpPr>
        <p:spPr>
          <a:xfrm>
            <a:off x="6602540" y="637119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21" name="Oval 63"/>
          <p:cNvSpPr/>
          <p:nvPr/>
        </p:nvSpPr>
        <p:spPr>
          <a:xfrm>
            <a:off x="303055" y="640717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8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23" name="Oval 63"/>
          <p:cNvSpPr/>
          <p:nvPr/>
        </p:nvSpPr>
        <p:spPr>
          <a:xfrm>
            <a:off x="7145171" y="201885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2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24" name="Oval 63"/>
          <p:cNvSpPr/>
          <p:nvPr/>
        </p:nvSpPr>
        <p:spPr>
          <a:xfrm>
            <a:off x="6675928" y="201468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3</a:t>
            </a:r>
            <a:endParaRPr sz="1000" b="1">
              <a:solidFill>
                <a:srgbClr val="004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4727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43</a:t>
            </a:r>
            <a:r>
              <a:rPr lang="en-US" dirty="0"/>
              <a:t>-2</a:t>
            </a:r>
            <a:r>
              <a:rPr dirty="0"/>
              <a:t>. </a:t>
            </a:r>
            <a:r>
              <a:rPr dirty="0" err="1"/>
              <a:t>Spare</a:t>
            </a:r>
            <a:r>
              <a:rPr dirty="0"/>
              <a:t> </a:t>
            </a:r>
            <a:r>
              <a:rPr dirty="0" err="1"/>
              <a:t>Part</a:t>
            </a:r>
            <a:r>
              <a:rPr dirty="0"/>
              <a:t> </a:t>
            </a:r>
            <a:r>
              <a:rPr dirty="0" err="1"/>
              <a:t>Usage</a:t>
            </a:r>
            <a:r>
              <a:rPr dirty="0"/>
              <a:t>/</a:t>
            </a:r>
            <a:r>
              <a:rPr dirty="0" err="1"/>
              <a:t>Return</a:t>
            </a:r>
            <a:r>
              <a:rPr dirty="0"/>
              <a:t> Management (</a:t>
            </a:r>
            <a:r>
              <a:rPr dirty="0" err="1"/>
              <a:t>Spare</a:t>
            </a:r>
            <a:r>
              <a:rPr dirty="0"/>
              <a:t> </a:t>
            </a:r>
            <a:r>
              <a:rPr dirty="0" err="1"/>
              <a:t>Part</a:t>
            </a:r>
            <a:r>
              <a:rPr dirty="0"/>
              <a:t> 사용/반납 관리)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FMS (Equipment Maintenance)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Spare Part (부품관리)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Spare Part Usage/Return Management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60134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1. Enter the search conditions</a:t>
                      </a:r>
                      <a:r>
                        <a:rPr lang="en-US" altLang="ko-KR" sz="900" baseline="0" dirty="0"/>
                        <a:t>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</a:t>
                      </a:r>
                      <a:r>
                        <a:rPr lang="en-US" altLang="ko-KR" sz="900" dirty="0"/>
                        <a:t> button to display in the grid according to the search conditions.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Scan the label to search.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5. The list of returned or repaired spare parts will be displayed.</a:t>
                      </a:r>
                      <a:endParaRPr lang="en-US" altLang="ko-KR" sz="900" baseline="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6. The list of parts requested for repair or already repaired will be displayed.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7. Click the </a:t>
                      </a:r>
                      <a:r>
                        <a:rPr lang="en-US" altLang="ko-KR" sz="900" b="1" dirty="0"/>
                        <a:t>[Repair Complete]</a:t>
                      </a:r>
                      <a:r>
                        <a:rPr lang="en-US" altLang="ko-KR" sz="900" dirty="0"/>
                        <a:t> button to Process the repair completion..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8. Click the </a:t>
                      </a:r>
                      <a:r>
                        <a:rPr lang="en-US" altLang="ko-KR" sz="900" b="1" dirty="0"/>
                        <a:t>[Repair Request]</a:t>
                      </a:r>
                      <a:r>
                        <a:rPr lang="en-US" altLang="ko-KR" sz="900" dirty="0"/>
                        <a:t> button to Process the repair request..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99" y="1728000"/>
            <a:ext cx="7200000" cy="3139821"/>
          </a:xfrm>
          <a:prstGeom prst="rect">
            <a:avLst/>
          </a:prstGeom>
        </p:spPr>
      </p:pic>
      <p:sp>
        <p:nvSpPr>
          <p:cNvPr id="4" name="Rectangle 63">
            <a:extLst>
              <a:ext uri="{FF2B5EF4-FFF2-40B4-BE49-F238E27FC236}">
                <a16:creationId xmlns:a16="http://schemas.microsoft.com/office/drawing/2014/main" id="{1D5089D8-FA50-CF92-6EB6-FCFAE196312B}"/>
              </a:ext>
            </a:extLst>
          </p:cNvPr>
          <p:cNvSpPr/>
          <p:nvPr/>
        </p:nvSpPr>
        <p:spPr>
          <a:xfrm>
            <a:off x="390810" y="2806774"/>
            <a:ext cx="3405970" cy="1847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63">
            <a:extLst>
              <a:ext uri="{FF2B5EF4-FFF2-40B4-BE49-F238E27FC236}">
                <a16:creationId xmlns:a16="http://schemas.microsoft.com/office/drawing/2014/main" id="{0E6D1E1B-22BC-D59A-C5E9-AED190CC77E8}"/>
              </a:ext>
            </a:extLst>
          </p:cNvPr>
          <p:cNvSpPr/>
          <p:nvPr/>
        </p:nvSpPr>
        <p:spPr>
          <a:xfrm>
            <a:off x="4031312" y="2813644"/>
            <a:ext cx="3458195" cy="1847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63"/>
          <p:cNvSpPr/>
          <p:nvPr/>
        </p:nvSpPr>
        <p:spPr>
          <a:xfrm>
            <a:off x="269874" y="194267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1" name="Oval 63"/>
          <p:cNvSpPr/>
          <p:nvPr/>
        </p:nvSpPr>
        <p:spPr>
          <a:xfrm>
            <a:off x="7111961" y="24467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2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7" name="Oval 63"/>
          <p:cNvSpPr/>
          <p:nvPr/>
        </p:nvSpPr>
        <p:spPr>
          <a:xfrm>
            <a:off x="6641115" y="247020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8" name="Oval 63"/>
          <p:cNvSpPr/>
          <p:nvPr/>
        </p:nvSpPr>
        <p:spPr>
          <a:xfrm>
            <a:off x="4372843" y="262677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412403" y="262677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5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9" name="Oval 63"/>
          <p:cNvSpPr/>
          <p:nvPr/>
        </p:nvSpPr>
        <p:spPr>
          <a:xfrm>
            <a:off x="4084811" y="305882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6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20" name="Oval 63"/>
          <p:cNvSpPr/>
          <p:nvPr/>
        </p:nvSpPr>
        <p:spPr>
          <a:xfrm>
            <a:off x="6101035" y="453634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7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21" name="Oval 63"/>
          <p:cNvSpPr/>
          <p:nvPr/>
        </p:nvSpPr>
        <p:spPr>
          <a:xfrm>
            <a:off x="7025645" y="451683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8</a:t>
            </a:r>
            <a:endParaRPr sz="1000" b="1">
              <a:solidFill>
                <a:srgbClr val="004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9024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44. Spare Part Repair Management (Spare Part 수리 관리)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FMS (Equipment Maintenance)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Spare Part (부품관리)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Spare Part Repair Management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60136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7321500" y="26937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65" name="Oval 64"/>
          <p:cNvSpPr/>
          <p:nvPr/>
        </p:nvSpPr>
        <p:spPr>
          <a:xfrm>
            <a:off x="6135750" y="59656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2</a:t>
            </a:r>
          </a:p>
        </p:txBody>
      </p:sp>
      <p:sp>
        <p:nvSpPr>
          <p:cNvPr id="66" name="Oval 65"/>
          <p:cNvSpPr/>
          <p:nvPr/>
        </p:nvSpPr>
        <p:spPr>
          <a:xfrm>
            <a:off x="6973875" y="59656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3</a:t>
            </a:r>
          </a:p>
        </p:txBody>
      </p:sp>
      <p:sp>
        <p:nvSpPr>
          <p:cNvPr id="4" name="Rectangle 63">
            <a:extLst>
              <a:ext uri="{FF2B5EF4-FFF2-40B4-BE49-F238E27FC236}">
                <a16:creationId xmlns:a16="http://schemas.microsoft.com/office/drawing/2014/main" id="{68966437-86CB-B76D-1E5C-BC7527DEAF7E}"/>
              </a:ext>
            </a:extLst>
          </p:cNvPr>
          <p:cNvSpPr/>
          <p:nvPr/>
        </p:nvSpPr>
        <p:spPr>
          <a:xfrm>
            <a:off x="447260" y="3298982"/>
            <a:ext cx="3421527" cy="26761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63">
            <a:extLst>
              <a:ext uri="{FF2B5EF4-FFF2-40B4-BE49-F238E27FC236}">
                <a16:creationId xmlns:a16="http://schemas.microsoft.com/office/drawing/2014/main" id="{5D91083E-D0BE-8332-8C16-096E6D611535}"/>
              </a:ext>
            </a:extLst>
          </p:cNvPr>
          <p:cNvSpPr/>
          <p:nvPr/>
        </p:nvSpPr>
        <p:spPr>
          <a:xfrm>
            <a:off x="4051692" y="3298982"/>
            <a:ext cx="3421527" cy="26761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45. Maintenace Order Process (정비 작업지시 조회 및 실행)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FMS (Equipment Maintenance)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Maintenance Management (정비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Maintenace Order Process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60150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1. Enter the search conditions</a:t>
                      </a:r>
                    </a:p>
                    <a:p>
                      <a:endParaRPr lang="en-US" altLang="ko-KR" sz="900" spc="-20" baseline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/>
                        <a:t>2. </a:t>
                      </a:r>
                      <a:r>
                        <a:rPr lang="en-US" altLang="ko-KR" sz="900"/>
                        <a:t>Click the </a:t>
                      </a:r>
                      <a:r>
                        <a:rPr lang="en-US" altLang="ko-KR" sz="900" b="1"/>
                        <a:t>[Search]</a:t>
                      </a:r>
                      <a:r>
                        <a:rPr lang="en-US" altLang="ko-KR" sz="900"/>
                        <a:t> button to display the Maintenance</a:t>
                      </a:r>
                      <a:r>
                        <a:rPr lang="en-US" altLang="ko-KR" sz="900" baseline="0"/>
                        <a:t> Order </a:t>
                      </a:r>
                      <a:r>
                        <a:rPr lang="en-US" altLang="ko-KR" sz="900"/>
                        <a:t>in the grid according to the search conditions.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3. Click the </a:t>
                      </a:r>
                      <a:r>
                        <a:rPr lang="en-US" altLang="ko-KR" sz="900" b="1"/>
                        <a:t>[Reset]</a:t>
                      </a:r>
                      <a:r>
                        <a:rPr lang="en-US" altLang="ko-KR" sz="90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4.</a:t>
                      </a:r>
                      <a:r>
                        <a:rPr lang="en-US" altLang="ko-KR" sz="900" baseline="0"/>
                        <a:t> </a:t>
                      </a:r>
                      <a:r>
                        <a:rPr lang="en-US" altLang="ko-KR" sz="900"/>
                        <a:t>The Maintenance</a:t>
                      </a:r>
                      <a:r>
                        <a:rPr lang="en-US" altLang="ko-KR" sz="900" baseline="0"/>
                        <a:t> </a:t>
                      </a:r>
                      <a:r>
                        <a:rPr lang="en-US" altLang="ko-KR" sz="900"/>
                        <a:t>order list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5.</a:t>
                      </a:r>
                      <a:r>
                        <a:rPr lang="en-US" altLang="ko-KR" sz="900" baseline="0"/>
                        <a:t> </a:t>
                      </a:r>
                      <a:r>
                        <a:rPr lang="en-US" altLang="ko-KR" sz="900"/>
                        <a:t>Click the </a:t>
                      </a:r>
                      <a:r>
                        <a:rPr lang="en-US" altLang="ko-KR" sz="900" b="1"/>
                        <a:t>[Order</a:t>
                      </a:r>
                      <a:r>
                        <a:rPr lang="en-US" altLang="ko-KR" sz="900" b="1" baseline="0"/>
                        <a:t> Start</a:t>
                      </a:r>
                      <a:r>
                        <a:rPr lang="en-US" altLang="ko-KR" sz="900" b="1"/>
                        <a:t>]</a:t>
                      </a:r>
                      <a:r>
                        <a:rPr lang="en-US" altLang="ko-KR" sz="900"/>
                        <a:t> button to Start the maintenance work.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6.</a:t>
                      </a:r>
                      <a:r>
                        <a:rPr lang="en-US" altLang="ko-KR" sz="900" baseline="0"/>
                        <a:t> </a:t>
                      </a:r>
                      <a:r>
                        <a:rPr lang="en-US" altLang="ko-KR" sz="900"/>
                        <a:t>Click the </a:t>
                      </a:r>
                      <a:r>
                        <a:rPr lang="en-US" altLang="ko-KR" sz="900" b="1"/>
                        <a:t>[Maintenance</a:t>
                      </a:r>
                      <a:r>
                        <a:rPr lang="en-US" altLang="ko-KR" sz="900" b="1" baseline="0"/>
                        <a:t> Procedure</a:t>
                      </a:r>
                      <a:r>
                        <a:rPr lang="en-US" altLang="ko-KR" sz="900" b="1"/>
                        <a:t>]</a:t>
                      </a:r>
                      <a:r>
                        <a:rPr lang="en-US" altLang="ko-KR" sz="900"/>
                        <a:t> button to A popup window for registering the result values of the maintenance work procedure will be created.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7.</a:t>
                      </a:r>
                      <a:r>
                        <a:rPr lang="en-US" altLang="ko-KR" sz="900" baseline="0"/>
                        <a:t> </a:t>
                      </a:r>
                      <a:r>
                        <a:rPr lang="en-US" altLang="ko-KR" sz="900"/>
                        <a:t>Click the </a:t>
                      </a:r>
                      <a:r>
                        <a:rPr lang="en-US" altLang="ko-KR" sz="900" b="1"/>
                        <a:t>[Sparepart</a:t>
                      </a:r>
                      <a:r>
                        <a:rPr lang="en-US" altLang="ko-KR" sz="900" b="1" baseline="0"/>
                        <a:t> Usage Registartion</a:t>
                      </a:r>
                      <a:r>
                        <a:rPr lang="en-US" altLang="ko-KR" sz="900" b="1"/>
                        <a:t>]</a:t>
                      </a:r>
                      <a:r>
                        <a:rPr lang="en-US" altLang="ko-KR" sz="900"/>
                        <a:t> button to Creates a popup to register the use of spare parts.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8.</a:t>
                      </a:r>
                      <a:r>
                        <a:rPr lang="en-US" altLang="ko-KR" sz="900" baseline="0"/>
                        <a:t> </a:t>
                      </a:r>
                      <a:r>
                        <a:rPr lang="en-US" altLang="ko-KR" sz="900"/>
                        <a:t>Click the </a:t>
                      </a:r>
                      <a:r>
                        <a:rPr lang="en-US" altLang="ko-KR" sz="900" b="1"/>
                        <a:t>[Trouble</a:t>
                      </a:r>
                      <a:r>
                        <a:rPr lang="en-US" altLang="ko-KR" sz="900" b="1" baseline="0"/>
                        <a:t> Registration</a:t>
                      </a:r>
                      <a:r>
                        <a:rPr lang="en-US" altLang="ko-KR" sz="900" b="1"/>
                        <a:t>]</a:t>
                      </a:r>
                      <a:r>
                        <a:rPr lang="en-US" altLang="ko-KR" sz="900"/>
                        <a:t> button to Creates a popup to register the status of equipment with issues.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9.</a:t>
                      </a:r>
                      <a:r>
                        <a:rPr lang="en-US" altLang="ko-KR" sz="900" baseline="0"/>
                        <a:t> </a:t>
                      </a:r>
                      <a:r>
                        <a:rPr lang="en-US" altLang="ko-KR" sz="900"/>
                        <a:t>Click the </a:t>
                      </a:r>
                      <a:r>
                        <a:rPr lang="en-US" altLang="ko-KR" sz="900" b="1"/>
                        <a:t>[Calibration</a:t>
                      </a:r>
                      <a:r>
                        <a:rPr lang="en-US" altLang="ko-KR" sz="900" b="1" baseline="0"/>
                        <a:t> Registration</a:t>
                      </a:r>
                      <a:r>
                        <a:rPr lang="en-US" altLang="ko-KR" sz="900" b="1"/>
                        <a:t>]</a:t>
                      </a:r>
                      <a:r>
                        <a:rPr lang="en-US" altLang="ko-KR" sz="900"/>
                        <a:t> button to Creates a popup to register the measurement results of the measuring instrument.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316613" y="22307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65" name="Oval 64"/>
          <p:cNvSpPr/>
          <p:nvPr/>
        </p:nvSpPr>
        <p:spPr>
          <a:xfrm>
            <a:off x="7321500" y="32917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2</a:t>
            </a:r>
          </a:p>
        </p:txBody>
      </p:sp>
      <p:sp>
        <p:nvSpPr>
          <p:cNvPr id="4" name="Rectangle 63">
            <a:extLst>
              <a:ext uri="{FF2B5EF4-FFF2-40B4-BE49-F238E27FC236}">
                <a16:creationId xmlns:a16="http://schemas.microsoft.com/office/drawing/2014/main" id="{B3428082-177A-2FCE-8109-EC748F989B8F}"/>
              </a:ext>
            </a:extLst>
          </p:cNvPr>
          <p:cNvSpPr/>
          <p:nvPr/>
        </p:nvSpPr>
        <p:spPr>
          <a:xfrm>
            <a:off x="447260" y="3731030"/>
            <a:ext cx="5149720" cy="26761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64"/>
          <p:cNvSpPr/>
          <p:nvPr/>
        </p:nvSpPr>
        <p:spPr>
          <a:xfrm>
            <a:off x="6461075" y="327184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3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496613" y="389841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4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6486598" y="364103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5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6479490" y="389841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6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6489851" y="417759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7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6486598" y="446152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8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6480983" y="472023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9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6461075" y="497761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10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8" name="Oval 64"/>
          <p:cNvSpPr/>
          <p:nvPr/>
        </p:nvSpPr>
        <p:spPr>
          <a:xfrm>
            <a:off x="6461075" y="520483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11</a:t>
            </a:r>
            <a:endParaRPr sz="1000" b="1">
              <a:solidFill>
                <a:srgbClr val="00408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45</a:t>
            </a:r>
            <a:r>
              <a:rPr lang="en-US" dirty="0"/>
              <a:t>-1</a:t>
            </a:r>
            <a:r>
              <a:rPr dirty="0"/>
              <a:t>. </a:t>
            </a:r>
            <a:r>
              <a:rPr dirty="0" err="1"/>
              <a:t>Maintenace</a:t>
            </a:r>
            <a:r>
              <a:rPr dirty="0"/>
              <a:t> </a:t>
            </a:r>
            <a:r>
              <a:rPr dirty="0" err="1"/>
              <a:t>Order</a:t>
            </a:r>
            <a:r>
              <a:rPr dirty="0"/>
              <a:t> </a:t>
            </a:r>
            <a:r>
              <a:rPr dirty="0" err="1"/>
              <a:t>Process</a:t>
            </a:r>
            <a:r>
              <a:rPr dirty="0"/>
              <a:t> (정비 작업지시 조회 및 실행)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FMS (Equipment Maintenance)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Maintenance Management (정비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Maintenace Order Process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60150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10.</a:t>
                      </a:r>
                      <a:r>
                        <a:rPr lang="en-US" altLang="ko-KR" sz="900" baseline="0"/>
                        <a:t> </a:t>
                      </a:r>
                      <a:r>
                        <a:rPr lang="en-US" altLang="ko-KR" sz="900"/>
                        <a:t>Click the </a:t>
                      </a:r>
                      <a:r>
                        <a:rPr lang="en-US" altLang="ko-KR" sz="900" b="1"/>
                        <a:t>[Missed</a:t>
                      </a:r>
                      <a:r>
                        <a:rPr lang="en-US" altLang="ko-KR" sz="900" b="1" baseline="0"/>
                        <a:t> Maint Registration</a:t>
                      </a:r>
                      <a:r>
                        <a:rPr lang="en-US" altLang="ko-KR" sz="900" b="1"/>
                        <a:t>]</a:t>
                      </a:r>
                      <a:r>
                        <a:rPr lang="en-US" altLang="ko-KR" sz="900"/>
                        <a:t> button to Creates a popup to register the reason for not performing the maintenance work.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11.</a:t>
                      </a:r>
                      <a:r>
                        <a:rPr lang="en-US" altLang="ko-KR" sz="900" baseline="0"/>
                        <a:t> </a:t>
                      </a:r>
                      <a:r>
                        <a:rPr lang="en-US" altLang="ko-KR" sz="900"/>
                        <a:t>Click the </a:t>
                      </a:r>
                      <a:r>
                        <a:rPr lang="en-US" altLang="ko-KR" sz="900" b="1"/>
                        <a:t>[Order</a:t>
                      </a:r>
                      <a:r>
                        <a:rPr lang="en-US" altLang="ko-KR" sz="900" b="1" baseline="0"/>
                        <a:t> Complete</a:t>
                      </a:r>
                      <a:r>
                        <a:rPr lang="en-US" altLang="ko-KR" sz="900" b="1"/>
                        <a:t>]</a:t>
                      </a:r>
                      <a:r>
                        <a:rPr lang="en-US" altLang="ko-KR" sz="900"/>
                        <a:t> button to Complete the maintenance work order.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316613" y="22307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65" name="Oval 64"/>
          <p:cNvSpPr/>
          <p:nvPr/>
        </p:nvSpPr>
        <p:spPr>
          <a:xfrm>
            <a:off x="7321500" y="32917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2</a:t>
            </a:r>
          </a:p>
        </p:txBody>
      </p:sp>
      <p:sp>
        <p:nvSpPr>
          <p:cNvPr id="4" name="Rectangle 63">
            <a:extLst>
              <a:ext uri="{FF2B5EF4-FFF2-40B4-BE49-F238E27FC236}">
                <a16:creationId xmlns:a16="http://schemas.microsoft.com/office/drawing/2014/main" id="{B3428082-177A-2FCE-8109-EC748F989B8F}"/>
              </a:ext>
            </a:extLst>
          </p:cNvPr>
          <p:cNvSpPr/>
          <p:nvPr/>
        </p:nvSpPr>
        <p:spPr>
          <a:xfrm>
            <a:off x="447260" y="3731030"/>
            <a:ext cx="5149720" cy="26761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64"/>
          <p:cNvSpPr/>
          <p:nvPr/>
        </p:nvSpPr>
        <p:spPr>
          <a:xfrm>
            <a:off x="6461075" y="327184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3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1" name="Oval 64"/>
          <p:cNvSpPr/>
          <p:nvPr/>
        </p:nvSpPr>
        <p:spPr>
          <a:xfrm>
            <a:off x="496613" y="389841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4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6486598" y="364103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5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6479490" y="389841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6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6489851" y="417759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7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5" name="Oval 64"/>
          <p:cNvSpPr/>
          <p:nvPr/>
        </p:nvSpPr>
        <p:spPr>
          <a:xfrm>
            <a:off x="6486598" y="446152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8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6480983" y="472023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9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7" name="Oval 64"/>
          <p:cNvSpPr/>
          <p:nvPr/>
        </p:nvSpPr>
        <p:spPr>
          <a:xfrm>
            <a:off x="6461075" y="497761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10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8" name="Oval 64"/>
          <p:cNvSpPr/>
          <p:nvPr/>
        </p:nvSpPr>
        <p:spPr>
          <a:xfrm>
            <a:off x="6461075" y="5204837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11</a:t>
            </a:r>
            <a:endParaRPr sz="1000" b="1">
              <a:solidFill>
                <a:srgbClr val="004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9534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45</a:t>
            </a:r>
            <a:r>
              <a:rPr lang="en-US" dirty="0"/>
              <a:t>-2</a:t>
            </a:r>
            <a:r>
              <a:rPr dirty="0"/>
              <a:t>. </a:t>
            </a:r>
            <a:r>
              <a:rPr dirty="0" err="1"/>
              <a:t>Maintenace</a:t>
            </a:r>
            <a:r>
              <a:rPr dirty="0"/>
              <a:t> </a:t>
            </a:r>
            <a:r>
              <a:rPr dirty="0" err="1"/>
              <a:t>Order</a:t>
            </a:r>
            <a:r>
              <a:rPr dirty="0"/>
              <a:t> </a:t>
            </a:r>
            <a:r>
              <a:rPr dirty="0" err="1"/>
              <a:t>Process</a:t>
            </a:r>
            <a:r>
              <a:rPr dirty="0"/>
              <a:t> (정비 작업지시 조회 및 실행)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FMS (Equipment Maintenance)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Maintenance Management (정비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Maintenace Order Process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60150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1. The information of the maintenance work order will be displayed.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2. The procedure list of the maintenance work order will be displayed.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3. Enter the result or measurement values for the work order item. You can enter up to 5 values.</a:t>
                      </a:r>
                      <a:endParaRPr lang="en-US" altLang="ko-KR" sz="900" baseline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4. Upload the necessary files during the work procedure.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5. Click the </a:t>
                      </a:r>
                      <a:r>
                        <a:rPr lang="en-US" altLang="ko-KR" sz="900" b="1"/>
                        <a:t>[Save]</a:t>
                      </a:r>
                      <a:r>
                        <a:rPr lang="en-US" altLang="ko-KR" sz="900"/>
                        <a:t> button to maintenance work procedure.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27" y="2446734"/>
            <a:ext cx="5825072" cy="3705422"/>
          </a:xfrm>
          <a:prstGeom prst="rect">
            <a:avLst/>
          </a:prstGeom>
        </p:spPr>
      </p:pic>
      <p:sp>
        <p:nvSpPr>
          <p:cNvPr id="8" name="Rectangle 63">
            <a:extLst>
              <a:ext uri="{FF2B5EF4-FFF2-40B4-BE49-F238E27FC236}">
                <a16:creationId xmlns:a16="http://schemas.microsoft.com/office/drawing/2014/main" id="{B3428082-177A-2FCE-8109-EC748F989B8F}"/>
              </a:ext>
            </a:extLst>
          </p:cNvPr>
          <p:cNvSpPr/>
          <p:nvPr/>
        </p:nvSpPr>
        <p:spPr>
          <a:xfrm>
            <a:off x="772443" y="3886894"/>
            <a:ext cx="5544616" cy="1800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63">
            <a:extLst>
              <a:ext uri="{FF2B5EF4-FFF2-40B4-BE49-F238E27FC236}">
                <a16:creationId xmlns:a16="http://schemas.microsoft.com/office/drawing/2014/main" id="{B3428082-177A-2FCE-8109-EC748F989B8F}"/>
              </a:ext>
            </a:extLst>
          </p:cNvPr>
          <p:cNvSpPr/>
          <p:nvPr/>
        </p:nvSpPr>
        <p:spPr>
          <a:xfrm>
            <a:off x="4588867" y="4011413"/>
            <a:ext cx="1584176" cy="5760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63"/>
          <p:cNvSpPr/>
          <p:nvPr/>
        </p:nvSpPr>
        <p:spPr>
          <a:xfrm>
            <a:off x="682443" y="276376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2" name="Oval 63"/>
          <p:cNvSpPr/>
          <p:nvPr/>
        </p:nvSpPr>
        <p:spPr>
          <a:xfrm>
            <a:off x="772443" y="388794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2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4939945" y="427435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3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682443" y="574158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4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5" name="Oval 63"/>
          <p:cNvSpPr/>
          <p:nvPr/>
        </p:nvSpPr>
        <p:spPr>
          <a:xfrm>
            <a:off x="5596979" y="572161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5</a:t>
            </a:r>
            <a:endParaRPr sz="1000" b="1">
              <a:solidFill>
                <a:srgbClr val="004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5823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45</a:t>
            </a:r>
            <a:r>
              <a:rPr lang="en-US" dirty="0"/>
              <a:t>-3</a:t>
            </a:r>
            <a:r>
              <a:rPr dirty="0"/>
              <a:t>. </a:t>
            </a:r>
            <a:r>
              <a:rPr dirty="0" err="1"/>
              <a:t>Maintenace</a:t>
            </a:r>
            <a:r>
              <a:rPr dirty="0"/>
              <a:t> </a:t>
            </a:r>
            <a:r>
              <a:rPr dirty="0" err="1"/>
              <a:t>Order</a:t>
            </a:r>
            <a:r>
              <a:rPr dirty="0"/>
              <a:t> </a:t>
            </a:r>
            <a:r>
              <a:rPr dirty="0" err="1"/>
              <a:t>Process</a:t>
            </a:r>
            <a:r>
              <a:rPr dirty="0"/>
              <a:t> (정비 작업지시 조회 및 실행)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FMS (Equipment Maintenance)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Maintenance Management (정비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Maintenace Order Process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60150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/>
                        <a:t>1. The information of the maintenance work order will be displayed.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2. The list of spare parts to be used will be displayed.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3. Click the </a:t>
                      </a:r>
                      <a:r>
                        <a:rPr lang="en-US" altLang="ko-KR" sz="900" b="1"/>
                        <a:t>[Add</a:t>
                      </a:r>
                      <a:r>
                        <a:rPr lang="en-US" altLang="ko-KR" sz="900" b="1" baseline="0"/>
                        <a:t> Row</a:t>
                      </a:r>
                      <a:r>
                        <a:rPr lang="en-US" altLang="ko-KR" sz="900" b="1"/>
                        <a:t>]</a:t>
                      </a:r>
                      <a:r>
                        <a:rPr lang="en-US" altLang="ko-KR" sz="900"/>
                        <a:t> button to Add the spare parts to be used.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4. Click the </a:t>
                      </a:r>
                      <a:r>
                        <a:rPr lang="en-US" altLang="ko-KR" sz="900" b="1"/>
                        <a:t>[Delete</a:t>
                      </a:r>
                      <a:r>
                        <a:rPr lang="en-US" altLang="ko-KR" sz="900" b="1" baseline="0"/>
                        <a:t> Row</a:t>
                      </a:r>
                      <a:r>
                        <a:rPr lang="en-US" altLang="ko-KR" sz="900" b="1"/>
                        <a:t>]</a:t>
                      </a:r>
                      <a:r>
                        <a:rPr lang="en-US" altLang="ko-KR" sz="900"/>
                        <a:t> button to Delete the added spare parts.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5. Click the </a:t>
                      </a:r>
                      <a:r>
                        <a:rPr lang="en-US" altLang="ko-KR" sz="900" b="1"/>
                        <a:t>[Save]</a:t>
                      </a:r>
                      <a:r>
                        <a:rPr lang="en-US" altLang="ko-KR" sz="900"/>
                        <a:t> button to Process the use of spare parts.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75" y="2255219"/>
            <a:ext cx="5887553" cy="3725215"/>
          </a:xfrm>
          <a:prstGeom prst="rect">
            <a:avLst/>
          </a:prstGeom>
        </p:spPr>
      </p:pic>
      <p:sp>
        <p:nvSpPr>
          <p:cNvPr id="8" name="Rectangle 63">
            <a:extLst>
              <a:ext uri="{FF2B5EF4-FFF2-40B4-BE49-F238E27FC236}">
                <a16:creationId xmlns:a16="http://schemas.microsoft.com/office/drawing/2014/main" id="{B3428082-177A-2FCE-8109-EC748F989B8F}"/>
              </a:ext>
            </a:extLst>
          </p:cNvPr>
          <p:cNvSpPr/>
          <p:nvPr/>
        </p:nvSpPr>
        <p:spPr>
          <a:xfrm>
            <a:off x="1231943" y="3886894"/>
            <a:ext cx="5589172" cy="17281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63"/>
          <p:cNvSpPr/>
          <p:nvPr/>
        </p:nvSpPr>
        <p:spPr>
          <a:xfrm>
            <a:off x="1141943" y="259075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0" name="Oval 63"/>
          <p:cNvSpPr/>
          <p:nvPr/>
        </p:nvSpPr>
        <p:spPr>
          <a:xfrm>
            <a:off x="1321943" y="410294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2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1" name="Oval 63"/>
          <p:cNvSpPr/>
          <p:nvPr/>
        </p:nvSpPr>
        <p:spPr>
          <a:xfrm>
            <a:off x="6245051" y="343154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3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5573911" y="343154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4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6155051" y="5605485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5</a:t>
            </a:r>
            <a:endParaRPr sz="1000" b="1">
              <a:solidFill>
                <a:srgbClr val="004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7464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45</a:t>
            </a:r>
            <a:r>
              <a:rPr lang="en-US" dirty="0"/>
              <a:t>-4</a:t>
            </a:r>
            <a:r>
              <a:rPr dirty="0"/>
              <a:t>. </a:t>
            </a:r>
            <a:r>
              <a:rPr dirty="0" err="1"/>
              <a:t>Maintenace</a:t>
            </a:r>
            <a:r>
              <a:rPr dirty="0"/>
              <a:t> </a:t>
            </a:r>
            <a:r>
              <a:rPr dirty="0" err="1"/>
              <a:t>Order</a:t>
            </a:r>
            <a:r>
              <a:rPr dirty="0"/>
              <a:t> </a:t>
            </a:r>
            <a:r>
              <a:rPr dirty="0" err="1"/>
              <a:t>Process</a:t>
            </a:r>
            <a:r>
              <a:rPr dirty="0"/>
              <a:t> (정비 작업지시 조회 및 실행)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FMS (Equipment Maintenance)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Maintenance Management (정비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Maintenace Order Process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60150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/>
                        <a:t>1. The information of the maintenance work order will be displayed.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2. Register the equipment issues.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3. Upload the necessary files during the trouble.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baseline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4. Click the </a:t>
                      </a:r>
                      <a:r>
                        <a:rPr lang="en-US" altLang="ko-KR" sz="900" b="1"/>
                        <a:t>[Save]</a:t>
                      </a:r>
                      <a:r>
                        <a:rPr lang="en-US" altLang="ko-KR" sz="900"/>
                        <a:t> button to Save the trouble.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43" y="2230710"/>
            <a:ext cx="5976664" cy="3812794"/>
          </a:xfrm>
          <a:prstGeom prst="rect">
            <a:avLst/>
          </a:prstGeom>
        </p:spPr>
      </p:pic>
      <p:sp>
        <p:nvSpPr>
          <p:cNvPr id="8" name="Rectangle 63">
            <a:extLst>
              <a:ext uri="{FF2B5EF4-FFF2-40B4-BE49-F238E27FC236}">
                <a16:creationId xmlns:a16="http://schemas.microsoft.com/office/drawing/2014/main" id="{B3428082-177A-2FCE-8109-EC748F989B8F}"/>
              </a:ext>
            </a:extLst>
          </p:cNvPr>
          <p:cNvSpPr/>
          <p:nvPr/>
        </p:nvSpPr>
        <p:spPr>
          <a:xfrm>
            <a:off x="916459" y="3598862"/>
            <a:ext cx="5688632" cy="20882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63"/>
          <p:cNvSpPr/>
          <p:nvPr/>
        </p:nvSpPr>
        <p:spPr>
          <a:xfrm>
            <a:off x="806737" y="256933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0" name="Oval 63"/>
          <p:cNvSpPr/>
          <p:nvPr/>
        </p:nvSpPr>
        <p:spPr>
          <a:xfrm>
            <a:off x="772442" y="350886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2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1" name="Oval 63"/>
          <p:cNvSpPr/>
          <p:nvPr/>
        </p:nvSpPr>
        <p:spPr>
          <a:xfrm>
            <a:off x="792810" y="564217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3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5957019" y="559529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4</a:t>
            </a:r>
            <a:endParaRPr sz="1000" b="1">
              <a:solidFill>
                <a:srgbClr val="004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1025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45</a:t>
            </a:r>
            <a:r>
              <a:rPr lang="en-US" dirty="0"/>
              <a:t>-5</a:t>
            </a:r>
            <a:r>
              <a:rPr dirty="0"/>
              <a:t>. </a:t>
            </a:r>
            <a:r>
              <a:rPr dirty="0" err="1"/>
              <a:t>Maintenace</a:t>
            </a:r>
            <a:r>
              <a:rPr dirty="0"/>
              <a:t> </a:t>
            </a:r>
            <a:r>
              <a:rPr dirty="0" err="1"/>
              <a:t>Order</a:t>
            </a:r>
            <a:r>
              <a:rPr dirty="0"/>
              <a:t> </a:t>
            </a:r>
            <a:r>
              <a:rPr dirty="0" err="1"/>
              <a:t>Process</a:t>
            </a:r>
            <a:r>
              <a:rPr dirty="0"/>
              <a:t> (정비 작업지시 조회 및 실행)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FMS (Equipment Maintenance)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Maintenance Management (정비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Maintenace Order Process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60150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/>
                        <a:t>1. The information of the maintenance work order will be displayed.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2. Register the measuring instrument’s measurement results.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3. Set the print options.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4. Process the label reissue.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5. Upload the necessary files during the calibration.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6. Click the </a:t>
                      </a:r>
                      <a:r>
                        <a:rPr lang="en-US" altLang="ko-KR" sz="900" b="1"/>
                        <a:t>[Save]</a:t>
                      </a:r>
                      <a:r>
                        <a:rPr lang="en-US" altLang="ko-KR" sz="900"/>
                        <a:t> button to Save the Calibration.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75" y="2518742"/>
            <a:ext cx="5615397" cy="3600400"/>
          </a:xfrm>
          <a:prstGeom prst="rect">
            <a:avLst/>
          </a:prstGeom>
        </p:spPr>
      </p:pic>
      <p:sp>
        <p:nvSpPr>
          <p:cNvPr id="8" name="Rectangle 63">
            <a:extLst>
              <a:ext uri="{FF2B5EF4-FFF2-40B4-BE49-F238E27FC236}">
                <a16:creationId xmlns:a16="http://schemas.microsoft.com/office/drawing/2014/main" id="{B3428082-177A-2FCE-8109-EC748F989B8F}"/>
              </a:ext>
            </a:extLst>
          </p:cNvPr>
          <p:cNvSpPr/>
          <p:nvPr/>
        </p:nvSpPr>
        <p:spPr>
          <a:xfrm>
            <a:off x="1204491" y="3814886"/>
            <a:ext cx="5400600" cy="12241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63"/>
          <p:cNvSpPr/>
          <p:nvPr/>
        </p:nvSpPr>
        <p:spPr>
          <a:xfrm>
            <a:off x="1071159" y="298681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0" name="Oval 63"/>
          <p:cNvSpPr/>
          <p:nvPr/>
        </p:nvSpPr>
        <p:spPr>
          <a:xfrm>
            <a:off x="1042483" y="3751649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2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1" name="Oval 63"/>
          <p:cNvSpPr/>
          <p:nvPr/>
        </p:nvSpPr>
        <p:spPr>
          <a:xfrm>
            <a:off x="1080673" y="570925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3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2" name="Oval 63"/>
          <p:cNvSpPr/>
          <p:nvPr/>
        </p:nvSpPr>
        <p:spPr>
          <a:xfrm>
            <a:off x="2284611" y="567410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4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3" name="Oval 63"/>
          <p:cNvSpPr/>
          <p:nvPr/>
        </p:nvSpPr>
        <p:spPr>
          <a:xfrm>
            <a:off x="2862554" y="564438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5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14" name="Oval 63"/>
          <p:cNvSpPr/>
          <p:nvPr/>
        </p:nvSpPr>
        <p:spPr>
          <a:xfrm>
            <a:off x="5957019" y="566289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6</a:t>
            </a:r>
            <a:endParaRPr sz="1000" b="1">
              <a:solidFill>
                <a:srgbClr val="004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2387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03" y="349128"/>
            <a:ext cx="9052860" cy="396989"/>
          </a:xfrm>
        </p:spPr>
        <p:txBody>
          <a:bodyPr/>
          <a:lstStyle/>
          <a:p>
            <a:r>
              <a:rPr dirty="0"/>
              <a:t>45</a:t>
            </a:r>
            <a:r>
              <a:rPr lang="en-US" dirty="0"/>
              <a:t>-6</a:t>
            </a:r>
            <a:r>
              <a:rPr dirty="0"/>
              <a:t>. </a:t>
            </a:r>
            <a:r>
              <a:rPr dirty="0" err="1"/>
              <a:t>Maintenace</a:t>
            </a:r>
            <a:r>
              <a:rPr dirty="0"/>
              <a:t> </a:t>
            </a:r>
            <a:r>
              <a:rPr dirty="0" err="1"/>
              <a:t>Order</a:t>
            </a:r>
            <a:r>
              <a:rPr dirty="0"/>
              <a:t> </a:t>
            </a:r>
            <a:r>
              <a:rPr dirty="0" err="1"/>
              <a:t>Process</a:t>
            </a:r>
            <a:r>
              <a:rPr dirty="0"/>
              <a:t> (정비 작업지시 조회 및 실행)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FMS (Equipment Maintenance)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Maintenance Management (정비 관리)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Maintenace Order Process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60150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r>
                        <a:rPr lang="en-US" altLang="ko-KR" sz="900" spc="-20" baseline="0"/>
                        <a:t>1. The information of the maintenance work order will be displayed.</a:t>
                      </a:r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/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2. Enter the reason for not performing the maintenance.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/>
                        <a:t>3. Click the </a:t>
                      </a:r>
                      <a:r>
                        <a:rPr lang="en-US" altLang="ko-KR" sz="900" b="1"/>
                        <a:t>[Save]</a:t>
                      </a:r>
                      <a:r>
                        <a:rPr lang="en-US" altLang="ko-KR" sz="900"/>
                        <a:t> button to Save the Missed</a:t>
                      </a:r>
                      <a:r>
                        <a:rPr lang="en-US" altLang="ko-KR" sz="900" baseline="0"/>
                        <a:t> Maintenance Reason</a:t>
                      </a:r>
                      <a:r>
                        <a:rPr lang="en-US" altLang="ko-KR" sz="900"/>
                        <a:t>.</a:t>
                      </a:r>
                    </a:p>
                    <a:p>
                      <a:pPr marL="0" marR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491" y="2446734"/>
            <a:ext cx="5691943" cy="3591099"/>
          </a:xfrm>
          <a:prstGeom prst="rect">
            <a:avLst/>
          </a:prstGeom>
        </p:spPr>
      </p:pic>
      <p:sp>
        <p:nvSpPr>
          <p:cNvPr id="20" name="Rectangle 63">
            <a:extLst>
              <a:ext uri="{FF2B5EF4-FFF2-40B4-BE49-F238E27FC236}">
                <a16:creationId xmlns:a16="http://schemas.microsoft.com/office/drawing/2014/main" id="{B3428082-177A-2FCE-8109-EC748F989B8F}"/>
              </a:ext>
            </a:extLst>
          </p:cNvPr>
          <p:cNvSpPr/>
          <p:nvPr/>
        </p:nvSpPr>
        <p:spPr>
          <a:xfrm>
            <a:off x="1350162" y="3886894"/>
            <a:ext cx="5400600" cy="8640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63"/>
          <p:cNvSpPr/>
          <p:nvPr/>
        </p:nvSpPr>
        <p:spPr>
          <a:xfrm>
            <a:off x="1260162" y="2763766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22" name="Oval 63"/>
          <p:cNvSpPr/>
          <p:nvPr/>
        </p:nvSpPr>
        <p:spPr>
          <a:xfrm>
            <a:off x="1170162" y="3808413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2</a:t>
            </a:r>
            <a:endParaRPr sz="1000" b="1">
              <a:solidFill>
                <a:srgbClr val="004080"/>
              </a:solidFill>
            </a:endParaRPr>
          </a:p>
        </p:txBody>
      </p:sp>
      <p:sp>
        <p:nvSpPr>
          <p:cNvPr id="23" name="Oval 63"/>
          <p:cNvSpPr/>
          <p:nvPr/>
        </p:nvSpPr>
        <p:spPr>
          <a:xfrm>
            <a:off x="6101035" y="5628111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>
                <a:solidFill>
                  <a:srgbClr val="004080"/>
                </a:solidFill>
              </a:rPr>
              <a:t>3</a:t>
            </a:r>
            <a:endParaRPr sz="1000" b="1">
              <a:solidFill>
                <a:srgbClr val="004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8326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46. Lot Loss Tracking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36B0248-8689-C5AA-FA9E-FAE70FE8831E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852342"/>
          <a:ext cx="9789760" cy="4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28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1654443">
                  <a:extLst>
                    <a:ext uri="{9D8B030D-6E8A-4147-A177-3AD203B41FA5}">
                      <a16:colId xmlns:a16="http://schemas.microsoft.com/office/drawing/2014/main" val="3139395866"/>
                    </a:ext>
                  </a:extLst>
                </a:gridCol>
                <a:gridCol w="765672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  <a:gridCol w="1780529">
                  <a:extLst>
                    <a:ext uri="{9D8B030D-6E8A-4147-A177-3AD203B41FA5}">
                      <a16:colId xmlns:a16="http://schemas.microsoft.com/office/drawing/2014/main" val="48804696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87767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7907936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26988197"/>
                    </a:ext>
                  </a:extLst>
                </a:gridCol>
                <a:gridCol w="1006272">
                  <a:extLst>
                    <a:ext uri="{9D8B030D-6E8A-4147-A177-3AD203B41FA5}">
                      <a16:colId xmlns:a16="http://schemas.microsoft.com/office/drawing/2014/main" val="4285900713"/>
                    </a:ext>
                  </a:extLst>
                </a:gridCol>
              </a:tblGrid>
              <a:tr h="471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 Menu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EDC (데이터수집)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Sub Menu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EDC (데이터수집)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UI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Lot Loss Tracking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Program ID</a:t>
                      </a:r>
                      <a:endParaRPr lang="ko-KR" altLang="en-US" sz="1200" b="1" kern="12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21890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D936D41-A490-4717-9DE8-EDA6BD5506EC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1368685"/>
          <a:ext cx="9789759" cy="5398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92">
                  <a:extLst>
                    <a:ext uri="{9D8B030D-6E8A-4147-A177-3AD203B41FA5}">
                      <a16:colId xmlns:a16="http://schemas.microsoft.com/office/drawing/2014/main" val="2010773613"/>
                    </a:ext>
                  </a:extLst>
                </a:gridCol>
                <a:gridCol w="2482967">
                  <a:extLst>
                    <a:ext uri="{9D8B030D-6E8A-4147-A177-3AD203B41FA5}">
                      <a16:colId xmlns:a16="http://schemas.microsoft.com/office/drawing/2014/main" val="1572428214"/>
                    </a:ext>
                  </a:extLst>
                </a:gridCol>
              </a:tblGrid>
              <a:tr h="31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UI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32430"/>
                  </a:ext>
                </a:extLst>
              </a:tr>
              <a:tr h="508648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spc="-20" baseline="0" dirty="0"/>
                        <a:t>1. </a:t>
                      </a:r>
                      <a:r>
                        <a:rPr lang="en-US" altLang="ko-KR" sz="900" dirty="0"/>
                        <a:t>Enter the search conditions</a:t>
                      </a:r>
                      <a:r>
                        <a:rPr lang="en-US" altLang="ko-KR" sz="900" baseline="0" dirty="0"/>
                        <a:t> to retrieve paste lot loss list.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2.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[Search] </a:t>
                      </a:r>
                      <a:r>
                        <a:rPr lang="en-US" altLang="ko-KR" sz="900" dirty="0"/>
                        <a:t>button</a:t>
                      </a:r>
                      <a:r>
                        <a:rPr lang="en-US" altLang="ko-KR" sz="900" baseline="0" dirty="0"/>
                        <a:t> to retrieve material information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3. Click the </a:t>
                      </a:r>
                      <a:r>
                        <a:rPr lang="en-US" altLang="ko-KR" sz="900" b="1" dirty="0"/>
                        <a:t>[Reset]</a:t>
                      </a:r>
                      <a:r>
                        <a:rPr lang="en-US" altLang="ko-KR" sz="900" dirty="0"/>
                        <a:t> button to clear all fields on the screen.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4. Input lot</a:t>
                      </a:r>
                      <a:r>
                        <a:rPr lang="en-US" altLang="ko-KR" sz="900" baseline="0" dirty="0"/>
                        <a:t> loss information to create lot loss.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5. List of lot loss will be displayed.</a:t>
                      </a:r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baseline="0" dirty="0"/>
                        <a:t>6.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[Create]</a:t>
                      </a:r>
                      <a:r>
                        <a:rPr lang="en-US" altLang="ko-KR" sz="900" dirty="0"/>
                        <a:t> button to create</a:t>
                      </a:r>
                      <a:r>
                        <a:rPr lang="en-US" altLang="ko-KR" sz="900" baseline="0" dirty="0"/>
                        <a:t> lot loss according to input information.</a:t>
                      </a: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7.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[Edit]</a:t>
                      </a:r>
                      <a:r>
                        <a:rPr lang="en-US" altLang="ko-KR" sz="900" dirty="0"/>
                        <a:t> button to edit </a:t>
                      </a:r>
                      <a:r>
                        <a:rPr lang="en-US" altLang="ko-KR" sz="900" dirty="0" err="1"/>
                        <a:t>Qty</a:t>
                      </a:r>
                      <a:r>
                        <a:rPr lang="en-US" altLang="ko-KR" sz="900" dirty="0"/>
                        <a:t> and Remark</a:t>
                      </a:r>
                      <a:r>
                        <a:rPr lang="en-US" altLang="ko-KR" sz="900" baseline="0" dirty="0"/>
                        <a:t> information.</a:t>
                      </a: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8. Click the </a:t>
                      </a:r>
                      <a:r>
                        <a:rPr lang="en-US" altLang="ko-KR" sz="900" b="1" dirty="0"/>
                        <a:t>[Delete]</a:t>
                      </a:r>
                      <a:r>
                        <a:rPr lang="en-US" altLang="ko-KR" sz="900" dirty="0"/>
                        <a:t> button to delete</a:t>
                      </a:r>
                      <a:r>
                        <a:rPr lang="en-US" altLang="ko-KR" sz="900" baseline="0" dirty="0"/>
                        <a:t> checked lot </a:t>
                      </a:r>
                      <a:r>
                        <a:rPr lang="en-US" altLang="ko-KR" sz="900" baseline="0"/>
                        <a:t>lost item.</a:t>
                      </a: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900" spc="-20" baseline="0" dirty="0"/>
                        <a:t>9. </a:t>
                      </a:r>
                      <a:r>
                        <a:rPr lang="en-US" altLang="ko-KR" sz="900" dirty="0"/>
                        <a:t>Click the </a:t>
                      </a:r>
                      <a:r>
                        <a:rPr lang="en-US" altLang="ko-KR" sz="900" b="1" dirty="0"/>
                        <a:t>[Close]</a:t>
                      </a:r>
                      <a:r>
                        <a:rPr lang="en-US" altLang="ko-KR" sz="900" dirty="0"/>
                        <a:t> button to exit the OI.</a:t>
                      </a:r>
                      <a:endParaRPr lang="en-US" altLang="ko-KR" sz="900" spc="-2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 dirty="0"/>
                    </a:p>
                    <a:p>
                      <a:pPr marL="0" marR="0" lvl="0" indent="0" algn="l" defTabSz="7746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  <a:p>
                      <a:pPr>
                        <a:spcBef>
                          <a:spcPts val="500"/>
                        </a:spcBef>
                        <a:buFont typeface="+mj-ea"/>
                        <a:buNone/>
                      </a:pPr>
                      <a:endParaRPr lang="en-US" altLang="ko-KR" sz="900" spc="-2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75113"/>
                  </a:ext>
                </a:extLst>
              </a:tr>
            </a:tbl>
          </a:graphicData>
        </a:graphic>
      </p:graphicFrame>
      <p:pic>
        <p:nvPicPr>
          <p:cNvPr id="63" name="Picture 62" descr="screenshot_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0" y="1728000"/>
            <a:ext cx="7200000" cy="4968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47259" y="3788800"/>
            <a:ext cx="7012501" cy="2176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945540" y="237492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2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453880" y="604910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7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0" name="Oval 64"/>
          <p:cNvSpPr/>
          <p:nvPr/>
        </p:nvSpPr>
        <p:spPr>
          <a:xfrm>
            <a:off x="341999" y="215870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</a:rPr>
              <a:t>1</a:t>
            </a:r>
          </a:p>
        </p:txBody>
      </p:sp>
      <p:sp>
        <p:nvSpPr>
          <p:cNvPr id="11" name="Oval 64"/>
          <p:cNvSpPr/>
          <p:nvPr/>
        </p:nvSpPr>
        <p:spPr>
          <a:xfrm>
            <a:off x="6510990" y="2374922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3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2" name="Oval 64"/>
          <p:cNvSpPr/>
          <p:nvPr/>
        </p:nvSpPr>
        <p:spPr>
          <a:xfrm>
            <a:off x="326337" y="2688334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4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3" name="Oval 64"/>
          <p:cNvSpPr/>
          <p:nvPr/>
        </p:nvSpPr>
        <p:spPr>
          <a:xfrm>
            <a:off x="282214" y="36088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5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4" name="Oval 64"/>
          <p:cNvSpPr/>
          <p:nvPr/>
        </p:nvSpPr>
        <p:spPr>
          <a:xfrm>
            <a:off x="5957019" y="6051408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8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5" name="Oval 65"/>
          <p:cNvSpPr/>
          <p:nvPr/>
        </p:nvSpPr>
        <p:spPr>
          <a:xfrm>
            <a:off x="6945540" y="605560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6</a:t>
            </a:r>
            <a:endParaRPr sz="1000" b="1" dirty="0">
              <a:solidFill>
                <a:srgbClr val="004080"/>
              </a:solidFill>
            </a:endParaRPr>
          </a:p>
        </p:txBody>
      </p:sp>
      <p:sp>
        <p:nvSpPr>
          <p:cNvPr id="16" name="Oval 64"/>
          <p:cNvSpPr/>
          <p:nvPr/>
        </p:nvSpPr>
        <p:spPr>
          <a:xfrm>
            <a:off x="6945540" y="1937310"/>
            <a:ext cx="180000" cy="180000"/>
          </a:xfrm>
          <a:prstGeom prst="ellipse">
            <a:avLst/>
          </a:prstGeom>
          <a:solidFill>
            <a:srgbClr val="DDEE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004080"/>
                </a:solidFill>
              </a:rPr>
              <a:t>9</a:t>
            </a:r>
            <a:endParaRPr sz="1000" b="1" dirty="0">
              <a:solidFill>
                <a:srgbClr val="004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4659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EF37D32-66D9-4235-9E42-1715A38316AD}"/>
              </a:ext>
            </a:extLst>
          </p:cNvPr>
          <p:cNvSpPr/>
          <p:nvPr/>
        </p:nvSpPr>
        <p:spPr>
          <a:xfrm>
            <a:off x="10114572" y="0"/>
            <a:ext cx="215292" cy="7197725"/>
          </a:xfrm>
          <a:prstGeom prst="rect">
            <a:avLst/>
          </a:prstGeom>
          <a:gradFill flip="none" rotWithShape="1">
            <a:gsLst>
              <a:gs pos="51000">
                <a:schemeClr val="accent1"/>
              </a:gs>
              <a:gs pos="100000">
                <a:srgbClr val="00206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6" rIns="91410" bIns="45706" rtlCol="0" anchor="ctr"/>
          <a:lstStyle/>
          <a:p>
            <a:pPr algn="ctr" defTabSz="914108" fontAlgn="base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/>
            </a:pPr>
            <a:endParaRPr kumimoji="1" lang="ko-KR" altLang="en-US" sz="110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72153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DYilZCXkcMTkqxLXE_pQ"/>
</p:tagLst>
</file>

<file path=ppt/theme/theme1.xml><?xml version="1.0" encoding="utf-8"?>
<a:theme xmlns:a="http://schemas.openxmlformats.org/drawingml/2006/main" name="1_Office 테마">
  <a:themeElements>
    <a:clrScheme name="Custom 2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A1E9"/>
      </a:accent1>
      <a:accent2>
        <a:srgbClr val="ED7D31"/>
      </a:accent2>
      <a:accent3>
        <a:srgbClr val="A5A5A5"/>
      </a:accent3>
      <a:accent4>
        <a:srgbClr val="FFE600"/>
      </a:accent4>
      <a:accent5>
        <a:srgbClr val="002060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36000" tIns="36000" rIns="36000" bIns="36000" rtlCol="0">
        <a:spAutoFit/>
      </a:bodyPr>
      <a:lstStyle>
        <a:defPPr algn="l">
          <a:defRPr sz="1100" dirty="0" err="1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4724</TotalTime>
  <Words>9349</Words>
  <Application>Microsoft Office PowerPoint</Application>
  <PresentationFormat>사용자 지정</PresentationFormat>
  <Paragraphs>1821</Paragraphs>
  <Slides>59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6" baseType="lpstr">
      <vt:lpstr>나눔바른고딕</vt:lpstr>
      <vt:lpstr>돋움</vt:lpstr>
      <vt:lpstr>맑은 고딕</vt:lpstr>
      <vt:lpstr>Arial</vt:lpstr>
      <vt:lpstr>Wingdings</vt:lpstr>
      <vt:lpstr>1_Office 테마</vt:lpstr>
      <vt:lpstr>think-cell Slide</vt:lpstr>
      <vt:lpstr>PowerPoint 프레젠테이션</vt:lpstr>
      <vt:lpstr>Document Control</vt:lpstr>
      <vt:lpstr>1. PO Dispatch</vt:lpstr>
      <vt:lpstr>2. Material Status</vt:lpstr>
      <vt:lpstr>3. Wafer Issue Request</vt:lpstr>
      <vt:lpstr>4. Material Issue Request (자재 불출 요청)</vt:lpstr>
      <vt:lpstr>5. Material Receive</vt:lpstr>
      <vt:lpstr>6. Material Management</vt:lpstr>
      <vt:lpstr>7. Multi-Material Management</vt:lpstr>
      <vt:lpstr>8. Material Split (자재 분할)</vt:lpstr>
      <vt:lpstr>9. Material Merge (자재 병합)</vt:lpstr>
      <vt:lpstr>10. Material Move (자재 이동)</vt:lpstr>
      <vt:lpstr>11. Material Load</vt:lpstr>
      <vt:lpstr>12. Material Unload</vt:lpstr>
      <vt:lpstr>13. Material Return (자재 반납)</vt:lpstr>
      <vt:lpstr>14. Paste Filtering</vt:lpstr>
      <vt:lpstr>15. Paste Canister Reg.</vt:lpstr>
      <vt:lpstr>16. Paste Wastage</vt:lpstr>
      <vt:lpstr>17. Screen Load/Unload</vt:lpstr>
      <vt:lpstr>18. LOT Management</vt:lpstr>
      <vt:lpstr>19. Multi-LOT Management</vt:lpstr>
      <vt:lpstr>20. LOT End (LOT 작업 종료)</vt:lpstr>
      <vt:lpstr>21. Rework End</vt:lpstr>
      <vt:lpstr>22. LOT Status</vt:lpstr>
      <vt:lpstr>23. LOT Reversal</vt:lpstr>
      <vt:lpstr>24. LOT Move (LOT 이동)</vt:lpstr>
      <vt:lpstr>25. Lot Judgement (LOT 재작업 판정)</vt:lpstr>
      <vt:lpstr>26. LOT Merge</vt:lpstr>
      <vt:lpstr>27. LOT Scan to WH</vt:lpstr>
      <vt:lpstr>28. LOT Hold (LOT 잠금)</vt:lpstr>
      <vt:lpstr>29. LOT Release (LOT 잠금해제)</vt:lpstr>
      <vt:lpstr>30. Label Print (라벨 발행)</vt:lpstr>
      <vt:lpstr>31. Label Print Option (라벨 옵션 설정)</vt:lpstr>
      <vt:lpstr>32. Relabel</vt:lpstr>
      <vt:lpstr>33. LOT PQC / Patrol</vt:lpstr>
      <vt:lpstr>34. LOT OQC Status</vt:lpstr>
      <vt:lpstr>34-1. LOT OQC Status </vt:lpstr>
      <vt:lpstr>35. LOT OQC Judgement</vt:lpstr>
      <vt:lpstr>35-1. LOT OQC Judgement</vt:lpstr>
      <vt:lpstr>36. Equipment Status</vt:lpstr>
      <vt:lpstr>37. Equip Event Process (설비 이벤트)</vt:lpstr>
      <vt:lpstr>38. Carrier Registration</vt:lpstr>
      <vt:lpstr>39. Carrier RFID Tagging</vt:lpstr>
      <vt:lpstr>40. Carrier RFID Read/Write</vt:lpstr>
      <vt:lpstr>41. Carrier Status</vt:lpstr>
      <vt:lpstr>42. Carrier Event Process (캐리어 이벤트)</vt:lpstr>
      <vt:lpstr>43. Spare Part Usage/Return Management (Spare Part 사용/반납 관리)</vt:lpstr>
      <vt:lpstr>43-1. Spare Part Usage/Return Management (Spare Part 사용/반납 관리)</vt:lpstr>
      <vt:lpstr>43-2. Spare Part Usage/Return Management (Spare Part 사용/반납 관리)</vt:lpstr>
      <vt:lpstr>44. Spare Part Repair Management (Spare Part 수리 관리)</vt:lpstr>
      <vt:lpstr>45. Maintenace Order Process (정비 작업지시 조회 및 실행)</vt:lpstr>
      <vt:lpstr>45-1. Maintenace Order Process (정비 작업지시 조회 및 실행)</vt:lpstr>
      <vt:lpstr>45-2. Maintenace Order Process (정비 작업지시 조회 및 실행)</vt:lpstr>
      <vt:lpstr>45-3. Maintenace Order Process (정비 작업지시 조회 및 실행)</vt:lpstr>
      <vt:lpstr>45-4. Maintenace Order Process (정비 작업지시 조회 및 실행)</vt:lpstr>
      <vt:lpstr>45-5. Maintenace Order Process (정비 작업지시 조회 및 실행)</vt:lpstr>
      <vt:lpstr>45-6. Maintenace Order Process (정비 작업지시 조회 및 실행)</vt:lpstr>
      <vt:lpstr>46. Lot Loss Tracking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X Yoga 380</dc:creator>
  <cp:lastModifiedBy>이경태(LEE KYOUNGTAE) 한화시스템/ICT</cp:lastModifiedBy>
  <cp:revision>472</cp:revision>
  <dcterms:created xsi:type="dcterms:W3CDTF">2021-11-17T23:00:16Z</dcterms:created>
  <dcterms:modified xsi:type="dcterms:W3CDTF">2025-11-19T07:29:29Z</dcterms:modified>
</cp:coreProperties>
</file>