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" name="Shape 1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904695" y="4000500"/>
            <a:ext cx="4762195" cy="4762195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304495"/>
            <a:ext cx="1228954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8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905" y="371246"/>
            <a:ext cx="8750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24805" y="4957877"/>
            <a:ext cx="181051" cy="181051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082" r="-1082" t="0" b="0"/>
          <a:stretch/>
        </p:blipFill>
        <p:spPr>
          <a:xfrm>
            <a:off x="5857646" y="4957877"/>
            <a:ext cx="161849" cy="181051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72200" y="4957877"/>
            <a:ext cx="181051" cy="181051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-1082" r="-1082" t="0" b="0"/>
          <a:stretch/>
        </p:blipFill>
        <p:spPr>
          <a:xfrm>
            <a:off x="6505956" y="4957877"/>
            <a:ext cx="161849" cy="181051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416198" y="1386230"/>
            <a:ext cx="6220663" cy="180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00000"/>
                </a:solidFill>
                <a:latin typeface="Saira Condensed" pitchFamily="34" charset="0"/>
                <a:ea typeface="Saira Condensed" pitchFamily="34" charset="-122"/>
                <a:cs typeface="Saira Condensed" pitchFamily="34" charset="-120"/>
              </a:rPr>
              <a:t>FORGEFLOW</a:t>
            </a:r>
            <a:endParaRPr lang="en-US" sz="9000" dirty="0"/>
          </a:p>
        </p:txBody>
      </p:sp>
      <p:sp>
        <p:nvSpPr>
          <p:cNvPr id="14" name="Text 7"/>
          <p:cNvSpPr txBox="1"/>
          <p:nvPr/>
        </p:nvSpPr>
        <p:spPr>
          <a:xfrm>
            <a:off x="3923690" y="3100730"/>
            <a:ext cx="45820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프로토타입 생성 플랫폼</a:t>
            </a:r>
            <a:endParaRPr lang="en-US" sz="2400" dirty="0"/>
          </a:p>
        </p:txBody>
      </p:sp>
      <p:sp>
        <p:nvSpPr>
          <p:cNvPr id="15" name="Text 8"/>
          <p:cNvSpPr txBox="1"/>
          <p:nvPr/>
        </p:nvSpPr>
        <p:spPr>
          <a:xfrm>
            <a:off x="3693262" y="3662172"/>
            <a:ext cx="49816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Code Generator to Project Architect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4592117" y="4233672"/>
            <a:ext cx="3010205" cy="418795"/>
          </a:xfrm>
          <a:prstGeom prst="roundRect">
            <a:avLst>
              <a:gd name="adj" fmla="val 218341"/>
            </a:avLst>
          </a:prstGeom>
          <a:solidFill>
            <a:srgbClr val="FFFFFF">
              <a:alpha val="80000"/>
            </a:srgbClr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4839919" y="4328770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3.1 - Production Ready ✅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1068019"/>
            <a:ext cx="4248302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프레젠테이션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1753819"/>
            <a:ext cx="1762963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2981858"/>
            <a:ext cx="5642762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프레젠테이션은 ForgeFlow의 현재 기술 스택(v3.1)과 2.0으로의 진화 비전을 소개합니다. AI 기반 프로토타입 자동 생성, 4-Stage LLM Generation, Smart Refinement 아키텍처, 그리고 최종 산출물 패키지까지 전체 시스템을 다룹니다.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1695" y="4307738"/>
            <a:ext cx="5524805" cy="9144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1695" y="4536338"/>
            <a:ext cx="1838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프로젝트: ForgeFlow v3.1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4826203"/>
            <a:ext cx="1752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상태: Production Ready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5116068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기술: React, FastAPI, Gemini 1.5 Pro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5405018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업데이트: 2025-12-04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67805" y="0"/>
            <a:ext cx="5524805" cy="6858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8195" y="295351"/>
            <a:ext cx="21150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주제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505395" y="118872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 소개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05395" y="1621231"/>
            <a:ext cx="11868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가치 3원칙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05395" y="2054657"/>
            <a:ext cx="15590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기술 스택 (v3.1)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05395" y="2487168"/>
            <a:ext cx="119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05395" y="2919679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4-Stage LLM Generation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05395" y="3353105"/>
            <a:ext cx="19869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Caching &amp; 최적화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05395" y="3785616"/>
            <a:ext cx="1244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산출물 생성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05395" y="4218127"/>
            <a:ext cx="2549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2.0 비전: Prompt-Code-Doc Loop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05395" y="4650638"/>
            <a:ext cx="2444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Refinement Architecture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05395" y="5084064"/>
            <a:ext cx="1434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 스택 로드맵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505395" y="5516575"/>
            <a:ext cx="13871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패키지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05395" y="5949086"/>
            <a:ext cx="9774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및 Q&amp;A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048195" y="1121969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48195" y="1554480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8195" y="1987906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48195" y="2420417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48195" y="2852928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048195" y="3286354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048195" y="3718865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48195" y="4151376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48195" y="4584802"/>
            <a:ext cx="293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048195" y="5017313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048195" y="5449824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048195" y="5882335"/>
            <a:ext cx="4270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430000" y="6096305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96421" y="6229807"/>
            <a:ext cx="123444" cy="190195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381305" y="304495"/>
            <a:ext cx="1419149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9107" y="400507"/>
            <a:ext cx="10268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680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7145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10483596" y="304495"/>
            <a:ext cx="1333195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31398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809951"/>
            <a:ext cx="4763110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564331"/>
            <a:ext cx="1762963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4756709"/>
            <a:ext cx="5037430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UI 프로토타입 자동 생성 및 설계 문서화 플랫폼으로, 컨설턴트와 고객 간 요구사항의 모호함을 제거하고 개발자에게 완벽한 설계 도면과 작업 지시서를 제공합니다.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5788152"/>
            <a:ext cx="5065776" cy="1095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 1.5 Pro를 활용한 4단계 LLM 생성 엔진과 React + FastAPI 기반 아키텍처로 즉시 실행 가능한 프로토타입을 생성하며, 자동 스크린샷 캡처 및 Word 설계서 자동화를 통해 완전한 개발자 Hand-off 패키지를 제공합니다.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7100316"/>
            <a:ext cx="501822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코드 생성 도구를 넘어 프로젝트의 허브(Hub)이자 설계 자동화 플랫폼으로 진화하는 것이 ForgeFlow의 비전입니다.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22093" r="22093" t="0" b="0"/>
          <a:stretch/>
        </p:blipFill>
        <p:spPr>
          <a:xfrm>
            <a:off x="6762902" y="3292754"/>
            <a:ext cx="4000500" cy="40005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354105" y="7498994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-1923" r="-1923" t="0" b="0"/>
          <a:stretch/>
        </p:blipFill>
        <p:spPr>
          <a:xfrm>
            <a:off x="11520526" y="763249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" name="Shape 1"/>
          <p:cNvSpPr/>
          <p:nvPr/>
        </p:nvSpPr>
        <p:spPr>
          <a:xfrm>
            <a:off x="6953098" y="476402"/>
            <a:ext cx="4762195" cy="4762195"/>
          </a:xfrm>
          <a:prstGeom prst="ellipse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304495"/>
            <a:ext cx="1380744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905" y="381305"/>
            <a:ext cx="10268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1695" y="1856232"/>
            <a:ext cx="571500" cy="571500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266" r="-266" t="0" b="0"/>
          <a:stretch/>
        </p:blipFill>
        <p:spPr>
          <a:xfrm>
            <a:off x="886054" y="1998878"/>
            <a:ext cx="323698" cy="28620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4419295"/>
            <a:ext cx="571500" cy="571500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607" r="-607" t="0" b="0"/>
          <a:stretch/>
        </p:blipFill>
        <p:spPr>
          <a:xfrm>
            <a:off x="866851" y="4562856"/>
            <a:ext cx="362102" cy="286207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553505" y="1856232"/>
            <a:ext cx="571500" cy="571500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118" r="-1118" t="0" b="0"/>
          <a:stretch/>
        </p:blipFill>
        <p:spPr>
          <a:xfrm>
            <a:off x="6729070" y="1998878"/>
            <a:ext cx="219456" cy="286207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553505" y="4343400"/>
            <a:ext cx="4876495" cy="1086307"/>
          </a:xfrm>
          <a:prstGeom prst="roundRect">
            <a:avLst>
              <a:gd name="adj" fmla="val 8861"/>
            </a:avLst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761695" y="598932"/>
            <a:ext cx="545805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핵심 가치 3원칙</a:t>
            </a:r>
            <a:endParaRPr lang="en-US" sz="60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589581"/>
            <a:ext cx="227319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Visualization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3124505"/>
            <a:ext cx="496702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작동하는 프로토타입으로 요구사항을 시각적으로 확정합니다. 고객과 개발자 간의 커뮤니케이션 갭을 제거하고, 재작업 없이 정확한 요구사항 정의를 실현합니다.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5152644"/>
            <a:ext cx="246339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Normalization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5688482"/>
            <a:ext cx="497616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주체에 상관없이 고품질의 표준화된 프롬프트를 생성합니다. 일관된 품질의 결과물을 보장하며, 개발자 경험과 역량 차이를 최소화합니다.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553505" y="2589581"/>
            <a:ext cx="263530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Documentation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6553505" y="3124505"/>
            <a:ext cx="5004511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결과물을 역설계하여 산출물을 100% 자동화합니다. 화면 설계서, 테스트 계획서, 사용자 매뉴얼까지 자동 생성하여 개발 생산성을 극대화합니다.</a:t>
            </a:r>
            <a:endParaRPr lang="en-US" sz="14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-1082" r="-1082" t="0" b="0"/>
          <a:stretch/>
        </p:blipFill>
        <p:spPr>
          <a:xfrm>
            <a:off x="6782105" y="4642409"/>
            <a:ext cx="161849" cy="18105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782105" y="4591202"/>
            <a:ext cx="445221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ForgeFlow는 단순한 코드 생성기가 아닌, 프로젝트 전체의 설계 자동화 허브입니다.</a:t>
            </a:r>
            <a:endParaRPr lang="en-US" sz="14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-1082" r="-1082" t="0" b="0"/>
          <a:stretch/>
        </p:blipFill>
        <p:spPr>
          <a:xfrm>
            <a:off x="9335110" y="4953305"/>
            <a:ext cx="161849" cy="1810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10362895" cy="2000707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305" y="304495"/>
            <a:ext cx="1333195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9107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2152498"/>
            <a:ext cx="5058461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기술 스택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3276295"/>
            <a:ext cx="44677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3.1 - Production Ready System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07" b="-507"/>
          <a:stretch/>
        </p:blipFill>
        <p:spPr>
          <a:xfrm>
            <a:off x="761695" y="3977640"/>
            <a:ext cx="247802" cy="200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86307" y="3924605"/>
            <a:ext cx="104424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4297680"/>
            <a:ext cx="42483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 · TypeScript · Vite 5 · TailwindCSS 3.3 · Shadcn/ui · React Router v6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43500" y="3977640"/>
            <a:ext cx="200254" cy="20025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19649" y="3924605"/>
            <a:ext cx="99669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143500" y="4297680"/>
            <a:ext cx="41440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 · Python 3.11 · PostgreSQL 17 · SQLAlchemy 2.0 · Pydantic 2.5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1695" y="5296205"/>
            <a:ext cx="200254" cy="2002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37844" y="5242255"/>
            <a:ext cx="107259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Engine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5616245"/>
            <a:ext cx="425836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 1.5 Pro · google-generativeai SDK · Context Caching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507" b="-507"/>
          <a:stretch/>
        </p:blipFill>
        <p:spPr>
          <a:xfrm>
            <a:off x="5143500" y="5296205"/>
            <a:ext cx="247802" cy="20025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67198" y="5242255"/>
            <a:ext cx="151150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143500" y="5616245"/>
            <a:ext cx="417240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· Docker Compose · Redis (Cache) · python-docx · Nginx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43500"/>
            <a:ext cx="12191695" cy="17145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304495"/>
            <a:ext cx="1333195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9107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145" r="145" t="0" b="0"/>
          <a:stretch/>
        </p:blipFill>
        <p:spPr>
          <a:xfrm>
            <a:off x="7193585" y="2107692"/>
            <a:ext cx="4390949" cy="2457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9905" y="790956"/>
            <a:ext cx="2382012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1545336"/>
            <a:ext cx="3001061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609905" y="2746858"/>
            <a:ext cx="623163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 구조로 설계된 ForgeFlow는 Frontend, Backend Services, 그리고 Data Layer로 명확히 분리되어 있습니다.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9905" y="3469234"/>
            <a:ext cx="623163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 Layer: React 18 + TypeScript 기반의 Wizard UI, 프리뷰 시스템, 그리고 실시간 상태 관리를 제공합니다.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09905" y="4191610"/>
            <a:ext cx="6298387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Services: FastAPI 기반 REST API를 통해 /api/menus, /api/screens, /api/ai/generate, /api/cache 엔드포인트를 제공하며, AIService, DocumentService, CacheService가 핵심 비즈니스 로직을 처리합니다.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09905" y="5199278"/>
            <a:ext cx="625998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Layer: PostgreSQL 17, Google Gemini 1.5 Pro API, Redis Cache가 데이터 저장, AI 처리, 컨텍스트 캐싱을 담당합니다.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705295" y="0"/>
            <a:ext cx="5486400" cy="1143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0"/>
            <a:ext cx="1828800" cy="1143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" name="Shape 3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304495"/>
            <a:ext cx="1333195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9107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66444"/>
            <a:ext cx="33531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LLM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1937614"/>
            <a:ext cx="39630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프로세스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2960827"/>
            <a:ext cx="496519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한계를 극복하고 대규모 코드를 안전하게 생성하는 4단계 분할 프롬프트 전략입니다.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3739896"/>
            <a:ext cx="27605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1: 유틸리티 &amp; 공통 컴포넌트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4022446"/>
            <a:ext cx="32506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 가능한 헬퍼 함수와 공통 UI 요소 생성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4401922"/>
            <a:ext cx="26462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2: 상태 관리 &amp; 핸들러 로직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4684471"/>
            <a:ext cx="26791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상태와 이벤트 처리 로직 구현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5064862"/>
            <a:ext cx="19604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3: 메인 UI 렌더링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5346497"/>
            <a:ext cx="26316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화면의 핵심 사용자 인터페이스 구성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1695" y="5726887"/>
            <a:ext cx="19037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 4: 모달 &amp; 마무리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61695" y="6008522"/>
            <a:ext cx="36502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팝업 UI 및 최종 통합 + Continuation 자동 재시도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67" r="67" t="0" b="0"/>
          <a:stretch/>
        </p:blipFill>
        <p:spPr>
          <a:xfrm>
            <a:off x="6096305" y="2626157"/>
            <a:ext cx="5333695" cy="2980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801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7145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10483596" y="304495"/>
            <a:ext cx="1333195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31398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2523744"/>
            <a:ext cx="326715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3194914"/>
            <a:ext cx="3820363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CACHING &amp;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3865169"/>
            <a:ext cx="2115007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최적화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4955134"/>
            <a:ext cx="4989881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기반 시스템 프롬프트 캐싱을 통해 반복적인 LLM 호출 시 동일한 시스템 프롬프트를 재사용하여 API 비용을 대폭 절감하고 응답 속도를 향상시킵니다.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5986577"/>
            <a:ext cx="4970678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Context Cache 기능은 32,768+ 토큰 규모의 대용량 컨텍스트를 캐싱하여, 장문의 문서나 코드베이스를 반복 참조할 때 효율성을 극대화합니다.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1695" y="7018020"/>
            <a:ext cx="501822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이를 통해 지연시간 감소, API 비용 절감, 생성 품질의 일관성 향상이라는 세 가지 핵심 효과를 동시에 달성합니다.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61695" y="7769657"/>
            <a:ext cx="507492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RAG(Retrieval-Augmented Generation)와 결합하여 지식 기반 검색 및 동적 컨텍스트 확장 기능으로 발전할 예정입니다.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44207" y="2628900"/>
            <a:ext cx="3238805" cy="2381098"/>
          </a:xfrm>
          <a:prstGeom prst="roundRect">
            <a:avLst>
              <a:gd name="adj" fmla="val 1843"/>
            </a:avLst>
          </a:prstGeom>
          <a:solidFill>
            <a:srgbClr val="F8F9FA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8563356" y="3105302"/>
            <a:ext cx="400507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081467" y="3800246"/>
            <a:ext cx="1543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Cache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089697" y="4219956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프롬프트 캐싱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00009" y="4448556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응답 속도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50" r="-50" t="0" b="0"/>
          <a:stretch/>
        </p:blipFill>
        <p:spPr>
          <a:xfrm>
            <a:off x="8648395" y="5410505"/>
            <a:ext cx="228600" cy="30449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144207" y="6077102"/>
            <a:ext cx="3238805" cy="2723998"/>
          </a:xfrm>
          <a:prstGeom prst="roundRect">
            <a:avLst>
              <a:gd name="adj" fmla="val 1408"/>
            </a:avLst>
          </a:prstGeom>
          <a:solidFill>
            <a:srgbClr val="F8F9FA"/>
          </a:solidFill>
          <a:ln w="38100">
            <a:solidFill>
              <a:srgbClr val="00000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34095" y="6553505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892186" y="7248449"/>
            <a:ext cx="19147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Context Cache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164678" y="8010144"/>
            <a:ext cx="1314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32,768+ 토큰 캐싱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089697" y="8238744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대용량 컨텍스트 지원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11354105" y="8039405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-1923" r="-1923" t="0" b="0"/>
          <a:stretch/>
        </p:blipFill>
        <p:spPr>
          <a:xfrm>
            <a:off x="11520526" y="8172907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631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44945"/>
            <a:ext cx="12191695" cy="17145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381305" y="304495"/>
            <a:ext cx="1333195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9107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006840" y="914400"/>
            <a:ext cx="761695" cy="761695"/>
          </a:xfrm>
          <a:prstGeom prst="ellipse">
            <a:avLst/>
          </a:prstGeom>
          <a:solidFill>
            <a:srgbClr val="ECEC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35440" y="1143000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06840" y="2746858"/>
            <a:ext cx="761695" cy="761695"/>
          </a:xfrm>
          <a:prstGeom prst="ellipse">
            <a:avLst/>
          </a:prstGeom>
          <a:solidFill>
            <a:srgbClr val="ECECE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2975458"/>
            <a:ext cx="304495" cy="3044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06840" y="4579315"/>
            <a:ext cx="761695" cy="761695"/>
          </a:xfrm>
          <a:prstGeom prst="ellipse">
            <a:avLst/>
          </a:prstGeom>
          <a:solidFill>
            <a:srgbClr val="ECECE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50" r="-50" t="0" b="0"/>
          <a:stretch/>
        </p:blipFill>
        <p:spPr>
          <a:xfrm>
            <a:off x="9272930" y="4807915"/>
            <a:ext cx="228600" cy="30449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006840" y="6412687"/>
            <a:ext cx="761695" cy="761695"/>
          </a:xfrm>
          <a:prstGeom prst="ellipse">
            <a:avLst/>
          </a:prstGeom>
          <a:solidFill>
            <a:srgbClr val="ECECEC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107" r="-107" t="0" b="0"/>
          <a:stretch/>
        </p:blipFill>
        <p:spPr>
          <a:xfrm>
            <a:off x="9254642" y="6641287"/>
            <a:ext cx="267005" cy="3044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09905" y="790956"/>
            <a:ext cx="38103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산출물</a:t>
            </a:r>
            <a:endParaRPr lang="en-US" sz="5400" dirty="0"/>
          </a:p>
        </p:txBody>
      </p:sp>
      <p:sp>
        <p:nvSpPr>
          <p:cNvPr id="15" name="Text 9"/>
          <p:cNvSpPr txBox="1"/>
          <p:nvPr/>
        </p:nvSpPr>
        <p:spPr>
          <a:xfrm>
            <a:off x="609905" y="1545336"/>
            <a:ext cx="1762963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609905" y="2746858"/>
            <a:ext cx="618408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Wizard는 화면 개요, 레이아웃, 컴포넌트, 인터랙션, 검토의 체계적 요구사항 수집 프로세스를 제공하며, 임시저장 및 복원 기능으로 작업 연속성을 보장합니다.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09905" y="3469234"/>
            <a:ext cx="627004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Auto-Capture 시스템은 생성된 프로토타입의 메인 화면과 모든 모달 상태를 자동으로 캡처하여 설계서에 즉시 삽입 가능한 스크린샷을 제공합니다.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09905" y="4191610"/>
            <a:ext cx="631759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기반 분석은 생성된 코드와 Wizard 데이터를 AI로 분석하여 화면 구조, 주요 기능, UI 요소, 데이터 흐름을 자동으로 추출하고 문서화합니다.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609905" y="4913986"/>
            <a:ext cx="632673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Word 설계서 생성은 python-docx를 활용하여 분석 결과와 스크린샷을 통합한 완전한 설계 문서를 자동 생성하며, DB 저장을 통해 이력 관리 및 재다운로드를 지원합니다.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998610" y="1752905"/>
            <a:ext cx="878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Wizard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8968435" y="3585362"/>
            <a:ext cx="9454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Auto-Capture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8947404" y="5417820"/>
            <a:ext cx="9829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Word 문서 생성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8959291" y="7250278"/>
            <a:ext cx="9646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저장 &amp; 관리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>
            <a:alphaModFix amt="40000"/>
          </a:blip>
          <a:srcRect l="-133" r="-133" t="0" b="0"/>
          <a:stretch/>
        </p:blipFill>
        <p:spPr>
          <a:xfrm>
            <a:off x="9302191" y="2242109"/>
            <a:ext cx="171907" cy="22860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>
            <a:alphaModFix amt="40000"/>
          </a:blip>
          <a:srcRect l="-133" r="-133" t="0" b="0"/>
          <a:stretch/>
        </p:blipFill>
        <p:spPr>
          <a:xfrm>
            <a:off x="9302191" y="4074566"/>
            <a:ext cx="171907" cy="2286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>
            <a:alphaModFix amt="40000"/>
          </a:blip>
          <a:srcRect l="-133" r="-133" t="0" b="0"/>
          <a:stretch/>
        </p:blipFill>
        <p:spPr>
          <a:xfrm>
            <a:off x="9302191" y="5907938"/>
            <a:ext cx="171907" cy="22860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11354105" y="7597750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-1923" r="-1923" t="0" b="0"/>
          <a:stretch/>
        </p:blipFill>
        <p:spPr>
          <a:xfrm>
            <a:off x="11520526" y="7730338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344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0"/>
            <a:ext cx="10362895" cy="2000707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11354105" y="9580169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9713671"/>
            <a:ext cx="123444" cy="190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305" y="304495"/>
            <a:ext cx="1333195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9107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61695" y="5731459"/>
            <a:ext cx="8534095" cy="145755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Shape 6"/>
          <p:cNvSpPr/>
          <p:nvPr/>
        </p:nvSpPr>
        <p:spPr>
          <a:xfrm>
            <a:off x="761695" y="5731459"/>
            <a:ext cx="38405" cy="1457554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45" b="45"/>
          <a:stretch/>
        </p:blipFill>
        <p:spPr>
          <a:xfrm>
            <a:off x="2469794" y="7484364"/>
            <a:ext cx="5124298" cy="28575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1695" y="2152498"/>
            <a:ext cx="32772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2.0 비전</a:t>
            </a:r>
            <a:endParaRPr lang="en-US" sz="6000" dirty="0"/>
          </a:p>
        </p:txBody>
      </p:sp>
      <p:sp>
        <p:nvSpPr>
          <p:cNvPr id="12" name="Text 8"/>
          <p:cNvSpPr txBox="1"/>
          <p:nvPr/>
        </p:nvSpPr>
        <p:spPr>
          <a:xfrm>
            <a:off x="761695" y="2991002"/>
            <a:ext cx="10221163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PROMPT-CODE-DOC LOOP</a:t>
            </a:r>
            <a:endParaRPr lang="en-US" sz="60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4114800"/>
            <a:ext cx="28959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순환형 피드백 구조로의 진화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1695" y="4705502"/>
            <a:ext cx="865479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 2.0은 단방향 생성 방식에서 순환형 피드백 루프로 혁신합니다. Input(Wizard) → Preview(React) → Export(Prompt) → Import(Code) → Output(Doc)의 5단계 순환 구조를 통해 요구사항 명세, 코드 구현, 문서화가 완벽하게 동기화됩니다.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8700" y="5923483"/>
            <a:ext cx="171907" cy="17190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76502" y="5883250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목표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028700" y="6229807"/>
            <a:ext cx="2691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명세-코드-문서 간 정합성 100% 유지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1028700" y="6502298"/>
            <a:ext cx="2654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재작업 최소화 및 개발 생산성 극대화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028700" y="6774790"/>
            <a:ext cx="23116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실시간 피드백을 통한 품질 향상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673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705295" y="0"/>
            <a:ext cx="5486400" cy="1143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917082"/>
            <a:ext cx="1828800" cy="1143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5" name="Shape 3"/>
          <p:cNvSpPr/>
          <p:nvPr/>
        </p:nvSpPr>
        <p:spPr>
          <a:xfrm>
            <a:off x="11354105" y="6297473"/>
            <a:ext cx="457200" cy="4572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430975"/>
            <a:ext cx="123444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1305" y="304495"/>
            <a:ext cx="1333195" cy="400507"/>
          </a:xfrm>
          <a:prstGeom prst="roundRect">
            <a:avLst>
              <a:gd name="adj" fmla="val 228311"/>
            </a:avLst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9107" y="400507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266444"/>
            <a:ext cx="4029761" cy="155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Refinement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607869"/>
            <a:ext cx="4239158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761695" y="3631082"/>
            <a:ext cx="5021885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재생성이 아닌 변경된 코드 청크만 선택적으로 수정하여 속도와 비용을 최적화하는 아키텍처입니다.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4411066"/>
            <a:ext cx="157002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청크 분할 전략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" y="4692701"/>
            <a:ext cx="46030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IMPORTS, STATE, HANDLERS, UI, MODALS 단위로 분할 관리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1695" y="5073091"/>
            <a:ext cx="16175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RAG + ChromaDB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5354726"/>
            <a:ext cx="38505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유사도 검색으로 변경 관련 청크만 시맨틱 라우팅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61695" y="5735117"/>
            <a:ext cx="23033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Redis Hot Cache (1h TTL)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1695" y="6017666"/>
            <a:ext cx="35460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생성 결과를 단기 캐싱하여 반복 요청 최적화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61695" y="6397142"/>
            <a:ext cx="1151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 재생성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61695" y="6679692"/>
            <a:ext cx="36886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영역만 재생성하여 속도↑ 비용↓ 품질↑ 달성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67" r="67" t="0" b="0"/>
          <a:stretch/>
        </p:blipFill>
        <p:spPr>
          <a:xfrm>
            <a:off x="6096305" y="2726741"/>
            <a:ext cx="5333695" cy="2980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" name="Shape 1"/>
          <p:cNvSpPr/>
          <p:nvPr/>
        </p:nvSpPr>
        <p:spPr>
          <a:xfrm>
            <a:off x="6953098" y="476402"/>
            <a:ext cx="4762195" cy="4762195"/>
          </a:xfrm>
          <a:prstGeom prst="ellipse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52805" y="4476902"/>
            <a:ext cx="3810305" cy="3810305"/>
          </a:xfrm>
          <a:prstGeom prst="ellipse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304495"/>
            <a:ext cx="1380744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905" y="381305"/>
            <a:ext cx="10268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1695" y="1973275"/>
            <a:ext cx="523951" cy="523951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895198" y="2121408"/>
            <a:ext cx="256946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4430268"/>
            <a:ext cx="523951" cy="523951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9828" y="4577486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39205" y="1973275"/>
            <a:ext cx="523951" cy="523951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6601054" y="2121408"/>
            <a:ext cx="200254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439205" y="4430268"/>
            <a:ext cx="523951" cy="523951"/>
          </a:xfrm>
          <a:prstGeom prst="ellipse">
            <a:avLst/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6601054" y="4577486"/>
            <a:ext cx="200254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1695" y="942746"/>
            <a:ext cx="61246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AI 기술 스택 로드맵</a:t>
            </a:r>
            <a:endParaRPr lang="en-US" sz="54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611526"/>
            <a:ext cx="286938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1: Orchestration</a:t>
            </a:r>
            <a:endParaRPr lang="en-US" sz="19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091586"/>
            <a:ext cx="1848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LangChain 기반 통합 관리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330245"/>
            <a:ext cx="5031943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Sequential Chain, Agent, Tool Integration을 통해 전체 AI 워크플로우를 조율합니다. Redis와 ChromaDB를 연동하여 데이터 흐름을 최적화합니다.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5067605"/>
            <a:ext cx="239298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2: Cognition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5548579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API 코어 엔진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5786323"/>
            <a:ext cx="5107838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Gemini 1.5 Pro를 활용한 코드 생성, 문서 추출, Context Caching 기능을 제공합니다. SDK 기반 통합으로 안정적인 LLM 서비스를 구현합니다.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39205" y="2611526"/>
            <a:ext cx="338328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3: Quality Assurance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439205" y="3091586"/>
            <a:ext cx="1724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PyTorch 커스텀 QA 모델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439205" y="3330245"/>
            <a:ext cx="508863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Visual Consistency Checker, Layout Logic Validator, Structured Data Validator를 통해 생성된 결과물의 품질을 자동 검증합니다. YOLO, RNN, GNN 활용.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39205" y="5067605"/>
            <a:ext cx="285018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4: Context Store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6439205" y="5548579"/>
            <a:ext cx="1552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저장 및 상태 관리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6439205" y="5786323"/>
            <a:ext cx="5031943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ChromaDB를 활용한 벡터 검색과 Redis 기반 상태/캐시 관리로 컨텍스트를 효율적으로 저장하고 재사용합니다. MCP, n8n 워크플로우 통합.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38644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" name="Shape 1"/>
          <p:cNvSpPr/>
          <p:nvPr/>
        </p:nvSpPr>
        <p:spPr>
          <a:xfrm>
            <a:off x="6953098" y="476402"/>
            <a:ext cx="4762195" cy="4762195"/>
          </a:xfrm>
          <a:prstGeom prst="ellipse">
            <a:avLst/>
          </a:prstGeom>
          <a:solidFill>
            <a:srgbClr val="DCDCD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52805" y="5056632"/>
            <a:ext cx="3810305" cy="3810305"/>
          </a:xfrm>
          <a:prstGeom prst="ellipse">
            <a:avLst/>
          </a:prstGeom>
          <a:solidFill>
            <a:srgbClr val="DCDCD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1305" y="304495"/>
            <a:ext cx="1295705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1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09905" y="381305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354105" y="667512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808622"/>
            <a:ext cx="123444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1695" y="334030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2221" y="3430829"/>
            <a:ext cx="200254" cy="20025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1695" y="4023360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507" b="-507"/>
          <a:stretch/>
        </p:blipFill>
        <p:spPr>
          <a:xfrm>
            <a:off x="828446" y="4113886"/>
            <a:ext cx="247802" cy="20025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1695" y="4706417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837" r="-837" t="0" b="0"/>
          <a:stretch/>
        </p:blipFill>
        <p:spPr>
          <a:xfrm>
            <a:off x="875995" y="4796942"/>
            <a:ext cx="152705" cy="20025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61695" y="5389474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2221" y="5479999"/>
            <a:ext cx="200254" cy="20025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61695" y="6071616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964" b="-964"/>
          <a:stretch/>
        </p:blipFill>
        <p:spPr>
          <a:xfrm>
            <a:off x="866851" y="6162142"/>
            <a:ext cx="171907" cy="200254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61695" y="6754673"/>
            <a:ext cx="381305" cy="381305"/>
          </a:xfrm>
          <a:prstGeom prst="roundRect">
            <a:avLst>
              <a:gd name="adj" fmla="val 47962"/>
            </a:avLst>
          </a:prstGeom>
          <a:solidFill>
            <a:srgbClr val="000000">
              <a:alpha val="8000"/>
            </a:srgbClr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07" b="-507"/>
          <a:stretch/>
        </p:blipFill>
        <p:spPr>
          <a:xfrm>
            <a:off x="828446" y="6845198"/>
            <a:ext cx="247802" cy="20025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761695" y="638251"/>
            <a:ext cx="38103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5400" dirty="0"/>
          </a:p>
        </p:txBody>
      </p:sp>
      <p:sp>
        <p:nvSpPr>
          <p:cNvPr id="22" name="Text 13"/>
          <p:cNvSpPr txBox="1"/>
          <p:nvPr/>
        </p:nvSpPr>
        <p:spPr>
          <a:xfrm>
            <a:off x="761695" y="1392631"/>
            <a:ext cx="2382012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</a:t>
            </a:r>
            <a:endParaRPr lang="en-US" sz="54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2509114"/>
            <a:ext cx="7327087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ForgeFlow는 개발자에게 완벽한 Hand-off를 위한 6가지 핵심 산출물을 자동으로 생성합니다. 프로토타입부터 테스트 스크립트까지, 모든 것이 준비됩니다.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1295705" y="3340303"/>
            <a:ext cx="1859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Interactive Prototype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1295705" y="3621024"/>
            <a:ext cx="32616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 가능한 React 프로토타입 시뮬레이션 링크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1295705" y="4023360"/>
            <a:ext cx="16312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Optimized Prompt</a:t>
            </a:r>
            <a:endParaRPr lang="en-US" sz="1300" dirty="0"/>
          </a:p>
        </p:txBody>
      </p:sp>
      <p:sp>
        <p:nvSpPr>
          <p:cNvPr id="27" name="Text 18"/>
          <p:cNvSpPr txBox="1"/>
          <p:nvPr/>
        </p:nvSpPr>
        <p:spPr>
          <a:xfrm>
            <a:off x="1295705" y="4303166"/>
            <a:ext cx="31857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AI 도구에 직접 입력 가능한 정규화된 프롬프트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1295705" y="4706417"/>
            <a:ext cx="15645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설계서 (.docx)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1295705" y="4986223"/>
            <a:ext cx="2176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 포함 상세 화면 설계 문서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1295705" y="5389474"/>
            <a:ext cx="16404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계획서 (.xlsx)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1295705" y="5669280"/>
            <a:ext cx="23088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테스트 케이스 및 검증 계획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1295705" y="6071616"/>
            <a:ext cx="17172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매뉴얼 (.docx)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1295705" y="6352337"/>
            <a:ext cx="20043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사용자를 위한 상세 가이드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1295705" y="6754673"/>
            <a:ext cx="20500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스크립트 (.spec.ts)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1295705" y="7034479"/>
            <a:ext cx="30239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테스트 자동화를 위한 Playwright 스크립트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EC"/>
          </a:solidFill>
          <a:ln/>
        </p:spPr>
      </p:sp>
      <p:sp>
        <p:nvSpPr>
          <p:cNvPr id="3" name="Shape 1"/>
          <p:cNvSpPr/>
          <p:nvPr/>
        </p:nvSpPr>
        <p:spPr>
          <a:xfrm>
            <a:off x="381305" y="304495"/>
            <a:ext cx="1295705" cy="362102"/>
          </a:xfrm>
          <a:prstGeom prst="roundRect">
            <a:avLst>
              <a:gd name="adj" fmla="val 252526"/>
            </a:avLst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381305"/>
            <a:ext cx="941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354105" y="6096305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923" r="-1923" t="0" b="0"/>
          <a:stretch/>
        </p:blipFill>
        <p:spPr>
          <a:xfrm>
            <a:off x="11520526" y="6229807"/>
            <a:ext cx="123444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695" y="3218688"/>
            <a:ext cx="8534095" cy="1238098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1695" y="3218688"/>
            <a:ext cx="38405" cy="123809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1695" y="952805"/>
            <a:ext cx="564916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결론 및 질의응답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761695" y="2076602"/>
            <a:ext cx="86054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ForgeFlow는 v3.1 Production Ready 시스템을 기반으로, 2.0 Prompt-Code-Doc Loop와 Smart Refinement, Agentic AI 통합을 향한 진화를 준비하고 있습니다. 이를 통해 요구사항의 명확성과 개발 생산성을 극대화하며, AI 기반 프로젝트 아키텍처 플랫폼으로서의 입지를 강화할 것입니다.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2525" r="-2525" t="0" b="0"/>
          <a:stretch/>
        </p:blipFill>
        <p:spPr>
          <a:xfrm>
            <a:off x="1028700" y="3441802"/>
            <a:ext cx="190195" cy="1810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5705" y="3390595"/>
            <a:ext cx="31473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투명성 및 의사소통 효율 향상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rcRect l="-2525" r="-2525" t="0" b="0"/>
          <a:stretch/>
        </p:blipFill>
        <p:spPr>
          <a:xfrm>
            <a:off x="1028700" y="3752698"/>
            <a:ext cx="190195" cy="1810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5705" y="3701491"/>
            <a:ext cx="246156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속도 및 코드 품질 자동화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525" r="-2525" t="0" b="0"/>
          <a:stretch/>
        </p:blipFill>
        <p:spPr>
          <a:xfrm>
            <a:off x="1028700" y="4063594"/>
            <a:ext cx="190195" cy="18105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95705" y="4012387"/>
            <a:ext cx="34811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100% 자동 생성으로 생산성 극대화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4780483"/>
            <a:ext cx="69210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ForgeFlow 프로젝트 팀 contact@forgeflow.dev github.com/forgeflow 문의 및 협업 제안 환영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6339535"/>
            <a:ext cx="228874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Black Han Sans" pitchFamily="34" charset="0"/>
                <a:ea typeface="Black Han Sans" pitchFamily="34" charset="-122"/>
                <a:cs typeface="Black Han Sans" pitchFamily="34" charset="-120"/>
              </a:rPr>
              <a:t>WWW.FORGEFLOW.DEV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2025-12-04T01:47:28Z</dcterms:created>
  <dcterms:modified xsi:type="dcterms:W3CDTF">2025-12-04T01:47:28Z</dcterms:modified>
</cp:coreProperties>
</file>